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good afternoon everyone. Thank you for the opportunity to present SentinelAI X. SentinelAI X is an Autonomous Physical AI Operations Platform. In one line: it is the Operating System for Physical Spaces. Our platform is built around five sequential capabilities: Observe, Understand, Decide, Act, and Optimize. These five words describe the full closed loop that SentinelAI X runs continuously inside any physical environment -- a campus, a hospital, a warehouse, an airport, or a smart city block. Underneath this loop we combine five core technology pillars: Computer Vision for perception, Digital Twin technology for real-time state representation, Multi-Agent AI for distributed reasoning, Decision Intelligence for autonomous judgment, and IoT Automation for physical-world action. Over the next few slides I will walk you through the problem we are solving, how our architecture works end to end, the business impact it creates, and where this platform can scale to next. Let's begin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problem. Existing physical infrastructure today is fundamentally reactive, not proactive. First, CCTV systems only record events after they occur -- footage is useful for investigation, but useless for prevention. Second, security, energy, and facility management operate as isolated, siloed systems with no shared data or shared intelligence between them. Third, continuous human monitoring of dashboards and camera walls increases operational cost significantly, and humans get fatigued -- attention drops over long shifts. Fourth, energy wastage happens constantly because unattended devices, lights, HVAC, and equipment are not automatically detected and shut down. Fifth, incident response and compliance reporting remain manual, paperwork-heavy, and slow. So the core challenge we are addressing is this: today's systems can observe a physical space, but they cannot understand what they are seeing, they cannot reason about risk or opportunity, and they cannot autonomously respond. That gap -- between observation and autonomous action -- is exactly the gap that SentinelAI X is built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SentinelAI X. At its core, SentinelAI X transforms physical environments into intelligent, autonomous infrastructures. We do this by combining five core technologies into one unified platform: Computer Vision, Digital Twin technology, Multi-Agent AI, Decision Intelligence, and IoT Automation. The core workflow runs in six stages, continuously, in a closed loop. Stage one is Observe -- camera feeds and sensors continuously capture what is happening in the physical environment. Stage two is Understand -- that raw visual data is converted into structured knowledge about people, objects, and conditions. Stage three is Reason -- multiple specialized AI agents reason over that knowledge in parallel. Stage four is Decide -- a decision engine weighs the agents' outputs and determines the right response. Stage five is Act -- the platform autonomously triggers real-world IoT actions, alerts, or incidents. And stage six is Measure Impact -- every action's outcome feeds back into ROI, energy, and compliance metrics, which is what makes this a continuous, self-improving loop rather than a one-time automation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system architecture of SentinelAI X, from raw physical input to executive-level business analytics. It begins with the Physical Environment -- the cameras, sensors and IoT devices already installed in the facility. That feeds the AI Perception Layer, where Computer Vision models detect people, objects, motion, and environmental conditions in real time. That perception data flows into the Environment State Manager, which is our Digital Twin -- a continuously updated, live virtual model of every room and zone in the building. The Digital Twin state is then analyzed by our Multi-Agent AI Reasoning layer, where specialized agents for security, energy, safety, and facility health all reason in parallel over the same live data. Their outputs converge into the Decision Engine, our Decision Intelligence layer, which determines the optimal autonomous response. That decision is handed to the Action Orchestration Engine, which actually triggers IoT actions, alerts, and incident records in the physical world. Human operators interact with all of this through the Executive Command Center -- a live operational dashboard with override controls and an AI copilot. And finally, everything that happens is captured in Business Impact Analytics, where ROI, energy savings, and compliance metrics are calculated continuously. The important point here is that this is one continuous pipeline -- eight layers, but a single, modular, API-driven flow from camera feed to boardroom-ready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exactly how SentinelAI X works in practice, as a five-step autonomous pipeline. Step one, Observe: camera feeds continuously detect people, objects, and environmental conditions across every monitored zone in the facility. Step two, Understand: that visual telemetry is converted into a Digital Twin -- a live, structured, real-time representation of the state of every room. Step three, Decide: specialized AI agents analyze security, safety, energy, and facility health simultaneously and in parallel, using that Digital Twin state. Step four, Act: the Decision Engine takes the agents' combined analysis and triggers IoT actions, creates incidents, and alerts human operators -- automatically, without waiting for a person to notice. Step five, Optimize: every single action's outcome feeds back into ROI, energy savings, operational efficiency, and compliance metrics, which are updated continuously. This is what makes SentinelAI X autonomous rather than just automated -- it doesn't just follow a fixed script, it observes, reasons, decides, acts, and then measures and improves, in a continuous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heart of our AI intelligence: the Multi-Agent Reasoning System. Rather than one monolithic AI model trying to do everything, SentinelAI X runs four specialized AI agents, each an expert in one operational domain, and they all reason in parallel over the exact same live Digital Twin data. The Security Agent handles intrusion detection, restricted area monitoring, and overall risk assessment. The Energy Agent handles energy wastage detection, cost analysis, and carbon reduction tracking. The Safety Agent handles occupancy monitoring, crowd risk analysis, and emergency compliance. And the Facility Agent handles infrastructure health scoring, equipment optimization, and predictive maintenance recommendations. Because these agents run simultaneously rather than sequentially, SentinelAI X can catch, for example, a security risk and an energy inefficiency in the same room at the same moment -- something a single-purpose system simply cannot do. Their combined output is what feeds into the Decision Engine we saw on the architecture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technology stack that powers SentinelAI X across all eight architecture layers. On the frontend, we use React, Next.js, and Tailwind CSS to build the Executive Command Center interface. On the backend, we use Node.js with Express.js for our API and orchestration services. For data persistence, we use MongoDB to store Digital Twin state, agent outputs, and historical logs. For Computer Vision, we use TensorFlow.js and BlazeFace models for real-time perception directly from camera feeds. Our AI Reasoning layer is built on a Multi-Agent Architecture, which is what allows the Security, Energy, Safety, and Facility agents to operate independently yet in coordination. Our state management approach is the Digital Twin model -- a live, structured representation of physical space. For automation, we use ESP32 microcontrollers and standard IoT devices to physically execute actions like turning off lights or locking doors. And every layer of the system communicates through standard REST APIs, which is what makes the platform modular, interoperable, and easy to integrate with existing enterprise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ten key features that make up the SentinelAI X product. The Real-Time AI Perception Engine handles continuous visual detection. Digital Twin Environment Modeling maintains a live virtual replica of the physical space. Multi-Agent AI Reasoning runs our four specialized agents in parallel. The Autonomous Decision Engine turns agent analysis into a single coordinated decision. The Action Orchestration Engine executes that decision across connected IoT devices. The Executive AI Copilot gives human operators a conversational interface to query the system and understand what is happening and why. The Incident Management System automatically creates, tracks, and escalates incidents. Compliance Auditing keeps a continuous, automated record for regulatory and safety requirements. Action Logs and Timeline Replay let operators review exactly what the system observed, decided, and did, at any point in time. And ROI and Business Analytics convert all of this operational activity into financial and efficiency metrics that leadership actually cares about. Together, these ten features cover the full lifecycle: perception, reasoning, action, oversight, and measurable business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business impact -- the measurable operational outcomes that SentinelAI X delivers. First, Reduced Manual Monitoring: fewer staff hours are needed watching screens, because the AI agents are watching continuously. Second, Faster Incident Response: because detection and decision-making happen autonomously and instantly, response times drop dramatically compared to human-triggered workflows. Third, Lower Energy Consumption: the Energy Agent identifies and corrects wastage in real time, directly reducing utility costs. Fourth, Autonomous IoT Control: devices are managed automatically based on real conditions, not fixed schedules. Fifth, Improved Security: continuous, multi-zone monitoring catches intrusions and risks that a human team monitoring multiple screens might miss. Sixth, Compliance Automation: audit trails and safety compliance checks happen automatically, reducing manual paperwork and audit risk. Seventh, Infrastructure Health Monitoring: the Facility Agent tracks equipment condition continuously, enabling predictive maintenance instead of reactive repairs. And eighth, Operational Intelligence: leadership gets a continuous, data-driven view of how the entire physical operation is performing, in real time, rather than in a quarterly report. Together these eight outcomes are the direct, practical return on deploying SentinelAI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SentinelAI X is built as a platform, not as a single point application, which means the same core architecture scales across very different deployment environments. We see immediate applicability in Universities and Smart Campuses, where security and energy management span large, multi-building footprints. In Industries and Warehouses, the Facility and Safety Agents directly support equipment monitoring and worker safety. In Hospitals, continuous occupancy and safety monitoring directly support patient and staff safety. In Airports, the combination of security monitoring and crowd risk analysis is mission-critical. In Corporate Offices and Smart Buildings, energy optimization and access security are immediate cost and safety wins. In Government Infrastructure and Smart Cities, the same Digital Twin and Multi-Agent approach can scale up to city-block or city-wide deployments. The underlying point is that SentinelAI X's modular, API-driven architecture does not need to be rebuilt for each vertical -- it is configured and scaled, not re-engineered.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SentinelAI X has a clear and ambitious roadmap toward becoming a complete Physical AI Ecosystem. Predictive Maintenance will let the Facility Agent forecast equipment failure before it happens. Edge AI Deployment will move perception models closer to the camera, reducing latency and bandwidth needs. Drone-Based Monitoring will extend coverage to outdoor and hard-to-reach areas. Autonomous Robotics Integration will allow the platform to dispatch physical robots for patrol or response tasks. Building Information Modeling integration, or BIM, will connect our Digital Twin to architectural and engineering data. Smart Grid Integration will let the Energy Agent coordinate directly with utility-level demand response systems. Digital Twin Simulation will allow operators to test 'what-if' scenarios before they happen in the real world. Carbon Footprint Optimization will turn energy data into formal sustainability reporting. AI-Driven Facility Planning will use historical Digital Twin data to inform long-term space and infrastructure planning. And finally, a City-Scale Physical Intelligence Platform represents the long-term vision: the same core architecture operating not just for one building, but for an entire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natural question is: is this actually practical to deploy? Here is why SentinelAI X is feasible, not just theoretical. First, it uses existing CCTV infrastructure, so there is no need to rip out and replace cameras already installed in a facility. Second, it supports both simulated and real IoT devices, so a facility can pilot the platform in simulation before connecting live hardware. Third, the modular architecture enables incremental, phased deployment -- you do not need to deploy all four agents or all eight architecture layers on day one. Fourth, it is both Cloud and Edge compatible, so it can fit data residency, latency, or connectivity constraints. Fifth, the enterprise-ready REST API architecture makes integration with existing enterprise systems straightforward. Sixth, the Digital Twin data model is built to scale as a facility grows in size or zone count. Seventh, we combine rule-based automation with AI-driven automation, which gives us reliability and predictability alongside intelligence. And eighth, the platform is easily adaptable across multiple industries and verticals, as we saw on the scalability slide. In short: this is an evolution of infrastructure already in place, not a rip-and-replace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makes SentinelAI X genuinely unique, compared to conventional monitoring systems on the market? It is the integration of seven distinct capabilities into a single platform. Physical AI Operations as a category, rather than separate point solutions. Digital Twin Synchronization that keeps a live, accurate model of the physical space at all times. Multi-Agent Autonomous Reasoning, with specialized agents working in parallel rather than one generic model. Rule-Based Decision Intelligence, which blends deterministic safety rules with AI-driven judgment. IoT Action Orchestration that closes the loop by actually controlling physical devices, not just generating alerts. An Executive AI Copilot that makes the system queryable and explainable to human decision-makers. And Real-Time ROI Analytics that ties every one of these capabilities back to a measurable business number. The result of combining all seven is an intelligent platform capable of observing, understanding, reasoning, and autonomously optimizing physical environments -- which is a categorically different capability than traditional CCTV or building management systems offer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our vision. Today's buildings are connected -- they have sensors, cameras, and networks. But tomorrow's buildings will be autonomous -- they will observe, understand, decide, and act on their own, with humans supervising rather than micromanaging every response. SentinelAI X aims to become the operating system that enables intelligent, self-managing physical environments through three pillars: Artificial Intelligence, Digital Twins, and Autonomous Decision Intelligence. To summarize everything we've covered today: SentinelAI X is a Physical AI platform built on Computer Vision, Digital Twin technology, Multi-Agent AI, Decision Intelligence, and IoT Automation, delivering Autonomous Operations across security, energy, safety, and facility management. Thank you for your time -- I would be glad to take any questions about the architecture, the underlying technology, our business model, or our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image" Target="../media/image-12-1.png"/><Relationship Id="rId6" Type="http://schemas.openxmlformats.org/officeDocument/2006/relationships/image" Target="../media/image-12-1.png"/><Relationship Id="rId7" Type="http://schemas.openxmlformats.org/officeDocument/2006/relationships/image" Target="../media/image-12-1.png"/><Relationship Id="rId8" Type="http://schemas.openxmlformats.org/officeDocument/2006/relationships/image" Target="../media/image-12-1.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418320" y="365760"/>
            <a:ext cx="54864" cy="54864"/>
          </a:xfrm>
          <a:prstGeom prst="ellipse">
            <a:avLst/>
          </a:prstGeom>
          <a:solidFill>
            <a:srgbClr val="21C7C7"/>
          </a:solidFill>
          <a:ln/>
        </p:spPr>
      </p:sp>
      <p:sp>
        <p:nvSpPr>
          <p:cNvPr id="3" name="Shape 1"/>
          <p:cNvSpPr/>
          <p:nvPr/>
        </p:nvSpPr>
        <p:spPr>
          <a:xfrm>
            <a:off x="9921240" y="822960"/>
            <a:ext cx="54864" cy="54864"/>
          </a:xfrm>
          <a:prstGeom prst="ellipse">
            <a:avLst/>
          </a:prstGeom>
          <a:solidFill>
            <a:srgbClr val="21C7C7"/>
          </a:solidFill>
          <a:ln/>
        </p:spPr>
      </p:sp>
      <p:sp>
        <p:nvSpPr>
          <p:cNvPr id="4" name="Shape 2"/>
          <p:cNvSpPr/>
          <p:nvPr/>
        </p:nvSpPr>
        <p:spPr>
          <a:xfrm>
            <a:off x="10424160" y="365760"/>
            <a:ext cx="54864" cy="54864"/>
          </a:xfrm>
          <a:prstGeom prst="ellipse">
            <a:avLst/>
          </a:prstGeom>
          <a:solidFill>
            <a:srgbClr val="21C7C7"/>
          </a:solidFill>
          <a:ln/>
        </p:spPr>
      </p:sp>
      <p:sp>
        <p:nvSpPr>
          <p:cNvPr id="5" name="Shape 3"/>
          <p:cNvSpPr/>
          <p:nvPr/>
        </p:nvSpPr>
        <p:spPr>
          <a:xfrm>
            <a:off x="10927080" y="822960"/>
            <a:ext cx="54864" cy="54864"/>
          </a:xfrm>
          <a:prstGeom prst="ellipse">
            <a:avLst/>
          </a:prstGeom>
          <a:solidFill>
            <a:srgbClr val="21C7C7"/>
          </a:solidFill>
          <a:ln/>
        </p:spPr>
      </p:sp>
      <p:sp>
        <p:nvSpPr>
          <p:cNvPr id="6" name="Shape 4"/>
          <p:cNvSpPr/>
          <p:nvPr/>
        </p:nvSpPr>
        <p:spPr>
          <a:xfrm>
            <a:off x="11430000" y="365760"/>
            <a:ext cx="54864" cy="54864"/>
          </a:xfrm>
          <a:prstGeom prst="ellipse">
            <a:avLst/>
          </a:prstGeom>
          <a:solidFill>
            <a:srgbClr val="21C7C7"/>
          </a:solidFill>
          <a:ln/>
        </p:spPr>
      </p:sp>
      <p:sp>
        <p:nvSpPr>
          <p:cNvPr id="7" name="Text 5"/>
          <p:cNvSpPr/>
          <p:nvPr/>
        </p:nvSpPr>
        <p:spPr>
          <a:xfrm>
            <a:off x="822960" y="1965960"/>
            <a:ext cx="10515600" cy="1005840"/>
          </a:xfrm>
          <a:prstGeom prst="rect">
            <a:avLst/>
          </a:prstGeom>
          <a:noFill/>
          <a:ln/>
        </p:spPr>
        <p:txBody>
          <a:bodyPr wrap="square" lIns="0" tIns="0" rIns="0" bIns="0" rtlCol="0" anchor="ctr"/>
          <a:lstStyle/>
          <a:p>
            <a:pPr algn="l" indent="0" marL="0">
              <a:buNone/>
            </a:pPr>
            <a:r>
              <a:rPr lang="en-US" sz="5400" b="1" spc="100" kern="0" dirty="0">
                <a:solidFill>
                  <a:srgbClr val="FFFFFF"/>
                </a:solidFill>
                <a:latin typeface="Cambria" pitchFamily="34" charset="0"/>
                <a:ea typeface="Cambria" pitchFamily="34" charset="-122"/>
                <a:cs typeface="Cambria" pitchFamily="34" charset="-120"/>
              </a:rPr>
              <a:t>SENTINELAI X</a:t>
            </a:r>
            <a:endParaRPr lang="en-US" sz="5400" dirty="0"/>
          </a:p>
        </p:txBody>
      </p:sp>
      <p:sp>
        <p:nvSpPr>
          <p:cNvPr id="8" name="Text 6"/>
          <p:cNvSpPr/>
          <p:nvPr/>
        </p:nvSpPr>
        <p:spPr>
          <a:xfrm>
            <a:off x="841248" y="2788920"/>
            <a:ext cx="10058400" cy="457200"/>
          </a:xfrm>
          <a:prstGeom prst="rect">
            <a:avLst/>
          </a:prstGeom>
          <a:noFill/>
          <a:ln/>
        </p:spPr>
        <p:txBody>
          <a:bodyPr wrap="square" lIns="0" tIns="0" rIns="0" bIns="0" rtlCol="0" anchor="ctr"/>
          <a:lstStyle/>
          <a:p>
            <a:pPr algn="l" indent="0" marL="0">
              <a:buNone/>
            </a:pPr>
            <a:r>
              <a:rPr lang="en-US" sz="1800" b="1" spc="200" kern="0" dirty="0">
                <a:solidFill>
                  <a:srgbClr val="21C7C7"/>
                </a:solidFill>
                <a:latin typeface="Calibri" pitchFamily="34" charset="0"/>
                <a:ea typeface="Calibri" pitchFamily="34" charset="-122"/>
                <a:cs typeface="Calibri" pitchFamily="34" charset="-120"/>
              </a:rPr>
              <a:t>AUTONOMOUS PHYSICAL AI OPERATIONS PLATFORM</a:t>
            </a:r>
            <a:endParaRPr lang="en-US" sz="1800" dirty="0"/>
          </a:p>
        </p:txBody>
      </p:sp>
      <p:sp>
        <p:nvSpPr>
          <p:cNvPr id="9" name="Shape 7"/>
          <p:cNvSpPr/>
          <p:nvPr/>
        </p:nvSpPr>
        <p:spPr>
          <a:xfrm>
            <a:off x="841248" y="3703320"/>
            <a:ext cx="1783080" cy="502920"/>
          </a:xfrm>
          <a:prstGeom prst="roundRect">
            <a:avLst>
              <a:gd name="adj" fmla="val 14545"/>
            </a:avLst>
          </a:prstGeom>
          <a:solidFill>
            <a:srgbClr val="10294D"/>
          </a:solidFill>
          <a:ln w="9525">
            <a:solidFill>
              <a:srgbClr val="21C7C7"/>
            </a:solidFill>
            <a:prstDash val="solid"/>
          </a:ln>
        </p:spPr>
      </p:sp>
      <p:sp>
        <p:nvSpPr>
          <p:cNvPr id="10" name="Text 8"/>
          <p:cNvSpPr/>
          <p:nvPr/>
        </p:nvSpPr>
        <p:spPr>
          <a:xfrm>
            <a:off x="841248" y="3703320"/>
            <a:ext cx="17830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OBSERVE</a:t>
            </a:r>
            <a:endParaRPr lang="en-US" sz="1250" dirty="0"/>
          </a:p>
        </p:txBody>
      </p:sp>
      <p:sp>
        <p:nvSpPr>
          <p:cNvPr id="11" name="Text 9"/>
          <p:cNvSpPr/>
          <p:nvPr/>
        </p:nvSpPr>
        <p:spPr>
          <a:xfrm>
            <a:off x="2624328" y="3703320"/>
            <a:ext cx="228600" cy="502920"/>
          </a:xfrm>
          <a:prstGeom prst="rect">
            <a:avLst/>
          </a:prstGeom>
          <a:noFill/>
          <a:ln/>
        </p:spPr>
        <p:txBody>
          <a:bodyPr wrap="square" lIns="0" tIns="0" rIns="0" bIns="0" rtlCol="0" anchor="ctr"/>
          <a:lstStyle/>
          <a:p>
            <a:pPr algn="ctr" indent="0" marL="0">
              <a:buNone/>
            </a:pPr>
            <a:r>
              <a:rPr lang="en-US" sz="1400" dirty="0">
                <a:solidFill>
                  <a:srgbClr val="F2A33C"/>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852928" y="3703320"/>
            <a:ext cx="1783080" cy="502920"/>
          </a:xfrm>
          <a:prstGeom prst="roundRect">
            <a:avLst>
              <a:gd name="adj" fmla="val 14545"/>
            </a:avLst>
          </a:prstGeom>
          <a:solidFill>
            <a:srgbClr val="10294D"/>
          </a:solidFill>
          <a:ln w="9525">
            <a:solidFill>
              <a:srgbClr val="21C7C7"/>
            </a:solidFill>
            <a:prstDash val="solid"/>
          </a:ln>
        </p:spPr>
      </p:sp>
      <p:sp>
        <p:nvSpPr>
          <p:cNvPr id="13" name="Text 11"/>
          <p:cNvSpPr/>
          <p:nvPr/>
        </p:nvSpPr>
        <p:spPr>
          <a:xfrm>
            <a:off x="2852928" y="3703320"/>
            <a:ext cx="17830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UNDERSTAND</a:t>
            </a:r>
            <a:endParaRPr lang="en-US" sz="1250" dirty="0"/>
          </a:p>
        </p:txBody>
      </p:sp>
      <p:sp>
        <p:nvSpPr>
          <p:cNvPr id="14" name="Text 12"/>
          <p:cNvSpPr/>
          <p:nvPr/>
        </p:nvSpPr>
        <p:spPr>
          <a:xfrm>
            <a:off x="4636008" y="3703320"/>
            <a:ext cx="228600" cy="502920"/>
          </a:xfrm>
          <a:prstGeom prst="rect">
            <a:avLst/>
          </a:prstGeom>
          <a:noFill/>
          <a:ln/>
        </p:spPr>
        <p:txBody>
          <a:bodyPr wrap="square" lIns="0" tIns="0" rIns="0" bIns="0" rtlCol="0" anchor="ctr"/>
          <a:lstStyle/>
          <a:p>
            <a:pPr algn="ctr" indent="0" marL="0">
              <a:buNone/>
            </a:pPr>
            <a:r>
              <a:rPr lang="en-US" sz="1400" dirty="0">
                <a:solidFill>
                  <a:srgbClr val="F2A33C"/>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4864608" y="3703320"/>
            <a:ext cx="1783080" cy="502920"/>
          </a:xfrm>
          <a:prstGeom prst="roundRect">
            <a:avLst>
              <a:gd name="adj" fmla="val 14545"/>
            </a:avLst>
          </a:prstGeom>
          <a:solidFill>
            <a:srgbClr val="10294D"/>
          </a:solidFill>
          <a:ln w="9525">
            <a:solidFill>
              <a:srgbClr val="21C7C7"/>
            </a:solidFill>
            <a:prstDash val="solid"/>
          </a:ln>
        </p:spPr>
      </p:sp>
      <p:sp>
        <p:nvSpPr>
          <p:cNvPr id="16" name="Text 14"/>
          <p:cNvSpPr/>
          <p:nvPr/>
        </p:nvSpPr>
        <p:spPr>
          <a:xfrm>
            <a:off x="4864608" y="3703320"/>
            <a:ext cx="17830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DECIDE</a:t>
            </a:r>
            <a:endParaRPr lang="en-US" sz="1250" dirty="0"/>
          </a:p>
        </p:txBody>
      </p:sp>
      <p:sp>
        <p:nvSpPr>
          <p:cNvPr id="17" name="Text 15"/>
          <p:cNvSpPr/>
          <p:nvPr/>
        </p:nvSpPr>
        <p:spPr>
          <a:xfrm>
            <a:off x="6647688" y="3703320"/>
            <a:ext cx="228600" cy="502920"/>
          </a:xfrm>
          <a:prstGeom prst="rect">
            <a:avLst/>
          </a:prstGeom>
          <a:noFill/>
          <a:ln/>
        </p:spPr>
        <p:txBody>
          <a:bodyPr wrap="square" lIns="0" tIns="0" rIns="0" bIns="0" rtlCol="0" anchor="ctr"/>
          <a:lstStyle/>
          <a:p>
            <a:pPr algn="ctr" indent="0" marL="0">
              <a:buNone/>
            </a:pPr>
            <a:r>
              <a:rPr lang="en-US" sz="1400" dirty="0">
                <a:solidFill>
                  <a:srgbClr val="F2A33C"/>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6876288" y="3703320"/>
            <a:ext cx="1783080" cy="502920"/>
          </a:xfrm>
          <a:prstGeom prst="roundRect">
            <a:avLst>
              <a:gd name="adj" fmla="val 14545"/>
            </a:avLst>
          </a:prstGeom>
          <a:solidFill>
            <a:srgbClr val="10294D"/>
          </a:solidFill>
          <a:ln w="9525">
            <a:solidFill>
              <a:srgbClr val="21C7C7"/>
            </a:solidFill>
            <a:prstDash val="solid"/>
          </a:ln>
        </p:spPr>
      </p:sp>
      <p:sp>
        <p:nvSpPr>
          <p:cNvPr id="19" name="Text 17"/>
          <p:cNvSpPr/>
          <p:nvPr/>
        </p:nvSpPr>
        <p:spPr>
          <a:xfrm>
            <a:off x="6876288" y="3703320"/>
            <a:ext cx="17830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ACT</a:t>
            </a:r>
            <a:endParaRPr lang="en-US" sz="1250" dirty="0"/>
          </a:p>
        </p:txBody>
      </p:sp>
      <p:sp>
        <p:nvSpPr>
          <p:cNvPr id="20" name="Text 18"/>
          <p:cNvSpPr/>
          <p:nvPr/>
        </p:nvSpPr>
        <p:spPr>
          <a:xfrm>
            <a:off x="8659368" y="3703320"/>
            <a:ext cx="228600" cy="502920"/>
          </a:xfrm>
          <a:prstGeom prst="rect">
            <a:avLst/>
          </a:prstGeom>
          <a:noFill/>
          <a:ln/>
        </p:spPr>
        <p:txBody>
          <a:bodyPr wrap="square" lIns="0" tIns="0" rIns="0" bIns="0" rtlCol="0" anchor="ctr"/>
          <a:lstStyle/>
          <a:p>
            <a:pPr algn="ctr" indent="0" marL="0">
              <a:buNone/>
            </a:pPr>
            <a:r>
              <a:rPr lang="en-US" sz="1400" dirty="0">
                <a:solidFill>
                  <a:srgbClr val="F2A33C"/>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8887968" y="3703320"/>
            <a:ext cx="1783080" cy="502920"/>
          </a:xfrm>
          <a:prstGeom prst="roundRect">
            <a:avLst>
              <a:gd name="adj" fmla="val 14545"/>
            </a:avLst>
          </a:prstGeom>
          <a:solidFill>
            <a:srgbClr val="10294D"/>
          </a:solidFill>
          <a:ln w="9525">
            <a:solidFill>
              <a:srgbClr val="21C7C7"/>
            </a:solidFill>
            <a:prstDash val="solid"/>
          </a:ln>
        </p:spPr>
      </p:sp>
      <p:sp>
        <p:nvSpPr>
          <p:cNvPr id="22" name="Text 20"/>
          <p:cNvSpPr/>
          <p:nvPr/>
        </p:nvSpPr>
        <p:spPr>
          <a:xfrm>
            <a:off x="8887968" y="3703320"/>
            <a:ext cx="17830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OPTIMIZE</a:t>
            </a:r>
            <a:endParaRPr lang="en-US" sz="1250" dirty="0"/>
          </a:p>
        </p:txBody>
      </p:sp>
      <p:sp>
        <p:nvSpPr>
          <p:cNvPr id="23" name="Text 21"/>
          <p:cNvSpPr/>
          <p:nvPr/>
        </p:nvSpPr>
        <p:spPr>
          <a:xfrm>
            <a:off x="841248" y="4617720"/>
            <a:ext cx="9144000" cy="457200"/>
          </a:xfrm>
          <a:prstGeom prst="rect">
            <a:avLst/>
          </a:prstGeom>
          <a:noFill/>
          <a:ln/>
        </p:spPr>
        <p:txBody>
          <a:bodyPr wrap="square" lIns="0" tIns="0" rIns="0" bIns="0" rtlCol="0" anchor="ctr"/>
          <a:lstStyle/>
          <a:p>
            <a:pPr algn="l" indent="0" marL="0">
              <a:buNone/>
            </a:pPr>
            <a:r>
              <a:rPr lang="en-US" sz="1700" i="1" dirty="0">
                <a:solidFill>
                  <a:srgbClr val="C9D6E8"/>
                </a:solidFill>
                <a:latin typeface="Cambria" pitchFamily="34" charset="0"/>
                <a:ea typeface="Cambria" pitchFamily="34" charset="-122"/>
                <a:cs typeface="Cambria" pitchFamily="34" charset="-120"/>
              </a:rPr>
              <a:t>The Operating System for Physical Spaces</a:t>
            </a:r>
            <a:endParaRPr lang="en-US" sz="1700" dirty="0"/>
          </a:p>
        </p:txBody>
      </p:sp>
      <p:sp>
        <p:nvSpPr>
          <p:cNvPr id="24" name="Text 22"/>
          <p:cNvSpPr/>
          <p:nvPr/>
        </p:nvSpPr>
        <p:spPr>
          <a:xfrm>
            <a:off x="841248" y="5989320"/>
            <a:ext cx="10332720" cy="365760"/>
          </a:xfrm>
          <a:prstGeom prst="rect">
            <a:avLst/>
          </a:prstGeom>
          <a:noFill/>
          <a:ln/>
        </p:spPr>
        <p:txBody>
          <a:bodyPr wrap="square" lIns="0" tIns="0" rIns="0" bIns="0" rtlCol="0" anchor="ctr"/>
          <a:lstStyle/>
          <a:p>
            <a:pPr algn="l" indent="0" marL="0">
              <a:buNone/>
            </a:pPr>
            <a:r>
              <a:rPr lang="en-US" sz="1200" dirty="0">
                <a:solidFill>
                  <a:srgbClr val="7E93B5"/>
                </a:solidFill>
                <a:latin typeface="Calibri" pitchFamily="34" charset="0"/>
                <a:ea typeface="Calibri" pitchFamily="34" charset="-122"/>
                <a:cs typeface="Calibri" pitchFamily="34" charset="-120"/>
              </a:rPr>
              <a:t>Computer Vision  •  Digital Twin  •  Multi-Agent AI  •  Decision Intelligence  •  IoT Automation</a:t>
            </a:r>
            <a:endParaRPr lang="en-US" sz="1200" dirty="0"/>
          </a:p>
        </p:txBody>
      </p:sp>
      <p:sp>
        <p:nvSpPr>
          <p:cNvPr id="26" name="Text 2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B7BA8"/>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Existing Physical Infrastructure Is Reactive</a:t>
            </a:r>
            <a:endParaRPr lang="en-US" sz="3000" dirty="0"/>
          </a:p>
        </p:txBody>
      </p:sp>
      <p:sp>
        <p:nvSpPr>
          <p:cNvPr id="4" name="Shape 2"/>
          <p:cNvSpPr/>
          <p:nvPr/>
        </p:nvSpPr>
        <p:spPr>
          <a:xfrm>
            <a:off x="548640" y="1691640"/>
            <a:ext cx="3337560" cy="1536192"/>
          </a:xfrm>
          <a:prstGeom prst="roundRect">
            <a:avLst>
              <a:gd name="adj" fmla="val 4762"/>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5" name="Shape 3"/>
          <p:cNvSpPr/>
          <p:nvPr/>
        </p:nvSpPr>
        <p:spPr>
          <a:xfrm>
            <a:off x="731520" y="1828800"/>
            <a:ext cx="548640" cy="548640"/>
          </a:xfrm>
          <a:prstGeom prst="ellipse">
            <a:avLst/>
          </a:prstGeom>
          <a:solidFill>
            <a:srgbClr val="0B1F3A"/>
          </a:solidFill>
          <a:ln/>
        </p:spPr>
      </p:sp>
      <p:pic>
        <p:nvPicPr>
          <p:cNvPr id="6" name="Image 0" descr="/home/claude/sentinelai/images/video_white.png">    </p:cNvPr>
          <p:cNvPicPr>
            <a:picLocks noChangeAspect="1"/>
          </p:cNvPicPr>
          <p:nvPr/>
        </p:nvPicPr>
        <p:blipFill>
          <a:blip r:embed="rId1"/>
          <a:stretch>
            <a:fillRect/>
          </a:stretch>
        </p:blipFill>
        <p:spPr>
          <a:xfrm>
            <a:off x="868680" y="1965960"/>
            <a:ext cx="274320" cy="274320"/>
          </a:xfrm>
          <a:prstGeom prst="rect">
            <a:avLst/>
          </a:prstGeom>
        </p:spPr>
      </p:pic>
      <p:sp>
        <p:nvSpPr>
          <p:cNvPr id="7" name="Text 4"/>
          <p:cNvSpPr/>
          <p:nvPr/>
        </p:nvSpPr>
        <p:spPr>
          <a:xfrm>
            <a:off x="777240" y="2441448"/>
            <a:ext cx="2880360" cy="32004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Reactive CCTV Systems</a:t>
            </a:r>
            <a:endParaRPr lang="en-US" sz="1350" dirty="0"/>
          </a:p>
        </p:txBody>
      </p:sp>
      <p:sp>
        <p:nvSpPr>
          <p:cNvPr id="8" name="Text 5"/>
          <p:cNvSpPr/>
          <p:nvPr/>
        </p:nvSpPr>
        <p:spPr>
          <a:xfrm>
            <a:off x="777240" y="2743200"/>
            <a:ext cx="2880360" cy="438912"/>
          </a:xfrm>
          <a:prstGeom prst="rect">
            <a:avLst/>
          </a:prstGeom>
          <a:noFill/>
          <a:ln/>
        </p:spPr>
        <p:txBody>
          <a:bodyPr wrap="square" lIns="0" tIns="0" rIns="0" bIns="0" rtlCol="0" anchor="ctr"/>
          <a:lstStyle/>
          <a:p>
            <a:pPr indent="0" marL="0">
              <a:lnSpc>
                <a:spcPct val="105000"/>
              </a:lnSpc>
              <a:buNone/>
            </a:pPr>
            <a:r>
              <a:rPr lang="en-US" sz="1050" dirty="0">
                <a:solidFill>
                  <a:srgbClr val="5B6B82"/>
                </a:solidFill>
                <a:latin typeface="Calibri" pitchFamily="34" charset="0"/>
                <a:ea typeface="Calibri" pitchFamily="34" charset="-122"/>
                <a:cs typeface="Calibri" pitchFamily="34" charset="-120"/>
              </a:rPr>
              <a:t>Traditional CCTV systems only record events after they occur. There is no real-time understanding, only after-the-fact footage.</a:t>
            </a:r>
            <a:endParaRPr lang="en-US" sz="1050" dirty="0"/>
          </a:p>
        </p:txBody>
      </p:sp>
      <p:sp>
        <p:nvSpPr>
          <p:cNvPr id="9" name="Shape 6"/>
          <p:cNvSpPr/>
          <p:nvPr/>
        </p:nvSpPr>
        <p:spPr>
          <a:xfrm>
            <a:off x="4114800" y="1691640"/>
            <a:ext cx="3337560" cy="1536192"/>
          </a:xfrm>
          <a:prstGeom prst="roundRect">
            <a:avLst>
              <a:gd name="adj" fmla="val 4762"/>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10" name="Shape 7"/>
          <p:cNvSpPr/>
          <p:nvPr/>
        </p:nvSpPr>
        <p:spPr>
          <a:xfrm>
            <a:off x="4297680" y="1828800"/>
            <a:ext cx="548640" cy="548640"/>
          </a:xfrm>
          <a:prstGeom prst="ellipse">
            <a:avLst/>
          </a:prstGeom>
          <a:solidFill>
            <a:srgbClr val="0B1F3A"/>
          </a:solidFill>
          <a:ln/>
        </p:spPr>
      </p:sp>
      <p:pic>
        <p:nvPicPr>
          <p:cNvPr id="11" name="Image 1" descr="/home/claude/sentinelai/images/network_white.png">    </p:cNvPr>
          <p:cNvPicPr>
            <a:picLocks noChangeAspect="1"/>
          </p:cNvPicPr>
          <p:nvPr/>
        </p:nvPicPr>
        <p:blipFill>
          <a:blip r:embed="rId2"/>
          <a:stretch>
            <a:fillRect/>
          </a:stretch>
        </p:blipFill>
        <p:spPr>
          <a:xfrm>
            <a:off x="4434840" y="1965960"/>
            <a:ext cx="274320" cy="274320"/>
          </a:xfrm>
          <a:prstGeom prst="rect">
            <a:avLst/>
          </a:prstGeom>
        </p:spPr>
      </p:pic>
      <p:sp>
        <p:nvSpPr>
          <p:cNvPr id="12" name="Text 8"/>
          <p:cNvSpPr/>
          <p:nvPr/>
        </p:nvSpPr>
        <p:spPr>
          <a:xfrm>
            <a:off x="4343400" y="2441448"/>
            <a:ext cx="2880360" cy="32004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Siloed Operations</a:t>
            </a:r>
            <a:endParaRPr lang="en-US" sz="1350" dirty="0"/>
          </a:p>
        </p:txBody>
      </p:sp>
      <p:sp>
        <p:nvSpPr>
          <p:cNvPr id="13" name="Text 9"/>
          <p:cNvSpPr/>
          <p:nvPr/>
        </p:nvSpPr>
        <p:spPr>
          <a:xfrm>
            <a:off x="4343400" y="2743200"/>
            <a:ext cx="2880360" cy="438912"/>
          </a:xfrm>
          <a:prstGeom prst="rect">
            <a:avLst/>
          </a:prstGeom>
          <a:noFill/>
          <a:ln/>
        </p:spPr>
        <p:txBody>
          <a:bodyPr wrap="square" lIns="0" tIns="0" rIns="0" bIns="0" rtlCol="0" anchor="ctr"/>
          <a:lstStyle/>
          <a:p>
            <a:pPr indent="0" marL="0">
              <a:lnSpc>
                <a:spcPct val="105000"/>
              </a:lnSpc>
              <a:buNone/>
            </a:pPr>
            <a:r>
              <a:rPr lang="en-US" sz="1050" dirty="0">
                <a:solidFill>
                  <a:srgbClr val="5B6B82"/>
                </a:solidFill>
                <a:latin typeface="Calibri" pitchFamily="34" charset="0"/>
                <a:ea typeface="Calibri" pitchFamily="34" charset="-122"/>
                <a:cs typeface="Calibri" pitchFamily="34" charset="-120"/>
              </a:rPr>
              <a:t>Security, energy management, and facility management run as isolated systems with no shared intelligence or coordination.</a:t>
            </a:r>
            <a:endParaRPr lang="en-US" sz="1050" dirty="0"/>
          </a:p>
        </p:txBody>
      </p:sp>
      <p:sp>
        <p:nvSpPr>
          <p:cNvPr id="14" name="Shape 10"/>
          <p:cNvSpPr/>
          <p:nvPr/>
        </p:nvSpPr>
        <p:spPr>
          <a:xfrm>
            <a:off x="7680960" y="1691640"/>
            <a:ext cx="3337560" cy="1536192"/>
          </a:xfrm>
          <a:prstGeom prst="roundRect">
            <a:avLst>
              <a:gd name="adj" fmla="val 4762"/>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15" name="Shape 11"/>
          <p:cNvSpPr/>
          <p:nvPr/>
        </p:nvSpPr>
        <p:spPr>
          <a:xfrm>
            <a:off x="7863840" y="1828800"/>
            <a:ext cx="548640" cy="548640"/>
          </a:xfrm>
          <a:prstGeom prst="ellipse">
            <a:avLst/>
          </a:prstGeom>
          <a:solidFill>
            <a:srgbClr val="0B1F3A"/>
          </a:solidFill>
          <a:ln/>
        </p:spPr>
      </p:sp>
      <p:pic>
        <p:nvPicPr>
          <p:cNvPr id="16" name="Image 2" descr="/home/claude/sentinelai/images/chip_white.png">    </p:cNvPr>
          <p:cNvPicPr>
            <a:picLocks noChangeAspect="1"/>
          </p:cNvPicPr>
          <p:nvPr/>
        </p:nvPicPr>
        <p:blipFill>
          <a:blip r:embed="rId3"/>
          <a:stretch>
            <a:fillRect/>
          </a:stretch>
        </p:blipFill>
        <p:spPr>
          <a:xfrm>
            <a:off x="8001000" y="1965960"/>
            <a:ext cx="274320" cy="274320"/>
          </a:xfrm>
          <a:prstGeom prst="rect">
            <a:avLst/>
          </a:prstGeom>
        </p:spPr>
      </p:pic>
      <p:sp>
        <p:nvSpPr>
          <p:cNvPr id="17" name="Text 12"/>
          <p:cNvSpPr/>
          <p:nvPr/>
        </p:nvSpPr>
        <p:spPr>
          <a:xfrm>
            <a:off x="7909560" y="2441448"/>
            <a:ext cx="2880360" cy="32004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High Monitoring Cost</a:t>
            </a:r>
            <a:endParaRPr lang="en-US" sz="1350" dirty="0"/>
          </a:p>
        </p:txBody>
      </p:sp>
      <p:sp>
        <p:nvSpPr>
          <p:cNvPr id="18" name="Text 13"/>
          <p:cNvSpPr/>
          <p:nvPr/>
        </p:nvSpPr>
        <p:spPr>
          <a:xfrm>
            <a:off x="7909560" y="2743200"/>
            <a:ext cx="2880360" cy="438912"/>
          </a:xfrm>
          <a:prstGeom prst="rect">
            <a:avLst/>
          </a:prstGeom>
          <a:noFill/>
          <a:ln/>
        </p:spPr>
        <p:txBody>
          <a:bodyPr wrap="square" lIns="0" tIns="0" rIns="0" bIns="0" rtlCol="0" anchor="ctr"/>
          <a:lstStyle/>
          <a:p>
            <a:pPr indent="0" marL="0">
              <a:lnSpc>
                <a:spcPct val="105000"/>
              </a:lnSpc>
              <a:buNone/>
            </a:pPr>
            <a:r>
              <a:rPr lang="en-US" sz="1050" dirty="0">
                <a:solidFill>
                  <a:srgbClr val="5B6B82"/>
                </a:solidFill>
                <a:latin typeface="Calibri" pitchFamily="34" charset="0"/>
                <a:ea typeface="Calibri" pitchFamily="34" charset="-122"/>
                <a:cs typeface="Calibri" pitchFamily="34" charset="-120"/>
              </a:rPr>
              <a:t>Continuous human monitoring of feeds and sensors increases operational cost without improving response speed.</a:t>
            </a:r>
            <a:endParaRPr lang="en-US" sz="1050" dirty="0"/>
          </a:p>
        </p:txBody>
      </p:sp>
      <p:sp>
        <p:nvSpPr>
          <p:cNvPr id="19" name="Shape 14"/>
          <p:cNvSpPr/>
          <p:nvPr/>
        </p:nvSpPr>
        <p:spPr>
          <a:xfrm>
            <a:off x="548640" y="3456432"/>
            <a:ext cx="3337560" cy="1536192"/>
          </a:xfrm>
          <a:prstGeom prst="roundRect">
            <a:avLst>
              <a:gd name="adj" fmla="val 4762"/>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20" name="Shape 15"/>
          <p:cNvSpPr/>
          <p:nvPr/>
        </p:nvSpPr>
        <p:spPr>
          <a:xfrm>
            <a:off x="731520" y="3593592"/>
            <a:ext cx="548640" cy="548640"/>
          </a:xfrm>
          <a:prstGeom prst="ellipse">
            <a:avLst/>
          </a:prstGeom>
          <a:solidFill>
            <a:srgbClr val="0B1F3A"/>
          </a:solidFill>
          <a:ln/>
        </p:spPr>
      </p:sp>
      <p:pic>
        <p:nvPicPr>
          <p:cNvPr id="21" name="Image 3" descr="/home/claude/sentinelai/images/bolt_white.png">    </p:cNvPr>
          <p:cNvPicPr>
            <a:picLocks noChangeAspect="1"/>
          </p:cNvPicPr>
          <p:nvPr/>
        </p:nvPicPr>
        <p:blipFill>
          <a:blip r:embed="rId4"/>
          <a:stretch>
            <a:fillRect/>
          </a:stretch>
        </p:blipFill>
        <p:spPr>
          <a:xfrm>
            <a:off x="868680" y="3730752"/>
            <a:ext cx="274320" cy="274320"/>
          </a:xfrm>
          <a:prstGeom prst="rect">
            <a:avLst/>
          </a:prstGeom>
        </p:spPr>
      </p:pic>
      <p:sp>
        <p:nvSpPr>
          <p:cNvPr id="22" name="Text 16"/>
          <p:cNvSpPr/>
          <p:nvPr/>
        </p:nvSpPr>
        <p:spPr>
          <a:xfrm>
            <a:off x="777240" y="4206240"/>
            <a:ext cx="2880360" cy="32004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Energy Wastage</a:t>
            </a:r>
            <a:endParaRPr lang="en-US" sz="1350" dirty="0"/>
          </a:p>
        </p:txBody>
      </p:sp>
      <p:sp>
        <p:nvSpPr>
          <p:cNvPr id="23" name="Text 17"/>
          <p:cNvSpPr/>
          <p:nvPr/>
        </p:nvSpPr>
        <p:spPr>
          <a:xfrm>
            <a:off x="777240" y="4507992"/>
            <a:ext cx="2880360" cy="438912"/>
          </a:xfrm>
          <a:prstGeom prst="rect">
            <a:avLst/>
          </a:prstGeom>
          <a:noFill/>
          <a:ln/>
        </p:spPr>
        <p:txBody>
          <a:bodyPr wrap="square" lIns="0" tIns="0" rIns="0" bIns="0" rtlCol="0" anchor="ctr"/>
          <a:lstStyle/>
          <a:p>
            <a:pPr indent="0" marL="0">
              <a:lnSpc>
                <a:spcPct val="105000"/>
              </a:lnSpc>
              <a:buNone/>
            </a:pPr>
            <a:r>
              <a:rPr lang="en-US" sz="1050" dirty="0">
                <a:solidFill>
                  <a:srgbClr val="5B6B82"/>
                </a:solidFill>
                <a:latin typeface="Calibri" pitchFamily="34" charset="0"/>
                <a:ea typeface="Calibri" pitchFamily="34" charset="-122"/>
                <a:cs typeface="Calibri" pitchFamily="34" charset="-120"/>
              </a:rPr>
              <a:t>Unattended devices and equipment left running cause significant, preventable energy wastage across facilities.</a:t>
            </a:r>
            <a:endParaRPr lang="en-US" sz="1050" dirty="0"/>
          </a:p>
        </p:txBody>
      </p:sp>
      <p:sp>
        <p:nvSpPr>
          <p:cNvPr id="24" name="Shape 18"/>
          <p:cNvSpPr/>
          <p:nvPr/>
        </p:nvSpPr>
        <p:spPr>
          <a:xfrm>
            <a:off x="4114800" y="3456432"/>
            <a:ext cx="3337560" cy="1536192"/>
          </a:xfrm>
          <a:prstGeom prst="roundRect">
            <a:avLst>
              <a:gd name="adj" fmla="val 4762"/>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25" name="Shape 19"/>
          <p:cNvSpPr/>
          <p:nvPr/>
        </p:nvSpPr>
        <p:spPr>
          <a:xfrm>
            <a:off x="4297680" y="3593592"/>
            <a:ext cx="548640" cy="548640"/>
          </a:xfrm>
          <a:prstGeom prst="ellipse">
            <a:avLst/>
          </a:prstGeom>
          <a:solidFill>
            <a:srgbClr val="0B1F3A"/>
          </a:solidFill>
          <a:ln/>
        </p:spPr>
      </p:sp>
      <p:pic>
        <p:nvPicPr>
          <p:cNvPr id="26" name="Image 4" descr="/home/claude/sentinelai/images/tools_white.png">    </p:cNvPr>
          <p:cNvPicPr>
            <a:picLocks noChangeAspect="1"/>
          </p:cNvPicPr>
          <p:nvPr/>
        </p:nvPicPr>
        <p:blipFill>
          <a:blip r:embed="rId5"/>
          <a:stretch>
            <a:fillRect/>
          </a:stretch>
        </p:blipFill>
        <p:spPr>
          <a:xfrm>
            <a:off x="4434840" y="3730752"/>
            <a:ext cx="274320" cy="274320"/>
          </a:xfrm>
          <a:prstGeom prst="rect">
            <a:avLst/>
          </a:prstGeom>
        </p:spPr>
      </p:pic>
      <p:sp>
        <p:nvSpPr>
          <p:cNvPr id="27" name="Text 20"/>
          <p:cNvSpPr/>
          <p:nvPr/>
        </p:nvSpPr>
        <p:spPr>
          <a:xfrm>
            <a:off x="4343400" y="4206240"/>
            <a:ext cx="2880360" cy="32004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Manual Incident Response</a:t>
            </a:r>
            <a:endParaRPr lang="en-US" sz="1350" dirty="0"/>
          </a:p>
        </p:txBody>
      </p:sp>
      <p:sp>
        <p:nvSpPr>
          <p:cNvPr id="28" name="Text 21"/>
          <p:cNvSpPr/>
          <p:nvPr/>
        </p:nvSpPr>
        <p:spPr>
          <a:xfrm>
            <a:off x="4343400" y="4507992"/>
            <a:ext cx="2880360" cy="438912"/>
          </a:xfrm>
          <a:prstGeom prst="rect">
            <a:avLst/>
          </a:prstGeom>
          <a:noFill/>
          <a:ln/>
        </p:spPr>
        <p:txBody>
          <a:bodyPr wrap="square" lIns="0" tIns="0" rIns="0" bIns="0" rtlCol="0" anchor="ctr"/>
          <a:lstStyle/>
          <a:p>
            <a:pPr indent="0" marL="0">
              <a:lnSpc>
                <a:spcPct val="105000"/>
              </a:lnSpc>
              <a:buNone/>
            </a:pPr>
            <a:r>
              <a:rPr lang="en-US" sz="1050" dirty="0">
                <a:solidFill>
                  <a:srgbClr val="5B6B82"/>
                </a:solidFill>
                <a:latin typeface="Calibri" pitchFamily="34" charset="0"/>
                <a:ea typeface="Calibri" pitchFamily="34" charset="-122"/>
                <a:cs typeface="Calibri" pitchFamily="34" charset="-120"/>
              </a:rPr>
              <a:t>Incident response and regulatory compliance remain manual, slow, and dependent on human availability.</a:t>
            </a:r>
            <a:endParaRPr lang="en-US" sz="1050" dirty="0"/>
          </a:p>
        </p:txBody>
      </p:sp>
      <p:sp>
        <p:nvSpPr>
          <p:cNvPr id="29" name="Shape 22"/>
          <p:cNvSpPr/>
          <p:nvPr/>
        </p:nvSpPr>
        <p:spPr>
          <a:xfrm>
            <a:off x="548640" y="5266944"/>
            <a:ext cx="11064240" cy="914400"/>
          </a:xfrm>
          <a:prstGeom prst="roundRect">
            <a:avLst>
              <a:gd name="adj" fmla="val 8000"/>
            </a:avLst>
          </a:prstGeom>
          <a:solidFill>
            <a:srgbClr val="0B1F3A"/>
          </a:solidFill>
          <a:ln/>
        </p:spPr>
      </p:sp>
      <p:sp>
        <p:nvSpPr>
          <p:cNvPr id="30" name="Shape 23"/>
          <p:cNvSpPr/>
          <p:nvPr/>
        </p:nvSpPr>
        <p:spPr>
          <a:xfrm>
            <a:off x="800100" y="5472684"/>
            <a:ext cx="502920" cy="502920"/>
          </a:xfrm>
          <a:prstGeom prst="ellipse">
            <a:avLst/>
          </a:prstGeom>
          <a:solidFill>
            <a:srgbClr val="F2A33C"/>
          </a:solidFill>
          <a:ln/>
        </p:spPr>
      </p:sp>
      <p:pic>
        <p:nvPicPr>
          <p:cNvPr id="31" name="Image 5" descr="/home/claude/sentinelai/images/warning_dark.png">    </p:cNvPr>
          <p:cNvPicPr>
            <a:picLocks noChangeAspect="1"/>
          </p:cNvPicPr>
          <p:nvPr/>
        </p:nvPicPr>
        <p:blipFill>
          <a:blip r:embed="rId6"/>
          <a:stretch>
            <a:fillRect/>
          </a:stretch>
        </p:blipFill>
        <p:spPr>
          <a:xfrm>
            <a:off x="925830" y="5598414"/>
            <a:ext cx="251460" cy="251460"/>
          </a:xfrm>
          <a:prstGeom prst="rect">
            <a:avLst/>
          </a:prstGeom>
        </p:spPr>
      </p:pic>
      <p:sp>
        <p:nvSpPr>
          <p:cNvPr id="32" name="Text 24"/>
          <p:cNvSpPr/>
          <p:nvPr/>
        </p:nvSpPr>
        <p:spPr>
          <a:xfrm>
            <a:off x="1417320" y="5330952"/>
            <a:ext cx="9966960" cy="777240"/>
          </a:xfrm>
          <a:prstGeom prst="rect">
            <a:avLst/>
          </a:prstGeom>
          <a:noFill/>
          <a:ln/>
        </p:spPr>
        <p:txBody>
          <a:bodyPr wrap="square" lIns="0" tIns="0" rIns="0" bIns="0" rtlCol="0" anchor="ctr"/>
          <a:lstStyle/>
          <a:p>
            <a:pPr indent="0" marL="0">
              <a:lnSpc>
                <a:spcPct val="105000"/>
              </a:lnSpc>
              <a:buNone/>
            </a:pPr>
            <a:r>
              <a:rPr lang="en-US" sz="1350" b="1" dirty="0">
                <a:solidFill>
                  <a:srgbClr val="F2A33C"/>
                </a:solidFill>
                <a:latin typeface="Calibri" pitchFamily="34" charset="0"/>
                <a:ea typeface="Calibri" pitchFamily="34" charset="-122"/>
                <a:cs typeface="Calibri" pitchFamily="34" charset="-120"/>
              </a:rPr>
              <a:t>The Core Challenge:  </a:t>
            </a:r>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Current physical infrastructure systems can observe physical spaces, but they cannot understand, reason, or autonomously respond to what they see.</a:t>
            </a:r>
            <a:endParaRPr lang="en-US" sz="1350" dirty="0"/>
          </a:p>
        </p:txBody>
      </p:sp>
      <p:sp>
        <p:nvSpPr>
          <p:cNvPr id="34" name="Text 25"/>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A9B6C9"/>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OUR SOLUTION</a:t>
            </a:r>
            <a:endParaRPr lang="en-US" sz="1200" dirty="0"/>
          </a:p>
        </p:txBody>
      </p:sp>
      <p:sp>
        <p:nvSpPr>
          <p:cNvPr id="3" name="Text 1"/>
          <p:cNvSpPr/>
          <p:nvPr/>
        </p:nvSpPr>
        <p:spPr>
          <a:xfrm>
            <a:off x="548640" y="731520"/>
            <a:ext cx="10789920" cy="7315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SentinelAI X: From Observation to Autonomous Action</a:t>
            </a:r>
            <a:endParaRPr lang="en-US" sz="2700" dirty="0"/>
          </a:p>
        </p:txBody>
      </p:sp>
      <p:sp>
        <p:nvSpPr>
          <p:cNvPr id="4" name="Text 2"/>
          <p:cNvSpPr/>
          <p:nvPr/>
        </p:nvSpPr>
        <p:spPr>
          <a:xfrm>
            <a:off x="548640" y="1600200"/>
            <a:ext cx="10789920" cy="914400"/>
          </a:xfrm>
          <a:prstGeom prst="rect">
            <a:avLst/>
          </a:prstGeom>
          <a:noFill/>
          <a:ln/>
        </p:spPr>
        <p:txBody>
          <a:bodyPr wrap="square" lIns="0" tIns="0" rIns="0" bIns="0" rtlCol="0" anchor="ctr"/>
          <a:lstStyle/>
          <a:p>
            <a:pPr indent="0" marL="0">
              <a:lnSpc>
                <a:spcPct val="115000"/>
              </a:lnSpc>
              <a:buNone/>
            </a:pPr>
            <a:r>
              <a:rPr lang="en-US" sz="1450" dirty="0">
                <a:solidFill>
                  <a:srgbClr val="C9D6E8"/>
                </a:solidFill>
                <a:latin typeface="Calibri" pitchFamily="34" charset="0"/>
                <a:ea typeface="Calibri" pitchFamily="34" charset="-122"/>
                <a:cs typeface="Calibri" pitchFamily="34" charset="-120"/>
              </a:rPr>
              <a:t>SentinelAI X transforms physical environments into intelligent, autonomous infrastructures by combining Computer Vision, Digital Twin technology, Multi-Agent AI, Decision Intelligence, and IoT Automation into a single Physical AI Operations Platform.</a:t>
            </a:r>
            <a:endParaRPr lang="en-US" sz="1450" dirty="0"/>
          </a:p>
        </p:txBody>
      </p:sp>
      <p:sp>
        <p:nvSpPr>
          <p:cNvPr id="5" name="Text 3"/>
          <p:cNvSpPr/>
          <p:nvPr/>
        </p:nvSpPr>
        <p:spPr>
          <a:xfrm>
            <a:off x="548640" y="2606040"/>
            <a:ext cx="5486400" cy="320040"/>
          </a:xfrm>
          <a:prstGeom prst="rect">
            <a:avLst/>
          </a:prstGeom>
          <a:noFill/>
          <a:ln/>
        </p:spPr>
        <p:txBody>
          <a:bodyPr wrap="square" lIns="0" tIns="0" rIns="0" bIns="0" rtlCol="0" anchor="ctr"/>
          <a:lstStyle/>
          <a:p>
            <a:pPr indent="0" marL="0">
              <a:buNone/>
            </a:pPr>
            <a:r>
              <a:rPr lang="en-US" sz="1200" b="1" spc="200" kern="0" dirty="0">
                <a:solidFill>
                  <a:srgbClr val="21C7C7"/>
                </a:solidFill>
                <a:latin typeface="Calibri" pitchFamily="34" charset="0"/>
                <a:ea typeface="Calibri" pitchFamily="34" charset="-122"/>
                <a:cs typeface="Calibri" pitchFamily="34" charset="-120"/>
              </a:rPr>
              <a:t>CORE WORKFLOW</a:t>
            </a:r>
            <a:endParaRPr lang="en-US" sz="1200" dirty="0"/>
          </a:p>
        </p:txBody>
      </p:sp>
      <p:sp>
        <p:nvSpPr>
          <p:cNvPr id="6" name="Shape 4"/>
          <p:cNvSpPr/>
          <p:nvPr/>
        </p:nvSpPr>
        <p:spPr>
          <a:xfrm>
            <a:off x="548640" y="3063240"/>
            <a:ext cx="1691640" cy="1554480"/>
          </a:xfrm>
          <a:prstGeom prst="roundRect">
            <a:avLst>
              <a:gd name="adj" fmla="val 4706"/>
            </a:avLst>
          </a:prstGeom>
          <a:solidFill>
            <a:srgbClr val="10294D"/>
          </a:solidFill>
          <a:ln w="12700">
            <a:solidFill>
              <a:srgbClr val="1C3A66"/>
            </a:solidFill>
            <a:prstDash val="solid"/>
          </a:ln>
        </p:spPr>
      </p:sp>
      <p:sp>
        <p:nvSpPr>
          <p:cNvPr id="7" name="Shape 5"/>
          <p:cNvSpPr/>
          <p:nvPr/>
        </p:nvSpPr>
        <p:spPr>
          <a:xfrm>
            <a:off x="1110996" y="3282696"/>
            <a:ext cx="566928" cy="566928"/>
          </a:xfrm>
          <a:prstGeom prst="ellipse">
            <a:avLst/>
          </a:prstGeom>
          <a:solidFill>
            <a:srgbClr val="21C7C7"/>
          </a:solidFill>
          <a:ln/>
        </p:spPr>
      </p:sp>
      <p:pic>
        <p:nvPicPr>
          <p:cNvPr id="8" name="Image 0" descr="/home/claude/sentinelai/images/search_white.png">    </p:cNvPr>
          <p:cNvPicPr>
            <a:picLocks noChangeAspect="1"/>
          </p:cNvPicPr>
          <p:nvPr/>
        </p:nvPicPr>
        <p:blipFill>
          <a:blip r:embed="rId1"/>
          <a:stretch>
            <a:fillRect/>
          </a:stretch>
        </p:blipFill>
        <p:spPr>
          <a:xfrm>
            <a:off x="1252728" y="3424428"/>
            <a:ext cx="283464" cy="283464"/>
          </a:xfrm>
          <a:prstGeom prst="rect">
            <a:avLst/>
          </a:prstGeom>
        </p:spPr>
      </p:pic>
      <p:sp>
        <p:nvSpPr>
          <p:cNvPr id="9" name="Text 6"/>
          <p:cNvSpPr/>
          <p:nvPr/>
        </p:nvSpPr>
        <p:spPr>
          <a:xfrm>
            <a:off x="594360" y="3977640"/>
            <a:ext cx="1600200" cy="54864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Observe</a:t>
            </a:r>
            <a:endParaRPr lang="en-US" sz="1250" dirty="0"/>
          </a:p>
        </p:txBody>
      </p:sp>
      <p:sp>
        <p:nvSpPr>
          <p:cNvPr id="10" name="Text 7"/>
          <p:cNvSpPr/>
          <p:nvPr/>
        </p:nvSpPr>
        <p:spPr>
          <a:xfrm>
            <a:off x="2240280" y="3063240"/>
            <a:ext cx="164592" cy="1554480"/>
          </a:xfrm>
          <a:prstGeom prst="rect">
            <a:avLst/>
          </a:prstGeom>
          <a:noFill/>
          <a:ln/>
        </p:spPr>
        <p:txBody>
          <a:bodyPr wrap="square" lIns="0" tIns="0" rIns="0" bIns="0" rtlCol="0" anchor="ctr"/>
          <a:lstStyle/>
          <a:p>
            <a:pPr algn="ctr" indent="0" marL="0">
              <a:buNone/>
            </a:pPr>
            <a:r>
              <a:rPr lang="en-US" sz="1300" dirty="0">
                <a:solidFill>
                  <a:srgbClr val="F2A33C"/>
                </a:solidFill>
                <a:latin typeface="Calibri" pitchFamily="34" charset="0"/>
                <a:ea typeface="Calibri" pitchFamily="34" charset="-122"/>
                <a:cs typeface="Calibri" pitchFamily="34" charset="-120"/>
              </a:rPr>
              <a:t>→</a:t>
            </a:r>
            <a:endParaRPr lang="en-US" sz="1300" dirty="0"/>
          </a:p>
        </p:txBody>
      </p:sp>
      <p:sp>
        <p:nvSpPr>
          <p:cNvPr id="11" name="Shape 8"/>
          <p:cNvSpPr/>
          <p:nvPr/>
        </p:nvSpPr>
        <p:spPr>
          <a:xfrm>
            <a:off x="2404872" y="3063240"/>
            <a:ext cx="1691640" cy="1554480"/>
          </a:xfrm>
          <a:prstGeom prst="roundRect">
            <a:avLst>
              <a:gd name="adj" fmla="val 4706"/>
            </a:avLst>
          </a:prstGeom>
          <a:solidFill>
            <a:srgbClr val="10294D"/>
          </a:solidFill>
          <a:ln w="12700">
            <a:solidFill>
              <a:srgbClr val="1C3A66"/>
            </a:solidFill>
            <a:prstDash val="solid"/>
          </a:ln>
        </p:spPr>
      </p:sp>
      <p:sp>
        <p:nvSpPr>
          <p:cNvPr id="12" name="Shape 9"/>
          <p:cNvSpPr/>
          <p:nvPr/>
        </p:nvSpPr>
        <p:spPr>
          <a:xfrm>
            <a:off x="2967228" y="3282696"/>
            <a:ext cx="566928" cy="566928"/>
          </a:xfrm>
          <a:prstGeom prst="ellipse">
            <a:avLst/>
          </a:prstGeom>
          <a:solidFill>
            <a:srgbClr val="21C7C7"/>
          </a:solidFill>
          <a:ln/>
        </p:spPr>
      </p:sp>
      <p:pic>
        <p:nvPicPr>
          <p:cNvPr id="13" name="Image 1" descr="/home/claude/sentinelai/images/brain_white.png">    </p:cNvPr>
          <p:cNvPicPr>
            <a:picLocks noChangeAspect="1"/>
          </p:cNvPicPr>
          <p:nvPr/>
        </p:nvPicPr>
        <p:blipFill>
          <a:blip r:embed="rId2"/>
          <a:stretch>
            <a:fillRect/>
          </a:stretch>
        </p:blipFill>
        <p:spPr>
          <a:xfrm>
            <a:off x="3108960" y="3424428"/>
            <a:ext cx="283464" cy="283464"/>
          </a:xfrm>
          <a:prstGeom prst="rect">
            <a:avLst/>
          </a:prstGeom>
        </p:spPr>
      </p:pic>
      <p:sp>
        <p:nvSpPr>
          <p:cNvPr id="14" name="Text 10"/>
          <p:cNvSpPr/>
          <p:nvPr/>
        </p:nvSpPr>
        <p:spPr>
          <a:xfrm>
            <a:off x="2450592" y="3977640"/>
            <a:ext cx="1600200" cy="54864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Understand</a:t>
            </a:r>
            <a:endParaRPr lang="en-US" sz="1250" dirty="0"/>
          </a:p>
        </p:txBody>
      </p:sp>
      <p:sp>
        <p:nvSpPr>
          <p:cNvPr id="15" name="Text 11"/>
          <p:cNvSpPr/>
          <p:nvPr/>
        </p:nvSpPr>
        <p:spPr>
          <a:xfrm>
            <a:off x="4096512" y="3063240"/>
            <a:ext cx="164592" cy="1554480"/>
          </a:xfrm>
          <a:prstGeom prst="rect">
            <a:avLst/>
          </a:prstGeom>
          <a:noFill/>
          <a:ln/>
        </p:spPr>
        <p:txBody>
          <a:bodyPr wrap="square" lIns="0" tIns="0" rIns="0" bIns="0" rtlCol="0" anchor="ctr"/>
          <a:lstStyle/>
          <a:p>
            <a:pPr algn="ctr" indent="0" marL="0">
              <a:buNone/>
            </a:pPr>
            <a:r>
              <a:rPr lang="en-US" sz="1300" dirty="0">
                <a:solidFill>
                  <a:srgbClr val="F2A33C"/>
                </a:solidFill>
                <a:latin typeface="Calibri" pitchFamily="34" charset="0"/>
                <a:ea typeface="Calibri" pitchFamily="34" charset="-122"/>
                <a:cs typeface="Calibri" pitchFamily="34" charset="-120"/>
              </a:rPr>
              <a:t>→</a:t>
            </a:r>
            <a:endParaRPr lang="en-US" sz="1300" dirty="0"/>
          </a:p>
        </p:txBody>
      </p:sp>
      <p:sp>
        <p:nvSpPr>
          <p:cNvPr id="16" name="Shape 12"/>
          <p:cNvSpPr/>
          <p:nvPr/>
        </p:nvSpPr>
        <p:spPr>
          <a:xfrm>
            <a:off x="4261104" y="3063240"/>
            <a:ext cx="1691640" cy="1554480"/>
          </a:xfrm>
          <a:prstGeom prst="roundRect">
            <a:avLst>
              <a:gd name="adj" fmla="val 4706"/>
            </a:avLst>
          </a:prstGeom>
          <a:solidFill>
            <a:srgbClr val="10294D"/>
          </a:solidFill>
          <a:ln w="12700">
            <a:solidFill>
              <a:srgbClr val="1C3A66"/>
            </a:solidFill>
            <a:prstDash val="solid"/>
          </a:ln>
        </p:spPr>
      </p:sp>
      <p:sp>
        <p:nvSpPr>
          <p:cNvPr id="17" name="Shape 13"/>
          <p:cNvSpPr/>
          <p:nvPr/>
        </p:nvSpPr>
        <p:spPr>
          <a:xfrm>
            <a:off x="4823460" y="3282696"/>
            <a:ext cx="566928" cy="566928"/>
          </a:xfrm>
          <a:prstGeom prst="ellipse">
            <a:avLst/>
          </a:prstGeom>
          <a:solidFill>
            <a:srgbClr val="21C7C7"/>
          </a:solidFill>
          <a:ln/>
        </p:spPr>
      </p:sp>
      <p:pic>
        <p:nvPicPr>
          <p:cNvPr id="18" name="Image 2" descr="/home/claude/sentinelai/images/diagram_white.png">    </p:cNvPr>
          <p:cNvPicPr>
            <a:picLocks noChangeAspect="1"/>
          </p:cNvPicPr>
          <p:nvPr/>
        </p:nvPicPr>
        <p:blipFill>
          <a:blip r:embed="rId3"/>
          <a:stretch>
            <a:fillRect/>
          </a:stretch>
        </p:blipFill>
        <p:spPr>
          <a:xfrm>
            <a:off x="4965192" y="3424428"/>
            <a:ext cx="283464" cy="283464"/>
          </a:xfrm>
          <a:prstGeom prst="rect">
            <a:avLst/>
          </a:prstGeom>
        </p:spPr>
      </p:pic>
      <p:sp>
        <p:nvSpPr>
          <p:cNvPr id="19" name="Text 14"/>
          <p:cNvSpPr/>
          <p:nvPr/>
        </p:nvSpPr>
        <p:spPr>
          <a:xfrm>
            <a:off x="4306824" y="3977640"/>
            <a:ext cx="1600200" cy="54864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Reason</a:t>
            </a:r>
            <a:endParaRPr lang="en-US" sz="1250" dirty="0"/>
          </a:p>
        </p:txBody>
      </p:sp>
      <p:sp>
        <p:nvSpPr>
          <p:cNvPr id="20" name="Text 15"/>
          <p:cNvSpPr/>
          <p:nvPr/>
        </p:nvSpPr>
        <p:spPr>
          <a:xfrm>
            <a:off x="5952744" y="3063240"/>
            <a:ext cx="164592" cy="1554480"/>
          </a:xfrm>
          <a:prstGeom prst="rect">
            <a:avLst/>
          </a:prstGeom>
          <a:noFill/>
          <a:ln/>
        </p:spPr>
        <p:txBody>
          <a:bodyPr wrap="square" lIns="0" tIns="0" rIns="0" bIns="0" rtlCol="0" anchor="ctr"/>
          <a:lstStyle/>
          <a:p>
            <a:pPr algn="ctr" indent="0" marL="0">
              <a:buNone/>
            </a:pPr>
            <a:r>
              <a:rPr lang="en-US" sz="1300" dirty="0">
                <a:solidFill>
                  <a:srgbClr val="F2A33C"/>
                </a:solidFill>
                <a:latin typeface="Calibri" pitchFamily="34" charset="0"/>
                <a:ea typeface="Calibri" pitchFamily="34" charset="-122"/>
                <a:cs typeface="Calibri" pitchFamily="34" charset="-120"/>
              </a:rPr>
              <a:t>→</a:t>
            </a:r>
            <a:endParaRPr lang="en-US" sz="1300" dirty="0"/>
          </a:p>
        </p:txBody>
      </p:sp>
      <p:sp>
        <p:nvSpPr>
          <p:cNvPr id="21" name="Shape 16"/>
          <p:cNvSpPr/>
          <p:nvPr/>
        </p:nvSpPr>
        <p:spPr>
          <a:xfrm>
            <a:off x="6117336" y="3063240"/>
            <a:ext cx="1691640" cy="1554480"/>
          </a:xfrm>
          <a:prstGeom prst="roundRect">
            <a:avLst>
              <a:gd name="adj" fmla="val 4706"/>
            </a:avLst>
          </a:prstGeom>
          <a:solidFill>
            <a:srgbClr val="10294D"/>
          </a:solidFill>
          <a:ln w="12700">
            <a:solidFill>
              <a:srgbClr val="1C3A66"/>
            </a:solidFill>
            <a:prstDash val="solid"/>
          </a:ln>
        </p:spPr>
      </p:sp>
      <p:sp>
        <p:nvSpPr>
          <p:cNvPr id="22" name="Shape 17"/>
          <p:cNvSpPr/>
          <p:nvPr/>
        </p:nvSpPr>
        <p:spPr>
          <a:xfrm>
            <a:off x="6679692" y="3282696"/>
            <a:ext cx="566928" cy="566928"/>
          </a:xfrm>
          <a:prstGeom prst="ellipse">
            <a:avLst/>
          </a:prstGeom>
          <a:solidFill>
            <a:srgbClr val="21C7C7"/>
          </a:solidFill>
          <a:ln/>
        </p:spPr>
      </p:sp>
      <p:pic>
        <p:nvPicPr>
          <p:cNvPr id="23" name="Image 3" descr="/home/claude/sentinelai/images/gauge_white.png">    </p:cNvPr>
          <p:cNvPicPr>
            <a:picLocks noChangeAspect="1"/>
          </p:cNvPicPr>
          <p:nvPr/>
        </p:nvPicPr>
        <p:blipFill>
          <a:blip r:embed="rId4"/>
          <a:stretch>
            <a:fillRect/>
          </a:stretch>
        </p:blipFill>
        <p:spPr>
          <a:xfrm>
            <a:off x="6821424" y="3424428"/>
            <a:ext cx="283464" cy="283464"/>
          </a:xfrm>
          <a:prstGeom prst="rect">
            <a:avLst/>
          </a:prstGeom>
        </p:spPr>
      </p:pic>
      <p:sp>
        <p:nvSpPr>
          <p:cNvPr id="24" name="Text 18"/>
          <p:cNvSpPr/>
          <p:nvPr/>
        </p:nvSpPr>
        <p:spPr>
          <a:xfrm>
            <a:off x="6163056" y="3977640"/>
            <a:ext cx="1600200" cy="54864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Decide</a:t>
            </a:r>
            <a:endParaRPr lang="en-US" sz="1250" dirty="0"/>
          </a:p>
        </p:txBody>
      </p:sp>
      <p:sp>
        <p:nvSpPr>
          <p:cNvPr id="25" name="Text 19"/>
          <p:cNvSpPr/>
          <p:nvPr/>
        </p:nvSpPr>
        <p:spPr>
          <a:xfrm>
            <a:off x="7808976" y="3063240"/>
            <a:ext cx="164592" cy="1554480"/>
          </a:xfrm>
          <a:prstGeom prst="rect">
            <a:avLst/>
          </a:prstGeom>
          <a:noFill/>
          <a:ln/>
        </p:spPr>
        <p:txBody>
          <a:bodyPr wrap="square" lIns="0" tIns="0" rIns="0" bIns="0" rtlCol="0" anchor="ctr"/>
          <a:lstStyle/>
          <a:p>
            <a:pPr algn="ctr" indent="0" marL="0">
              <a:buNone/>
            </a:pPr>
            <a:r>
              <a:rPr lang="en-US" sz="1300" dirty="0">
                <a:solidFill>
                  <a:srgbClr val="F2A33C"/>
                </a:solidFill>
                <a:latin typeface="Calibri" pitchFamily="34" charset="0"/>
                <a:ea typeface="Calibri" pitchFamily="34" charset="-122"/>
                <a:cs typeface="Calibri" pitchFamily="34" charset="-120"/>
              </a:rPr>
              <a:t>→</a:t>
            </a:r>
            <a:endParaRPr lang="en-US" sz="1300" dirty="0"/>
          </a:p>
        </p:txBody>
      </p:sp>
      <p:sp>
        <p:nvSpPr>
          <p:cNvPr id="26" name="Shape 20"/>
          <p:cNvSpPr/>
          <p:nvPr/>
        </p:nvSpPr>
        <p:spPr>
          <a:xfrm>
            <a:off x="7973568" y="3063240"/>
            <a:ext cx="1691640" cy="1554480"/>
          </a:xfrm>
          <a:prstGeom prst="roundRect">
            <a:avLst>
              <a:gd name="adj" fmla="val 4706"/>
            </a:avLst>
          </a:prstGeom>
          <a:solidFill>
            <a:srgbClr val="10294D"/>
          </a:solidFill>
          <a:ln w="12700">
            <a:solidFill>
              <a:srgbClr val="1C3A66"/>
            </a:solidFill>
            <a:prstDash val="solid"/>
          </a:ln>
        </p:spPr>
      </p:sp>
      <p:sp>
        <p:nvSpPr>
          <p:cNvPr id="27" name="Shape 21"/>
          <p:cNvSpPr/>
          <p:nvPr/>
        </p:nvSpPr>
        <p:spPr>
          <a:xfrm>
            <a:off x="8535924" y="3282696"/>
            <a:ext cx="566928" cy="566928"/>
          </a:xfrm>
          <a:prstGeom prst="ellipse">
            <a:avLst/>
          </a:prstGeom>
          <a:solidFill>
            <a:srgbClr val="21C7C7"/>
          </a:solidFill>
          <a:ln/>
        </p:spPr>
      </p:sp>
      <p:pic>
        <p:nvPicPr>
          <p:cNvPr id="28" name="Image 4" descr="/home/claude/sentinelai/images/bolt_white.png">    </p:cNvPr>
          <p:cNvPicPr>
            <a:picLocks noChangeAspect="1"/>
          </p:cNvPicPr>
          <p:nvPr/>
        </p:nvPicPr>
        <p:blipFill>
          <a:blip r:embed="rId5"/>
          <a:stretch>
            <a:fillRect/>
          </a:stretch>
        </p:blipFill>
        <p:spPr>
          <a:xfrm>
            <a:off x="8677656" y="3424428"/>
            <a:ext cx="283464" cy="283464"/>
          </a:xfrm>
          <a:prstGeom prst="rect">
            <a:avLst/>
          </a:prstGeom>
        </p:spPr>
      </p:pic>
      <p:sp>
        <p:nvSpPr>
          <p:cNvPr id="29" name="Text 22"/>
          <p:cNvSpPr/>
          <p:nvPr/>
        </p:nvSpPr>
        <p:spPr>
          <a:xfrm>
            <a:off x="8019288" y="3977640"/>
            <a:ext cx="1600200" cy="54864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Act</a:t>
            </a:r>
            <a:endParaRPr lang="en-US" sz="1250" dirty="0"/>
          </a:p>
        </p:txBody>
      </p:sp>
      <p:sp>
        <p:nvSpPr>
          <p:cNvPr id="30" name="Text 23"/>
          <p:cNvSpPr/>
          <p:nvPr/>
        </p:nvSpPr>
        <p:spPr>
          <a:xfrm>
            <a:off x="9665208" y="3063240"/>
            <a:ext cx="164592" cy="1554480"/>
          </a:xfrm>
          <a:prstGeom prst="rect">
            <a:avLst/>
          </a:prstGeom>
          <a:noFill/>
          <a:ln/>
        </p:spPr>
        <p:txBody>
          <a:bodyPr wrap="square" lIns="0" tIns="0" rIns="0" bIns="0" rtlCol="0" anchor="ctr"/>
          <a:lstStyle/>
          <a:p>
            <a:pPr algn="ctr" indent="0" marL="0">
              <a:buNone/>
            </a:pPr>
            <a:r>
              <a:rPr lang="en-US" sz="1300" dirty="0">
                <a:solidFill>
                  <a:srgbClr val="F2A33C"/>
                </a:solidFill>
                <a:latin typeface="Calibri" pitchFamily="34" charset="0"/>
                <a:ea typeface="Calibri" pitchFamily="34" charset="-122"/>
                <a:cs typeface="Calibri" pitchFamily="34" charset="-120"/>
              </a:rPr>
              <a:t>→</a:t>
            </a:r>
            <a:endParaRPr lang="en-US" sz="1300" dirty="0"/>
          </a:p>
        </p:txBody>
      </p:sp>
      <p:sp>
        <p:nvSpPr>
          <p:cNvPr id="31" name="Shape 24"/>
          <p:cNvSpPr/>
          <p:nvPr/>
        </p:nvSpPr>
        <p:spPr>
          <a:xfrm>
            <a:off x="9829800" y="3063240"/>
            <a:ext cx="1691640" cy="1554480"/>
          </a:xfrm>
          <a:prstGeom prst="roundRect">
            <a:avLst>
              <a:gd name="adj" fmla="val 4706"/>
            </a:avLst>
          </a:prstGeom>
          <a:solidFill>
            <a:srgbClr val="10294D"/>
          </a:solidFill>
          <a:ln w="12700">
            <a:solidFill>
              <a:srgbClr val="1C3A66"/>
            </a:solidFill>
            <a:prstDash val="solid"/>
          </a:ln>
        </p:spPr>
      </p:sp>
      <p:sp>
        <p:nvSpPr>
          <p:cNvPr id="32" name="Shape 25"/>
          <p:cNvSpPr/>
          <p:nvPr/>
        </p:nvSpPr>
        <p:spPr>
          <a:xfrm>
            <a:off x="10392156" y="3282696"/>
            <a:ext cx="566928" cy="566928"/>
          </a:xfrm>
          <a:prstGeom prst="ellipse">
            <a:avLst/>
          </a:prstGeom>
          <a:solidFill>
            <a:srgbClr val="21C7C7"/>
          </a:solidFill>
          <a:ln/>
        </p:spPr>
      </p:sp>
      <p:pic>
        <p:nvPicPr>
          <p:cNvPr id="33" name="Image 5" descr="/home/claude/sentinelai/images/chart_white.png">    </p:cNvPr>
          <p:cNvPicPr>
            <a:picLocks noChangeAspect="1"/>
          </p:cNvPicPr>
          <p:nvPr/>
        </p:nvPicPr>
        <p:blipFill>
          <a:blip r:embed="rId6"/>
          <a:stretch>
            <a:fillRect/>
          </a:stretch>
        </p:blipFill>
        <p:spPr>
          <a:xfrm>
            <a:off x="10533888" y="3424428"/>
            <a:ext cx="283464" cy="283464"/>
          </a:xfrm>
          <a:prstGeom prst="rect">
            <a:avLst/>
          </a:prstGeom>
        </p:spPr>
      </p:pic>
      <p:sp>
        <p:nvSpPr>
          <p:cNvPr id="34" name="Text 26"/>
          <p:cNvSpPr/>
          <p:nvPr/>
        </p:nvSpPr>
        <p:spPr>
          <a:xfrm>
            <a:off x="9875520" y="3977640"/>
            <a:ext cx="1600200" cy="54864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Measure Impact</a:t>
            </a:r>
            <a:endParaRPr lang="en-US" sz="1250" dirty="0"/>
          </a:p>
        </p:txBody>
      </p:sp>
      <p:sp>
        <p:nvSpPr>
          <p:cNvPr id="35" name="Text 27"/>
          <p:cNvSpPr/>
          <p:nvPr/>
        </p:nvSpPr>
        <p:spPr>
          <a:xfrm>
            <a:off x="548640" y="4892040"/>
            <a:ext cx="10607040" cy="457200"/>
          </a:xfrm>
          <a:prstGeom prst="rect">
            <a:avLst/>
          </a:prstGeom>
          <a:noFill/>
          <a:ln/>
        </p:spPr>
        <p:txBody>
          <a:bodyPr wrap="square" lIns="0" tIns="0" rIns="0" bIns="0" rtlCol="0" anchor="ctr"/>
          <a:lstStyle/>
          <a:p>
            <a:pPr indent="0" marL="0">
              <a:buNone/>
            </a:pPr>
            <a:r>
              <a:rPr lang="en-US" sz="1250" i="1" dirty="0">
                <a:solidFill>
                  <a:srgbClr val="9FB3D1"/>
                </a:solidFill>
                <a:latin typeface="Calibri" pitchFamily="34" charset="0"/>
                <a:ea typeface="Calibri" pitchFamily="34" charset="-122"/>
                <a:cs typeface="Calibri" pitchFamily="34" charset="-120"/>
              </a:rPr>
              <a:t>A continuous, closed-loop pipeline: every cycle improves security posture, energy efficiency, and facility intelligence.</a:t>
            </a:r>
            <a:endParaRPr lang="en-US" sz="1250" dirty="0"/>
          </a:p>
        </p:txBody>
      </p:sp>
      <p:sp>
        <p:nvSpPr>
          <p:cNvPr id="37" name="Text 28"/>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B7BA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End-to-End Architecture Flow</a:t>
            </a:r>
            <a:endParaRPr lang="en-US" sz="2800" dirty="0"/>
          </a:p>
        </p:txBody>
      </p:sp>
      <p:sp>
        <p:nvSpPr>
          <p:cNvPr id="4" name="Shape 2"/>
          <p:cNvSpPr/>
          <p:nvPr/>
        </p:nvSpPr>
        <p:spPr>
          <a:xfrm>
            <a:off x="640080" y="1554480"/>
            <a:ext cx="7863840" cy="548640"/>
          </a:xfrm>
          <a:prstGeom prst="roundRect">
            <a:avLst>
              <a:gd name="adj" fmla="val 10000"/>
            </a:avLst>
          </a:prstGeom>
          <a:solidFill>
            <a:srgbClr val="FFFFFF"/>
          </a:solidFill>
          <a:ln w="12700">
            <a:solidFill>
              <a:srgbClr val="DCE3EC"/>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804672" y="1609344"/>
            <a:ext cx="438912" cy="438912"/>
          </a:xfrm>
          <a:prstGeom prst="ellipse">
            <a:avLst/>
          </a:prstGeom>
          <a:solidFill>
            <a:srgbClr val="0B1F3A"/>
          </a:solidFill>
          <a:ln/>
        </p:spPr>
      </p:sp>
      <p:pic>
        <p:nvPicPr>
          <p:cNvPr id="6" name="Image 0" descr="/home/claude/sentinelai/images/video_white.png">    </p:cNvPr>
          <p:cNvPicPr>
            <a:picLocks noChangeAspect="1"/>
          </p:cNvPicPr>
          <p:nvPr/>
        </p:nvPicPr>
        <p:blipFill>
          <a:blip r:embed="rId1"/>
          <a:stretch>
            <a:fillRect/>
          </a:stretch>
        </p:blipFill>
        <p:spPr>
          <a:xfrm>
            <a:off x="914400" y="1719072"/>
            <a:ext cx="219456" cy="219456"/>
          </a:xfrm>
          <a:prstGeom prst="rect">
            <a:avLst/>
          </a:prstGeom>
        </p:spPr>
      </p:pic>
      <p:sp>
        <p:nvSpPr>
          <p:cNvPr id="7" name="Text 4"/>
          <p:cNvSpPr/>
          <p:nvPr/>
        </p:nvSpPr>
        <p:spPr>
          <a:xfrm>
            <a:off x="1353312" y="1554480"/>
            <a:ext cx="2834640" cy="54864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Physical Environment</a:t>
            </a:r>
            <a:endParaRPr lang="en-US" sz="1150" dirty="0"/>
          </a:p>
        </p:txBody>
      </p:sp>
      <p:sp>
        <p:nvSpPr>
          <p:cNvPr id="8" name="Text 5"/>
          <p:cNvSpPr/>
          <p:nvPr/>
        </p:nvSpPr>
        <p:spPr>
          <a:xfrm>
            <a:off x="4251960" y="1554480"/>
            <a:ext cx="4160520" cy="548640"/>
          </a:xfrm>
          <a:prstGeom prst="rect">
            <a:avLst/>
          </a:prstGeom>
          <a:noFill/>
          <a:ln/>
        </p:spPr>
        <p:txBody>
          <a:bodyPr wrap="square" lIns="0" tIns="0" rIns="0" bIns="0" rtlCol="0" anchor="ctr"/>
          <a:lstStyle/>
          <a:p>
            <a:pPr indent="0" marL="0">
              <a:lnSpc>
                <a:spcPct val="95000"/>
              </a:lnSpc>
              <a:buNone/>
            </a:pPr>
            <a:r>
              <a:rPr lang="en-US" sz="950" dirty="0">
                <a:solidFill>
                  <a:srgbClr val="5B6B82"/>
                </a:solidFill>
                <a:latin typeface="Calibri" pitchFamily="34" charset="0"/>
                <a:ea typeface="Calibri" pitchFamily="34" charset="-122"/>
                <a:cs typeface="Calibri" pitchFamily="34" charset="-120"/>
              </a:rPr>
              <a:t>Cameras, sensors, IoT devices and edge hardware deployed across the facility.</a:t>
            </a:r>
            <a:endParaRPr lang="en-US" sz="950" dirty="0"/>
          </a:p>
        </p:txBody>
      </p:sp>
      <p:sp>
        <p:nvSpPr>
          <p:cNvPr id="9" name="Text 6"/>
          <p:cNvSpPr/>
          <p:nvPr/>
        </p:nvSpPr>
        <p:spPr>
          <a:xfrm>
            <a:off x="822960" y="2103120"/>
            <a:ext cx="457200" cy="109728"/>
          </a:xfrm>
          <a:prstGeom prst="rect">
            <a:avLst/>
          </a:prstGeom>
          <a:noFill/>
          <a:ln/>
        </p:spPr>
        <p:txBody>
          <a:bodyPr wrap="square" lIns="0" tIns="0" rIns="0" bIns="0" rtlCol="0" anchor="ctr"/>
          <a:lstStyle/>
          <a:p>
            <a:pPr algn="ctr" indent="0" marL="0">
              <a:buNone/>
            </a:pPr>
            <a:r>
              <a:rPr lang="en-US" sz="900" dirty="0">
                <a:solidFill>
                  <a:srgbClr val="F2A33C"/>
                </a:solidFill>
                <a:latin typeface="Calibri" pitchFamily="34" charset="0"/>
                <a:ea typeface="Calibri" pitchFamily="34" charset="-122"/>
                <a:cs typeface="Calibri" pitchFamily="34" charset="-120"/>
              </a:rPr>
              <a:t>↓</a:t>
            </a:r>
            <a:endParaRPr lang="en-US" sz="900" dirty="0"/>
          </a:p>
        </p:txBody>
      </p:sp>
      <p:sp>
        <p:nvSpPr>
          <p:cNvPr id="10" name="Shape 7"/>
          <p:cNvSpPr/>
          <p:nvPr/>
        </p:nvSpPr>
        <p:spPr>
          <a:xfrm>
            <a:off x="640080" y="2212848"/>
            <a:ext cx="7863840" cy="548640"/>
          </a:xfrm>
          <a:prstGeom prst="roundRect">
            <a:avLst>
              <a:gd name="adj" fmla="val 10000"/>
            </a:avLst>
          </a:prstGeom>
          <a:solidFill>
            <a:srgbClr val="FFFFFF"/>
          </a:solidFill>
          <a:ln w="12700">
            <a:solidFill>
              <a:srgbClr val="DCE3EC"/>
            </a:solidFill>
            <a:prstDash val="solid"/>
          </a:ln>
          <a:effectLst>
            <a:outerShdw sx="100000" sy="100000" kx="0" ky="0" algn="bl" rotWithShape="0" blurRad="50800" dist="25400" dir="2700000">
              <a:srgbClr val="000000">
                <a:alpha val="10000"/>
              </a:srgbClr>
            </a:outerShdw>
          </a:effectLst>
        </p:spPr>
      </p:sp>
      <p:sp>
        <p:nvSpPr>
          <p:cNvPr id="11" name="Shape 8"/>
          <p:cNvSpPr/>
          <p:nvPr/>
        </p:nvSpPr>
        <p:spPr>
          <a:xfrm>
            <a:off x="804672" y="2267712"/>
            <a:ext cx="438912" cy="438912"/>
          </a:xfrm>
          <a:prstGeom prst="ellipse">
            <a:avLst/>
          </a:prstGeom>
          <a:solidFill>
            <a:srgbClr val="21C7C7"/>
          </a:solidFill>
          <a:ln/>
        </p:spPr>
      </p:sp>
      <p:pic>
        <p:nvPicPr>
          <p:cNvPr id="12" name="Image 1" descr="/home/claude/sentinelai/images/eye_white.png">    </p:cNvPr>
          <p:cNvPicPr>
            <a:picLocks noChangeAspect="1"/>
          </p:cNvPicPr>
          <p:nvPr/>
        </p:nvPicPr>
        <p:blipFill>
          <a:blip r:embed="rId2"/>
          <a:stretch>
            <a:fillRect/>
          </a:stretch>
        </p:blipFill>
        <p:spPr>
          <a:xfrm>
            <a:off x="914400" y="2377440"/>
            <a:ext cx="219456" cy="219456"/>
          </a:xfrm>
          <a:prstGeom prst="rect">
            <a:avLst/>
          </a:prstGeom>
        </p:spPr>
      </p:pic>
      <p:sp>
        <p:nvSpPr>
          <p:cNvPr id="13" name="Text 9"/>
          <p:cNvSpPr/>
          <p:nvPr/>
        </p:nvSpPr>
        <p:spPr>
          <a:xfrm>
            <a:off x="1353312" y="2212848"/>
            <a:ext cx="2834640" cy="54864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AI Perception Layer</a:t>
            </a:r>
            <a:endParaRPr lang="en-US" sz="1150" dirty="0"/>
          </a:p>
        </p:txBody>
      </p:sp>
      <p:sp>
        <p:nvSpPr>
          <p:cNvPr id="14" name="Text 10"/>
          <p:cNvSpPr/>
          <p:nvPr/>
        </p:nvSpPr>
        <p:spPr>
          <a:xfrm>
            <a:off x="4251960" y="2212848"/>
            <a:ext cx="4160520" cy="548640"/>
          </a:xfrm>
          <a:prstGeom prst="rect">
            <a:avLst/>
          </a:prstGeom>
          <a:noFill/>
          <a:ln/>
        </p:spPr>
        <p:txBody>
          <a:bodyPr wrap="square" lIns="0" tIns="0" rIns="0" bIns="0" rtlCol="0" anchor="ctr"/>
          <a:lstStyle/>
          <a:p>
            <a:pPr indent="0" marL="0">
              <a:lnSpc>
                <a:spcPct val="95000"/>
              </a:lnSpc>
              <a:buNone/>
            </a:pPr>
            <a:r>
              <a:rPr lang="en-US" sz="950" dirty="0">
                <a:solidFill>
                  <a:srgbClr val="5B6B82"/>
                </a:solidFill>
                <a:latin typeface="Calibri" pitchFamily="34" charset="0"/>
                <a:ea typeface="Calibri" pitchFamily="34" charset="-122"/>
                <a:cs typeface="Calibri" pitchFamily="34" charset="-120"/>
              </a:rPr>
              <a:t>Computer Vision models detect people, objects, motion and environmental conditions in real time.</a:t>
            </a:r>
            <a:endParaRPr lang="en-US" sz="950" dirty="0"/>
          </a:p>
        </p:txBody>
      </p:sp>
      <p:sp>
        <p:nvSpPr>
          <p:cNvPr id="15" name="Text 11"/>
          <p:cNvSpPr/>
          <p:nvPr/>
        </p:nvSpPr>
        <p:spPr>
          <a:xfrm>
            <a:off x="822960" y="2761488"/>
            <a:ext cx="457200" cy="109728"/>
          </a:xfrm>
          <a:prstGeom prst="rect">
            <a:avLst/>
          </a:prstGeom>
          <a:noFill/>
          <a:ln/>
        </p:spPr>
        <p:txBody>
          <a:bodyPr wrap="square" lIns="0" tIns="0" rIns="0" bIns="0" rtlCol="0" anchor="ctr"/>
          <a:lstStyle/>
          <a:p>
            <a:pPr algn="ctr" indent="0" marL="0">
              <a:buNone/>
            </a:pPr>
            <a:r>
              <a:rPr lang="en-US" sz="900" dirty="0">
                <a:solidFill>
                  <a:srgbClr val="F2A33C"/>
                </a:solidFill>
                <a:latin typeface="Calibri" pitchFamily="34" charset="0"/>
                <a:ea typeface="Calibri" pitchFamily="34" charset="-122"/>
                <a:cs typeface="Calibri" pitchFamily="34" charset="-120"/>
              </a:rPr>
              <a:t>↓</a:t>
            </a:r>
            <a:endParaRPr lang="en-US" sz="900" dirty="0"/>
          </a:p>
        </p:txBody>
      </p:sp>
      <p:sp>
        <p:nvSpPr>
          <p:cNvPr id="16" name="Shape 12"/>
          <p:cNvSpPr/>
          <p:nvPr/>
        </p:nvSpPr>
        <p:spPr>
          <a:xfrm>
            <a:off x="640080" y="2871216"/>
            <a:ext cx="7863840" cy="548640"/>
          </a:xfrm>
          <a:prstGeom prst="roundRect">
            <a:avLst>
              <a:gd name="adj" fmla="val 10000"/>
            </a:avLst>
          </a:prstGeom>
          <a:solidFill>
            <a:srgbClr val="FFFFFF"/>
          </a:solidFill>
          <a:ln w="12700">
            <a:solidFill>
              <a:srgbClr val="DCE3EC"/>
            </a:solidFill>
            <a:prstDash val="solid"/>
          </a:ln>
          <a:effectLst>
            <a:outerShdw sx="100000" sy="100000" kx="0" ky="0" algn="bl" rotWithShape="0" blurRad="50800" dist="25400" dir="2700000">
              <a:srgbClr val="000000">
                <a:alpha val="10000"/>
              </a:srgbClr>
            </a:outerShdw>
          </a:effectLst>
        </p:spPr>
      </p:sp>
      <p:sp>
        <p:nvSpPr>
          <p:cNvPr id="17" name="Shape 13"/>
          <p:cNvSpPr/>
          <p:nvPr/>
        </p:nvSpPr>
        <p:spPr>
          <a:xfrm>
            <a:off x="804672" y="2926080"/>
            <a:ext cx="438912" cy="438912"/>
          </a:xfrm>
          <a:prstGeom prst="ellipse">
            <a:avLst/>
          </a:prstGeom>
          <a:solidFill>
            <a:srgbClr val="0B1F3A"/>
          </a:solidFill>
          <a:ln/>
        </p:spPr>
      </p:sp>
      <p:pic>
        <p:nvPicPr>
          <p:cNvPr id="18" name="Image 2" descr="/home/claude/sentinelai/images/cubes_white.png">    </p:cNvPr>
          <p:cNvPicPr>
            <a:picLocks noChangeAspect="1"/>
          </p:cNvPicPr>
          <p:nvPr/>
        </p:nvPicPr>
        <p:blipFill>
          <a:blip r:embed="rId3"/>
          <a:stretch>
            <a:fillRect/>
          </a:stretch>
        </p:blipFill>
        <p:spPr>
          <a:xfrm>
            <a:off x="914400" y="3035808"/>
            <a:ext cx="219456" cy="219456"/>
          </a:xfrm>
          <a:prstGeom prst="rect">
            <a:avLst/>
          </a:prstGeom>
        </p:spPr>
      </p:pic>
      <p:sp>
        <p:nvSpPr>
          <p:cNvPr id="19" name="Text 14"/>
          <p:cNvSpPr/>
          <p:nvPr/>
        </p:nvSpPr>
        <p:spPr>
          <a:xfrm>
            <a:off x="1353312" y="2871216"/>
            <a:ext cx="2834640" cy="54864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Environment State Manager (Digital Twin)</a:t>
            </a:r>
            <a:endParaRPr lang="en-US" sz="1150" dirty="0"/>
          </a:p>
        </p:txBody>
      </p:sp>
      <p:sp>
        <p:nvSpPr>
          <p:cNvPr id="20" name="Text 15"/>
          <p:cNvSpPr/>
          <p:nvPr/>
        </p:nvSpPr>
        <p:spPr>
          <a:xfrm>
            <a:off x="4251960" y="2871216"/>
            <a:ext cx="4160520" cy="548640"/>
          </a:xfrm>
          <a:prstGeom prst="rect">
            <a:avLst/>
          </a:prstGeom>
          <a:noFill/>
          <a:ln/>
        </p:spPr>
        <p:txBody>
          <a:bodyPr wrap="square" lIns="0" tIns="0" rIns="0" bIns="0" rtlCol="0" anchor="ctr"/>
          <a:lstStyle/>
          <a:p>
            <a:pPr indent="0" marL="0">
              <a:lnSpc>
                <a:spcPct val="95000"/>
              </a:lnSpc>
              <a:buNone/>
            </a:pPr>
            <a:r>
              <a:rPr lang="en-US" sz="950" dirty="0">
                <a:solidFill>
                  <a:srgbClr val="5B6B82"/>
                </a:solidFill>
                <a:latin typeface="Calibri" pitchFamily="34" charset="0"/>
                <a:ea typeface="Calibri" pitchFamily="34" charset="-122"/>
                <a:cs typeface="Calibri" pitchFamily="34" charset="-120"/>
              </a:rPr>
              <a:t>Visual telemetry is fused into a live Digital Twin representing the current state of every room and zone.</a:t>
            </a:r>
            <a:endParaRPr lang="en-US" sz="950" dirty="0"/>
          </a:p>
        </p:txBody>
      </p:sp>
      <p:sp>
        <p:nvSpPr>
          <p:cNvPr id="21" name="Text 16"/>
          <p:cNvSpPr/>
          <p:nvPr/>
        </p:nvSpPr>
        <p:spPr>
          <a:xfrm>
            <a:off x="822960" y="3419856"/>
            <a:ext cx="457200" cy="109728"/>
          </a:xfrm>
          <a:prstGeom prst="rect">
            <a:avLst/>
          </a:prstGeom>
          <a:noFill/>
          <a:ln/>
        </p:spPr>
        <p:txBody>
          <a:bodyPr wrap="square" lIns="0" tIns="0" rIns="0" bIns="0" rtlCol="0" anchor="ctr"/>
          <a:lstStyle/>
          <a:p>
            <a:pPr algn="ctr" indent="0" marL="0">
              <a:buNone/>
            </a:pPr>
            <a:r>
              <a:rPr lang="en-US" sz="900" dirty="0">
                <a:solidFill>
                  <a:srgbClr val="F2A33C"/>
                </a:solidFill>
                <a:latin typeface="Calibri" pitchFamily="34" charset="0"/>
                <a:ea typeface="Calibri" pitchFamily="34" charset="-122"/>
                <a:cs typeface="Calibri" pitchFamily="34" charset="-120"/>
              </a:rPr>
              <a:t>↓</a:t>
            </a:r>
            <a:endParaRPr lang="en-US" sz="900" dirty="0"/>
          </a:p>
        </p:txBody>
      </p:sp>
      <p:sp>
        <p:nvSpPr>
          <p:cNvPr id="22" name="Shape 17"/>
          <p:cNvSpPr/>
          <p:nvPr/>
        </p:nvSpPr>
        <p:spPr>
          <a:xfrm>
            <a:off x="640080" y="3529584"/>
            <a:ext cx="7863840" cy="548640"/>
          </a:xfrm>
          <a:prstGeom prst="roundRect">
            <a:avLst>
              <a:gd name="adj" fmla="val 10000"/>
            </a:avLst>
          </a:prstGeom>
          <a:solidFill>
            <a:srgbClr val="FFFFFF"/>
          </a:solidFill>
          <a:ln w="12700">
            <a:solidFill>
              <a:srgbClr val="DCE3EC"/>
            </a:solidFill>
            <a:prstDash val="solid"/>
          </a:ln>
          <a:effectLst>
            <a:outerShdw sx="100000" sy="100000" kx="0" ky="0" algn="bl" rotWithShape="0" blurRad="50800" dist="25400" dir="2700000">
              <a:srgbClr val="000000">
                <a:alpha val="10000"/>
              </a:srgbClr>
            </a:outerShdw>
          </a:effectLst>
        </p:spPr>
      </p:sp>
      <p:sp>
        <p:nvSpPr>
          <p:cNvPr id="23" name="Shape 18"/>
          <p:cNvSpPr/>
          <p:nvPr/>
        </p:nvSpPr>
        <p:spPr>
          <a:xfrm>
            <a:off x="804672" y="3584448"/>
            <a:ext cx="438912" cy="438912"/>
          </a:xfrm>
          <a:prstGeom prst="ellipse">
            <a:avLst/>
          </a:prstGeom>
          <a:solidFill>
            <a:srgbClr val="21C7C7"/>
          </a:solidFill>
          <a:ln/>
        </p:spPr>
      </p:sp>
      <p:pic>
        <p:nvPicPr>
          <p:cNvPr id="24" name="Image 3" descr="/home/claude/sentinelai/images/brain_white.png">    </p:cNvPr>
          <p:cNvPicPr>
            <a:picLocks noChangeAspect="1"/>
          </p:cNvPicPr>
          <p:nvPr/>
        </p:nvPicPr>
        <p:blipFill>
          <a:blip r:embed="rId4"/>
          <a:stretch>
            <a:fillRect/>
          </a:stretch>
        </p:blipFill>
        <p:spPr>
          <a:xfrm>
            <a:off x="914400" y="3694176"/>
            <a:ext cx="219456" cy="219456"/>
          </a:xfrm>
          <a:prstGeom prst="rect">
            <a:avLst/>
          </a:prstGeom>
        </p:spPr>
      </p:pic>
      <p:sp>
        <p:nvSpPr>
          <p:cNvPr id="25" name="Text 19"/>
          <p:cNvSpPr/>
          <p:nvPr/>
        </p:nvSpPr>
        <p:spPr>
          <a:xfrm>
            <a:off x="1353312" y="3529584"/>
            <a:ext cx="2834640" cy="54864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Multi-Agent AI Reasoning</a:t>
            </a:r>
            <a:endParaRPr lang="en-US" sz="1150" dirty="0"/>
          </a:p>
        </p:txBody>
      </p:sp>
      <p:sp>
        <p:nvSpPr>
          <p:cNvPr id="26" name="Text 20"/>
          <p:cNvSpPr/>
          <p:nvPr/>
        </p:nvSpPr>
        <p:spPr>
          <a:xfrm>
            <a:off x="4251960" y="3529584"/>
            <a:ext cx="4160520" cy="548640"/>
          </a:xfrm>
          <a:prstGeom prst="rect">
            <a:avLst/>
          </a:prstGeom>
          <a:noFill/>
          <a:ln/>
        </p:spPr>
        <p:txBody>
          <a:bodyPr wrap="square" lIns="0" tIns="0" rIns="0" bIns="0" rtlCol="0" anchor="ctr"/>
          <a:lstStyle/>
          <a:p>
            <a:pPr indent="0" marL="0">
              <a:lnSpc>
                <a:spcPct val="95000"/>
              </a:lnSpc>
              <a:buNone/>
            </a:pPr>
            <a:r>
              <a:rPr lang="en-US" sz="950" dirty="0">
                <a:solidFill>
                  <a:srgbClr val="5B6B82"/>
                </a:solidFill>
                <a:latin typeface="Calibri" pitchFamily="34" charset="0"/>
                <a:ea typeface="Calibri" pitchFamily="34" charset="-122"/>
                <a:cs typeface="Calibri" pitchFamily="34" charset="-120"/>
              </a:rPr>
              <a:t>Specialized AI agents — Security, Energy, Safety, Facility — analyze the Digital Twin state in parallel.</a:t>
            </a:r>
            <a:endParaRPr lang="en-US" sz="950" dirty="0"/>
          </a:p>
        </p:txBody>
      </p:sp>
      <p:sp>
        <p:nvSpPr>
          <p:cNvPr id="27" name="Text 21"/>
          <p:cNvSpPr/>
          <p:nvPr/>
        </p:nvSpPr>
        <p:spPr>
          <a:xfrm>
            <a:off x="822960" y="4078224"/>
            <a:ext cx="457200" cy="109728"/>
          </a:xfrm>
          <a:prstGeom prst="rect">
            <a:avLst/>
          </a:prstGeom>
          <a:noFill/>
          <a:ln/>
        </p:spPr>
        <p:txBody>
          <a:bodyPr wrap="square" lIns="0" tIns="0" rIns="0" bIns="0" rtlCol="0" anchor="ctr"/>
          <a:lstStyle/>
          <a:p>
            <a:pPr algn="ctr" indent="0" marL="0">
              <a:buNone/>
            </a:pPr>
            <a:r>
              <a:rPr lang="en-US" sz="900" dirty="0">
                <a:solidFill>
                  <a:srgbClr val="F2A33C"/>
                </a:solidFill>
                <a:latin typeface="Calibri" pitchFamily="34" charset="0"/>
                <a:ea typeface="Calibri" pitchFamily="34" charset="-122"/>
                <a:cs typeface="Calibri" pitchFamily="34" charset="-120"/>
              </a:rPr>
              <a:t>↓</a:t>
            </a:r>
            <a:endParaRPr lang="en-US" sz="900" dirty="0"/>
          </a:p>
        </p:txBody>
      </p:sp>
      <p:sp>
        <p:nvSpPr>
          <p:cNvPr id="28" name="Shape 22"/>
          <p:cNvSpPr/>
          <p:nvPr/>
        </p:nvSpPr>
        <p:spPr>
          <a:xfrm>
            <a:off x="640080" y="4187952"/>
            <a:ext cx="7863840" cy="548640"/>
          </a:xfrm>
          <a:prstGeom prst="roundRect">
            <a:avLst>
              <a:gd name="adj" fmla="val 10000"/>
            </a:avLst>
          </a:prstGeom>
          <a:solidFill>
            <a:srgbClr val="FFFFFF"/>
          </a:solidFill>
          <a:ln w="12700">
            <a:solidFill>
              <a:srgbClr val="DCE3EC"/>
            </a:solidFill>
            <a:prstDash val="solid"/>
          </a:ln>
          <a:effectLst>
            <a:outerShdw sx="100000" sy="100000" kx="0" ky="0" algn="bl" rotWithShape="0" blurRad="50800" dist="25400" dir="2700000">
              <a:srgbClr val="000000">
                <a:alpha val="10000"/>
              </a:srgbClr>
            </a:outerShdw>
          </a:effectLst>
        </p:spPr>
      </p:sp>
      <p:sp>
        <p:nvSpPr>
          <p:cNvPr id="29" name="Shape 23"/>
          <p:cNvSpPr/>
          <p:nvPr/>
        </p:nvSpPr>
        <p:spPr>
          <a:xfrm>
            <a:off x="804672" y="4242816"/>
            <a:ext cx="438912" cy="438912"/>
          </a:xfrm>
          <a:prstGeom prst="ellipse">
            <a:avLst/>
          </a:prstGeom>
          <a:solidFill>
            <a:srgbClr val="0B1F3A"/>
          </a:solidFill>
          <a:ln/>
        </p:spPr>
      </p:sp>
      <p:pic>
        <p:nvPicPr>
          <p:cNvPr id="30" name="Image 4" descr="/home/claude/sentinelai/images/gauge_white.png">    </p:cNvPr>
          <p:cNvPicPr>
            <a:picLocks noChangeAspect="1"/>
          </p:cNvPicPr>
          <p:nvPr/>
        </p:nvPicPr>
        <p:blipFill>
          <a:blip r:embed="rId5"/>
          <a:stretch>
            <a:fillRect/>
          </a:stretch>
        </p:blipFill>
        <p:spPr>
          <a:xfrm>
            <a:off x="914400" y="4352544"/>
            <a:ext cx="219456" cy="219456"/>
          </a:xfrm>
          <a:prstGeom prst="rect">
            <a:avLst/>
          </a:prstGeom>
        </p:spPr>
      </p:pic>
      <p:sp>
        <p:nvSpPr>
          <p:cNvPr id="31" name="Text 24"/>
          <p:cNvSpPr/>
          <p:nvPr/>
        </p:nvSpPr>
        <p:spPr>
          <a:xfrm>
            <a:off x="1353312" y="4187952"/>
            <a:ext cx="2834640" cy="54864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Decision Engine</a:t>
            </a:r>
            <a:endParaRPr lang="en-US" sz="1150" dirty="0"/>
          </a:p>
        </p:txBody>
      </p:sp>
      <p:sp>
        <p:nvSpPr>
          <p:cNvPr id="32" name="Text 25"/>
          <p:cNvSpPr/>
          <p:nvPr/>
        </p:nvSpPr>
        <p:spPr>
          <a:xfrm>
            <a:off x="4251960" y="4187952"/>
            <a:ext cx="4160520" cy="548640"/>
          </a:xfrm>
          <a:prstGeom prst="rect">
            <a:avLst/>
          </a:prstGeom>
          <a:noFill/>
          <a:ln/>
        </p:spPr>
        <p:txBody>
          <a:bodyPr wrap="square" lIns="0" tIns="0" rIns="0" bIns="0" rtlCol="0" anchor="ctr"/>
          <a:lstStyle/>
          <a:p>
            <a:pPr indent="0" marL="0">
              <a:lnSpc>
                <a:spcPct val="95000"/>
              </a:lnSpc>
              <a:buNone/>
            </a:pPr>
            <a:r>
              <a:rPr lang="en-US" sz="950" dirty="0">
                <a:solidFill>
                  <a:srgbClr val="5B6B82"/>
                </a:solidFill>
                <a:latin typeface="Calibri" pitchFamily="34" charset="0"/>
                <a:ea typeface="Calibri" pitchFamily="34" charset="-122"/>
                <a:cs typeface="Calibri" pitchFamily="34" charset="-120"/>
              </a:rPr>
              <a:t>Decision Intelligence layer evaluates agent outputs and determines the optimal autonomous response.</a:t>
            </a:r>
            <a:endParaRPr lang="en-US" sz="950" dirty="0"/>
          </a:p>
        </p:txBody>
      </p:sp>
      <p:sp>
        <p:nvSpPr>
          <p:cNvPr id="33" name="Text 26"/>
          <p:cNvSpPr/>
          <p:nvPr/>
        </p:nvSpPr>
        <p:spPr>
          <a:xfrm>
            <a:off x="822960" y="4736592"/>
            <a:ext cx="457200" cy="109728"/>
          </a:xfrm>
          <a:prstGeom prst="rect">
            <a:avLst/>
          </a:prstGeom>
          <a:noFill/>
          <a:ln/>
        </p:spPr>
        <p:txBody>
          <a:bodyPr wrap="square" lIns="0" tIns="0" rIns="0" bIns="0" rtlCol="0" anchor="ctr"/>
          <a:lstStyle/>
          <a:p>
            <a:pPr algn="ctr" indent="0" marL="0">
              <a:buNone/>
            </a:pPr>
            <a:r>
              <a:rPr lang="en-US" sz="900" dirty="0">
                <a:solidFill>
                  <a:srgbClr val="F2A33C"/>
                </a:solidFill>
                <a:latin typeface="Calibri" pitchFamily="34" charset="0"/>
                <a:ea typeface="Calibri" pitchFamily="34" charset="-122"/>
                <a:cs typeface="Calibri" pitchFamily="34" charset="-120"/>
              </a:rPr>
              <a:t>↓</a:t>
            </a:r>
            <a:endParaRPr lang="en-US" sz="900" dirty="0"/>
          </a:p>
        </p:txBody>
      </p:sp>
      <p:sp>
        <p:nvSpPr>
          <p:cNvPr id="34" name="Shape 27"/>
          <p:cNvSpPr/>
          <p:nvPr/>
        </p:nvSpPr>
        <p:spPr>
          <a:xfrm>
            <a:off x="640080" y="4846320"/>
            <a:ext cx="7863840" cy="548640"/>
          </a:xfrm>
          <a:prstGeom prst="roundRect">
            <a:avLst>
              <a:gd name="adj" fmla="val 10000"/>
            </a:avLst>
          </a:prstGeom>
          <a:solidFill>
            <a:srgbClr val="FFFFFF"/>
          </a:solidFill>
          <a:ln w="12700">
            <a:solidFill>
              <a:srgbClr val="DCE3EC"/>
            </a:solidFill>
            <a:prstDash val="solid"/>
          </a:ln>
          <a:effectLst>
            <a:outerShdw sx="100000" sy="100000" kx="0" ky="0" algn="bl" rotWithShape="0" blurRad="50800" dist="25400" dir="2700000">
              <a:srgbClr val="000000">
                <a:alpha val="10000"/>
              </a:srgbClr>
            </a:outerShdw>
          </a:effectLst>
        </p:spPr>
      </p:sp>
      <p:sp>
        <p:nvSpPr>
          <p:cNvPr id="35" name="Shape 28"/>
          <p:cNvSpPr/>
          <p:nvPr/>
        </p:nvSpPr>
        <p:spPr>
          <a:xfrm>
            <a:off x="804672" y="4901184"/>
            <a:ext cx="438912" cy="438912"/>
          </a:xfrm>
          <a:prstGeom prst="ellipse">
            <a:avLst/>
          </a:prstGeom>
          <a:solidFill>
            <a:srgbClr val="21C7C7"/>
          </a:solidFill>
          <a:ln/>
        </p:spPr>
      </p:sp>
      <p:pic>
        <p:nvPicPr>
          <p:cNvPr id="36" name="Image 5" descr="/home/claude/sentinelai/images/cogs_white.png">    </p:cNvPr>
          <p:cNvPicPr>
            <a:picLocks noChangeAspect="1"/>
          </p:cNvPicPr>
          <p:nvPr/>
        </p:nvPicPr>
        <p:blipFill>
          <a:blip r:embed="rId6"/>
          <a:stretch>
            <a:fillRect/>
          </a:stretch>
        </p:blipFill>
        <p:spPr>
          <a:xfrm>
            <a:off x="914400" y="5010912"/>
            <a:ext cx="219456" cy="219456"/>
          </a:xfrm>
          <a:prstGeom prst="rect">
            <a:avLst/>
          </a:prstGeom>
        </p:spPr>
      </p:pic>
      <p:sp>
        <p:nvSpPr>
          <p:cNvPr id="37" name="Text 29"/>
          <p:cNvSpPr/>
          <p:nvPr/>
        </p:nvSpPr>
        <p:spPr>
          <a:xfrm>
            <a:off x="1353312" y="4846320"/>
            <a:ext cx="2834640" cy="54864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Action Orchestration Engine</a:t>
            </a:r>
            <a:endParaRPr lang="en-US" sz="1150" dirty="0"/>
          </a:p>
        </p:txBody>
      </p:sp>
      <p:sp>
        <p:nvSpPr>
          <p:cNvPr id="38" name="Text 30"/>
          <p:cNvSpPr/>
          <p:nvPr/>
        </p:nvSpPr>
        <p:spPr>
          <a:xfrm>
            <a:off x="4251960" y="4846320"/>
            <a:ext cx="4160520" cy="548640"/>
          </a:xfrm>
          <a:prstGeom prst="rect">
            <a:avLst/>
          </a:prstGeom>
          <a:noFill/>
          <a:ln/>
        </p:spPr>
        <p:txBody>
          <a:bodyPr wrap="square" lIns="0" tIns="0" rIns="0" bIns="0" rtlCol="0" anchor="ctr"/>
          <a:lstStyle/>
          <a:p>
            <a:pPr indent="0" marL="0">
              <a:lnSpc>
                <a:spcPct val="95000"/>
              </a:lnSpc>
              <a:buNone/>
            </a:pPr>
            <a:r>
              <a:rPr lang="en-US" sz="950" dirty="0">
                <a:solidFill>
                  <a:srgbClr val="5B6B82"/>
                </a:solidFill>
                <a:latin typeface="Calibri" pitchFamily="34" charset="0"/>
                <a:ea typeface="Calibri" pitchFamily="34" charset="-122"/>
                <a:cs typeface="Calibri" pitchFamily="34" charset="-120"/>
              </a:rPr>
              <a:t>Decisions are converted into real-world IoT actions, alerts, and incident records.</a:t>
            </a:r>
            <a:endParaRPr lang="en-US" sz="950" dirty="0"/>
          </a:p>
        </p:txBody>
      </p:sp>
      <p:sp>
        <p:nvSpPr>
          <p:cNvPr id="39" name="Text 31"/>
          <p:cNvSpPr/>
          <p:nvPr/>
        </p:nvSpPr>
        <p:spPr>
          <a:xfrm>
            <a:off x="822960" y="5394960"/>
            <a:ext cx="457200" cy="109728"/>
          </a:xfrm>
          <a:prstGeom prst="rect">
            <a:avLst/>
          </a:prstGeom>
          <a:noFill/>
          <a:ln/>
        </p:spPr>
        <p:txBody>
          <a:bodyPr wrap="square" lIns="0" tIns="0" rIns="0" bIns="0" rtlCol="0" anchor="ctr"/>
          <a:lstStyle/>
          <a:p>
            <a:pPr algn="ctr" indent="0" marL="0">
              <a:buNone/>
            </a:pPr>
            <a:r>
              <a:rPr lang="en-US" sz="900" dirty="0">
                <a:solidFill>
                  <a:srgbClr val="F2A33C"/>
                </a:solidFill>
                <a:latin typeface="Calibri" pitchFamily="34" charset="0"/>
                <a:ea typeface="Calibri" pitchFamily="34" charset="-122"/>
                <a:cs typeface="Calibri" pitchFamily="34" charset="-120"/>
              </a:rPr>
              <a:t>↓</a:t>
            </a:r>
            <a:endParaRPr lang="en-US" sz="900" dirty="0"/>
          </a:p>
        </p:txBody>
      </p:sp>
      <p:sp>
        <p:nvSpPr>
          <p:cNvPr id="40" name="Shape 32"/>
          <p:cNvSpPr/>
          <p:nvPr/>
        </p:nvSpPr>
        <p:spPr>
          <a:xfrm>
            <a:off x="640080" y="5504688"/>
            <a:ext cx="7863840" cy="548640"/>
          </a:xfrm>
          <a:prstGeom prst="roundRect">
            <a:avLst>
              <a:gd name="adj" fmla="val 10000"/>
            </a:avLst>
          </a:prstGeom>
          <a:solidFill>
            <a:srgbClr val="FFFFFF"/>
          </a:solidFill>
          <a:ln w="12700">
            <a:solidFill>
              <a:srgbClr val="DCE3EC"/>
            </a:solidFill>
            <a:prstDash val="solid"/>
          </a:ln>
          <a:effectLst>
            <a:outerShdw sx="100000" sy="100000" kx="0" ky="0" algn="bl" rotWithShape="0" blurRad="50800" dist="25400" dir="2700000">
              <a:srgbClr val="000000">
                <a:alpha val="10000"/>
              </a:srgbClr>
            </a:outerShdw>
          </a:effectLst>
        </p:spPr>
      </p:sp>
      <p:sp>
        <p:nvSpPr>
          <p:cNvPr id="41" name="Shape 33"/>
          <p:cNvSpPr/>
          <p:nvPr/>
        </p:nvSpPr>
        <p:spPr>
          <a:xfrm>
            <a:off x="804672" y="5559552"/>
            <a:ext cx="438912" cy="438912"/>
          </a:xfrm>
          <a:prstGeom prst="ellipse">
            <a:avLst/>
          </a:prstGeom>
          <a:solidFill>
            <a:srgbClr val="0B1F3A"/>
          </a:solidFill>
          <a:ln/>
        </p:spPr>
      </p:sp>
      <p:pic>
        <p:nvPicPr>
          <p:cNvPr id="42" name="Image 6" descr="/home/claude/sentinelai/images/chart_white.png">    </p:cNvPr>
          <p:cNvPicPr>
            <a:picLocks noChangeAspect="1"/>
          </p:cNvPicPr>
          <p:nvPr/>
        </p:nvPicPr>
        <p:blipFill>
          <a:blip r:embed="rId7"/>
          <a:stretch>
            <a:fillRect/>
          </a:stretch>
        </p:blipFill>
        <p:spPr>
          <a:xfrm>
            <a:off x="914400" y="5669280"/>
            <a:ext cx="219456" cy="219456"/>
          </a:xfrm>
          <a:prstGeom prst="rect">
            <a:avLst/>
          </a:prstGeom>
        </p:spPr>
      </p:pic>
      <p:sp>
        <p:nvSpPr>
          <p:cNvPr id="43" name="Text 34"/>
          <p:cNvSpPr/>
          <p:nvPr/>
        </p:nvSpPr>
        <p:spPr>
          <a:xfrm>
            <a:off x="1353312" y="5504688"/>
            <a:ext cx="2834640" cy="54864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Executive Command Center</a:t>
            </a:r>
            <a:endParaRPr lang="en-US" sz="1150" dirty="0"/>
          </a:p>
        </p:txBody>
      </p:sp>
      <p:sp>
        <p:nvSpPr>
          <p:cNvPr id="44" name="Text 35"/>
          <p:cNvSpPr/>
          <p:nvPr/>
        </p:nvSpPr>
        <p:spPr>
          <a:xfrm>
            <a:off x="4251960" y="5504688"/>
            <a:ext cx="4160520" cy="548640"/>
          </a:xfrm>
          <a:prstGeom prst="rect">
            <a:avLst/>
          </a:prstGeom>
          <a:noFill/>
          <a:ln/>
        </p:spPr>
        <p:txBody>
          <a:bodyPr wrap="square" lIns="0" tIns="0" rIns="0" bIns="0" rtlCol="0" anchor="ctr"/>
          <a:lstStyle/>
          <a:p>
            <a:pPr indent="0" marL="0">
              <a:lnSpc>
                <a:spcPct val="95000"/>
              </a:lnSpc>
              <a:buNone/>
            </a:pPr>
            <a:r>
              <a:rPr lang="en-US" sz="950" dirty="0">
                <a:solidFill>
                  <a:srgbClr val="5B6B82"/>
                </a:solidFill>
                <a:latin typeface="Calibri" pitchFamily="34" charset="0"/>
                <a:ea typeface="Calibri" pitchFamily="34" charset="-122"/>
                <a:cs typeface="Calibri" pitchFamily="34" charset="-120"/>
              </a:rPr>
              <a:t>Human operators get a live operational view, override controls, and an AI copilot for oversight.</a:t>
            </a:r>
            <a:endParaRPr lang="en-US" sz="950" dirty="0"/>
          </a:p>
        </p:txBody>
      </p:sp>
      <p:sp>
        <p:nvSpPr>
          <p:cNvPr id="45" name="Text 36"/>
          <p:cNvSpPr/>
          <p:nvPr/>
        </p:nvSpPr>
        <p:spPr>
          <a:xfrm>
            <a:off x="822960" y="6053328"/>
            <a:ext cx="457200" cy="109728"/>
          </a:xfrm>
          <a:prstGeom prst="rect">
            <a:avLst/>
          </a:prstGeom>
          <a:noFill/>
          <a:ln/>
        </p:spPr>
        <p:txBody>
          <a:bodyPr wrap="square" lIns="0" tIns="0" rIns="0" bIns="0" rtlCol="0" anchor="ctr"/>
          <a:lstStyle/>
          <a:p>
            <a:pPr algn="ctr" indent="0" marL="0">
              <a:buNone/>
            </a:pPr>
            <a:r>
              <a:rPr lang="en-US" sz="900" dirty="0">
                <a:solidFill>
                  <a:srgbClr val="F2A33C"/>
                </a:solidFill>
                <a:latin typeface="Calibri" pitchFamily="34" charset="0"/>
                <a:ea typeface="Calibri" pitchFamily="34" charset="-122"/>
                <a:cs typeface="Calibri" pitchFamily="34" charset="-120"/>
              </a:rPr>
              <a:t>↓</a:t>
            </a:r>
            <a:endParaRPr lang="en-US" sz="900" dirty="0"/>
          </a:p>
        </p:txBody>
      </p:sp>
      <p:sp>
        <p:nvSpPr>
          <p:cNvPr id="46" name="Shape 37"/>
          <p:cNvSpPr/>
          <p:nvPr/>
        </p:nvSpPr>
        <p:spPr>
          <a:xfrm>
            <a:off x="640080" y="6163056"/>
            <a:ext cx="7863840" cy="548640"/>
          </a:xfrm>
          <a:prstGeom prst="roundRect">
            <a:avLst>
              <a:gd name="adj" fmla="val 10000"/>
            </a:avLst>
          </a:prstGeom>
          <a:solidFill>
            <a:srgbClr val="FFFFFF"/>
          </a:solidFill>
          <a:ln w="12700">
            <a:solidFill>
              <a:srgbClr val="DCE3EC"/>
            </a:solidFill>
            <a:prstDash val="solid"/>
          </a:ln>
          <a:effectLst>
            <a:outerShdw sx="100000" sy="100000" kx="0" ky="0" algn="bl" rotWithShape="0" blurRad="50800" dist="25400" dir="2700000">
              <a:srgbClr val="000000">
                <a:alpha val="10000"/>
              </a:srgbClr>
            </a:outerShdw>
          </a:effectLst>
        </p:spPr>
      </p:sp>
      <p:sp>
        <p:nvSpPr>
          <p:cNvPr id="47" name="Shape 38"/>
          <p:cNvSpPr/>
          <p:nvPr/>
        </p:nvSpPr>
        <p:spPr>
          <a:xfrm>
            <a:off x="804672" y="6217920"/>
            <a:ext cx="438912" cy="438912"/>
          </a:xfrm>
          <a:prstGeom prst="ellipse">
            <a:avLst/>
          </a:prstGeom>
          <a:solidFill>
            <a:srgbClr val="21C7C7"/>
          </a:solidFill>
          <a:ln/>
        </p:spPr>
      </p:sp>
      <p:pic>
        <p:nvPicPr>
          <p:cNvPr id="48" name="Image 7" descr="/home/claude/sentinelai/images/diagram_white.png">    </p:cNvPr>
          <p:cNvPicPr>
            <a:picLocks noChangeAspect="1"/>
          </p:cNvPicPr>
          <p:nvPr/>
        </p:nvPicPr>
        <p:blipFill>
          <a:blip r:embed="rId8"/>
          <a:stretch>
            <a:fillRect/>
          </a:stretch>
        </p:blipFill>
        <p:spPr>
          <a:xfrm>
            <a:off x="914400" y="6327648"/>
            <a:ext cx="219456" cy="219456"/>
          </a:xfrm>
          <a:prstGeom prst="rect">
            <a:avLst/>
          </a:prstGeom>
        </p:spPr>
      </p:pic>
      <p:sp>
        <p:nvSpPr>
          <p:cNvPr id="49" name="Text 39"/>
          <p:cNvSpPr/>
          <p:nvPr/>
        </p:nvSpPr>
        <p:spPr>
          <a:xfrm>
            <a:off x="1353312" y="6163056"/>
            <a:ext cx="2834640" cy="54864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Business Impact Analytics</a:t>
            </a:r>
            <a:endParaRPr lang="en-US" sz="1150" dirty="0"/>
          </a:p>
        </p:txBody>
      </p:sp>
      <p:sp>
        <p:nvSpPr>
          <p:cNvPr id="50" name="Text 40"/>
          <p:cNvSpPr/>
          <p:nvPr/>
        </p:nvSpPr>
        <p:spPr>
          <a:xfrm>
            <a:off x="4251960" y="6163056"/>
            <a:ext cx="4160520" cy="548640"/>
          </a:xfrm>
          <a:prstGeom prst="rect">
            <a:avLst/>
          </a:prstGeom>
          <a:noFill/>
          <a:ln/>
        </p:spPr>
        <p:txBody>
          <a:bodyPr wrap="square" lIns="0" tIns="0" rIns="0" bIns="0" rtlCol="0" anchor="ctr"/>
          <a:lstStyle/>
          <a:p>
            <a:pPr indent="0" marL="0">
              <a:lnSpc>
                <a:spcPct val="95000"/>
              </a:lnSpc>
              <a:buNone/>
            </a:pPr>
            <a:r>
              <a:rPr lang="en-US" sz="950" dirty="0">
                <a:solidFill>
                  <a:srgbClr val="5B6B82"/>
                </a:solidFill>
                <a:latin typeface="Calibri" pitchFamily="34" charset="0"/>
                <a:ea typeface="Calibri" pitchFamily="34" charset="-122"/>
                <a:cs typeface="Calibri" pitchFamily="34" charset="-120"/>
              </a:rPr>
              <a:t>ROI, energy savings, compliance and efficiency metrics are computed continuously.</a:t>
            </a:r>
            <a:endParaRPr lang="en-US" sz="950" dirty="0"/>
          </a:p>
        </p:txBody>
      </p:sp>
      <p:sp>
        <p:nvSpPr>
          <p:cNvPr id="51" name="Shape 41"/>
          <p:cNvSpPr/>
          <p:nvPr/>
        </p:nvSpPr>
        <p:spPr>
          <a:xfrm>
            <a:off x="8732520" y="1554480"/>
            <a:ext cx="2880360" cy="5157216"/>
          </a:xfrm>
          <a:prstGeom prst="roundRect">
            <a:avLst>
              <a:gd name="adj" fmla="val 2540"/>
            </a:avLst>
          </a:prstGeom>
          <a:solidFill>
            <a:srgbClr val="0B1F3A"/>
          </a:solidFill>
          <a:ln/>
        </p:spPr>
      </p:sp>
      <p:sp>
        <p:nvSpPr>
          <p:cNvPr id="52" name="Text 42"/>
          <p:cNvSpPr/>
          <p:nvPr/>
        </p:nvSpPr>
        <p:spPr>
          <a:xfrm>
            <a:off x="8961120" y="1783080"/>
            <a:ext cx="2423160" cy="548640"/>
          </a:xfrm>
          <a:prstGeom prst="rect">
            <a:avLst/>
          </a:prstGeom>
          <a:noFill/>
          <a:ln/>
        </p:spPr>
        <p:txBody>
          <a:bodyPr wrap="square" lIns="0" tIns="0" rIns="0" bIns="0" rtlCol="0" anchor="ctr"/>
          <a:lstStyle/>
          <a:p>
            <a:pPr indent="0" marL="0">
              <a:lnSpc>
                <a:spcPct val="100000"/>
              </a:lnSpc>
              <a:buNone/>
            </a:pPr>
            <a:r>
              <a:rPr lang="en-US" sz="1200" b="1" spc="150" kern="0" dirty="0">
                <a:solidFill>
                  <a:srgbClr val="21C7C7"/>
                </a:solidFill>
                <a:latin typeface="Calibri" pitchFamily="34" charset="0"/>
                <a:ea typeface="Calibri" pitchFamily="34" charset="-122"/>
                <a:cs typeface="Calibri" pitchFamily="34" charset="-120"/>
              </a:rPr>
              <a:t>ARCHITECTURE</a:t>
            </a:r>
            <a:endParaRPr lang="en-US" sz="1200" dirty="0"/>
          </a:p>
          <a:p>
            <a:pPr indent="0" marL="0">
              <a:lnSpc>
                <a:spcPct val="100000"/>
              </a:lnSpc>
              <a:buNone/>
            </a:pPr>
            <a:r>
              <a:rPr lang="en-US" sz="1200" b="1" spc="150" kern="0" dirty="0">
                <a:solidFill>
                  <a:srgbClr val="21C7C7"/>
                </a:solidFill>
                <a:latin typeface="Calibri" pitchFamily="34" charset="0"/>
                <a:ea typeface="Calibri" pitchFamily="34" charset="-122"/>
                <a:cs typeface="Calibri" pitchFamily="34" charset="-120"/>
              </a:rPr>
              <a:t>AT A GLANCE</a:t>
            </a:r>
            <a:endParaRPr lang="en-US" sz="1200" dirty="0"/>
          </a:p>
        </p:txBody>
      </p:sp>
      <p:sp>
        <p:nvSpPr>
          <p:cNvPr id="53" name="Text 43"/>
          <p:cNvSpPr/>
          <p:nvPr/>
        </p:nvSpPr>
        <p:spPr>
          <a:xfrm>
            <a:off x="8961120" y="2377440"/>
            <a:ext cx="2423160" cy="1188720"/>
          </a:xfrm>
          <a:prstGeom prst="rect">
            <a:avLst/>
          </a:prstGeom>
          <a:noFill/>
          <a:ln/>
        </p:spPr>
        <p:txBody>
          <a:bodyPr wrap="square" lIns="0" tIns="0" rIns="0" bIns="0" rtlCol="0" anchor="ctr"/>
          <a:lstStyle/>
          <a:p>
            <a:pPr indent="0" marL="0">
              <a:lnSpc>
                <a:spcPct val="110000"/>
              </a:lnSpc>
              <a:buNone/>
            </a:pPr>
            <a:r>
              <a:rPr lang="en-US" sz="1050" dirty="0">
                <a:solidFill>
                  <a:srgbClr val="D7E2F0"/>
                </a:solidFill>
                <a:latin typeface="Calibri" pitchFamily="34" charset="0"/>
                <a:ea typeface="Calibri" pitchFamily="34" charset="-122"/>
                <a:cs typeface="Calibri" pitchFamily="34" charset="-120"/>
              </a:rPr>
              <a:t>8 layers, one continuous data pipeline: from raw camera feed to boardroom-ready business analytics — fully autonomous, end to end.</a:t>
            </a:r>
            <a:endParaRPr lang="en-US" sz="1050" dirty="0"/>
          </a:p>
        </p:txBody>
      </p:sp>
      <p:sp>
        <p:nvSpPr>
          <p:cNvPr id="54" name="Text 44"/>
          <p:cNvSpPr/>
          <p:nvPr/>
        </p:nvSpPr>
        <p:spPr>
          <a:xfrm>
            <a:off x="8961120" y="4206240"/>
            <a:ext cx="2423160" cy="1005840"/>
          </a:xfrm>
          <a:prstGeom prst="rect">
            <a:avLst/>
          </a:prstGeom>
          <a:noFill/>
          <a:ln/>
        </p:spPr>
        <p:txBody>
          <a:bodyPr wrap="square" lIns="0" tIns="0" rIns="0" bIns="0" rtlCol="0" anchor="ctr"/>
          <a:lstStyle/>
          <a:p>
            <a:pPr indent="0" marL="0">
              <a:lnSpc>
                <a:spcPct val="110000"/>
              </a:lnSpc>
              <a:buNone/>
            </a:pPr>
            <a:r>
              <a:rPr lang="en-US" sz="1050" i="1" dirty="0">
                <a:solidFill>
                  <a:srgbClr val="9FB3D1"/>
                </a:solidFill>
                <a:latin typeface="Calibri" pitchFamily="34" charset="0"/>
                <a:ea typeface="Calibri" pitchFamily="34" charset="-122"/>
                <a:cs typeface="Calibri" pitchFamily="34" charset="-120"/>
              </a:rPr>
              <a:t>Built on a modular, API-driven architecture so each layer can scale or be replaced independently.</a:t>
            </a:r>
            <a:endParaRPr lang="en-US" sz="1050" dirty="0"/>
          </a:p>
        </p:txBody>
      </p:sp>
      <p:sp>
        <p:nvSpPr>
          <p:cNvPr id="56" name="Text 45"/>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A9B6C9"/>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HOW SENTINELAI X WORKS</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The Five-Step Autonomous Pipeline</a:t>
            </a:r>
            <a:endParaRPr lang="en-US" sz="2800" dirty="0"/>
          </a:p>
        </p:txBody>
      </p:sp>
      <p:sp>
        <p:nvSpPr>
          <p:cNvPr id="4" name="Shape 2"/>
          <p:cNvSpPr/>
          <p:nvPr/>
        </p:nvSpPr>
        <p:spPr>
          <a:xfrm>
            <a:off x="548640" y="1783080"/>
            <a:ext cx="2084832" cy="3931920"/>
          </a:xfrm>
          <a:prstGeom prst="roundRect">
            <a:avLst>
              <a:gd name="adj" fmla="val 4386"/>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5" name="Shape 3"/>
          <p:cNvSpPr/>
          <p:nvPr/>
        </p:nvSpPr>
        <p:spPr>
          <a:xfrm>
            <a:off x="548640" y="1783080"/>
            <a:ext cx="2084832" cy="868680"/>
          </a:xfrm>
          <a:prstGeom prst="roundRect">
            <a:avLst>
              <a:gd name="adj" fmla="val 10526"/>
            </a:avLst>
          </a:prstGeom>
          <a:solidFill>
            <a:srgbClr val="0B1F3A"/>
          </a:solidFill>
          <a:ln/>
        </p:spPr>
      </p:sp>
      <p:sp>
        <p:nvSpPr>
          <p:cNvPr id="6" name="Shape 4"/>
          <p:cNvSpPr/>
          <p:nvPr/>
        </p:nvSpPr>
        <p:spPr>
          <a:xfrm>
            <a:off x="548640" y="2286000"/>
            <a:ext cx="2084832" cy="365760"/>
          </a:xfrm>
          <a:prstGeom prst="rect">
            <a:avLst/>
          </a:prstGeom>
          <a:solidFill>
            <a:srgbClr val="0B1F3A"/>
          </a:solidFill>
          <a:ln/>
        </p:spPr>
      </p:sp>
      <p:sp>
        <p:nvSpPr>
          <p:cNvPr id="7" name="Shape 5"/>
          <p:cNvSpPr/>
          <p:nvPr/>
        </p:nvSpPr>
        <p:spPr>
          <a:xfrm>
            <a:off x="1316736" y="1965960"/>
            <a:ext cx="548640" cy="548640"/>
          </a:xfrm>
          <a:prstGeom prst="ellipse">
            <a:avLst/>
          </a:prstGeom>
          <a:solidFill>
            <a:srgbClr val="21C7C7"/>
          </a:solidFill>
          <a:ln/>
        </p:spPr>
      </p:sp>
      <p:pic>
        <p:nvPicPr>
          <p:cNvPr id="8" name="Image 0" descr="/home/claude/sentinelai/images/video_white.png">    </p:cNvPr>
          <p:cNvPicPr>
            <a:picLocks noChangeAspect="1"/>
          </p:cNvPicPr>
          <p:nvPr/>
        </p:nvPicPr>
        <p:blipFill>
          <a:blip r:embed="rId1"/>
          <a:stretch>
            <a:fillRect/>
          </a:stretch>
        </p:blipFill>
        <p:spPr>
          <a:xfrm>
            <a:off x="1453896" y="2103120"/>
            <a:ext cx="274320" cy="274320"/>
          </a:xfrm>
          <a:prstGeom prst="rect">
            <a:avLst/>
          </a:prstGeom>
        </p:spPr>
      </p:pic>
      <p:sp>
        <p:nvSpPr>
          <p:cNvPr id="9" name="Text 6"/>
          <p:cNvSpPr/>
          <p:nvPr/>
        </p:nvSpPr>
        <p:spPr>
          <a:xfrm>
            <a:off x="658368" y="2743200"/>
            <a:ext cx="1865376" cy="41148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 Observe</a:t>
            </a:r>
            <a:endParaRPr lang="en-US" sz="1400" dirty="0"/>
          </a:p>
        </p:txBody>
      </p:sp>
      <p:sp>
        <p:nvSpPr>
          <p:cNvPr id="10" name="Text 7"/>
          <p:cNvSpPr/>
          <p:nvPr/>
        </p:nvSpPr>
        <p:spPr>
          <a:xfrm>
            <a:off x="731520" y="3200400"/>
            <a:ext cx="1719072" cy="2377440"/>
          </a:xfrm>
          <a:prstGeom prst="rect">
            <a:avLst/>
          </a:prstGeom>
          <a:noFill/>
          <a:ln/>
        </p:spPr>
        <p:txBody>
          <a:bodyPr wrap="square" lIns="0" tIns="0" rIns="0" bIns="0" rtlCol="0" anchor="ctr"/>
          <a:lstStyle/>
          <a:p>
            <a:pPr algn="l" indent="0" marL="0">
              <a:lnSpc>
                <a:spcPct val="115000"/>
              </a:lnSpc>
              <a:buNone/>
            </a:pPr>
            <a:r>
              <a:rPr lang="en-US" sz="1050" dirty="0">
                <a:solidFill>
                  <a:srgbClr val="5B6B82"/>
                </a:solidFill>
                <a:latin typeface="Calibri" pitchFamily="34" charset="0"/>
                <a:ea typeface="Calibri" pitchFamily="34" charset="-122"/>
                <a:cs typeface="Calibri" pitchFamily="34" charset="-120"/>
              </a:rPr>
              <a:t>Camera feeds continuously detect people, objects, and environmental conditions across every monitored zone.</a:t>
            </a:r>
            <a:endParaRPr lang="en-US" sz="1050" dirty="0"/>
          </a:p>
        </p:txBody>
      </p:sp>
      <p:sp>
        <p:nvSpPr>
          <p:cNvPr id="11" name="Text 8"/>
          <p:cNvSpPr/>
          <p:nvPr/>
        </p:nvSpPr>
        <p:spPr>
          <a:xfrm>
            <a:off x="2633472" y="1783080"/>
            <a:ext cx="164592" cy="3931920"/>
          </a:xfrm>
          <a:prstGeom prst="rect">
            <a:avLst/>
          </a:prstGeom>
          <a:noFill/>
          <a:ln/>
        </p:spPr>
        <p:txBody>
          <a:bodyPr wrap="square" lIns="0" tIns="0" rIns="0" bIns="0" rtlCol="0" anchor="ctr"/>
          <a:lstStyle/>
          <a:p>
            <a:pPr algn="ctr" indent="0" marL="0">
              <a:buNone/>
            </a:pPr>
            <a:r>
              <a:rPr lang="en-US" sz="1600" dirty="0">
                <a:solidFill>
                  <a:srgbClr val="F2A33C"/>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2798064" y="1783080"/>
            <a:ext cx="2084832" cy="3931920"/>
          </a:xfrm>
          <a:prstGeom prst="roundRect">
            <a:avLst>
              <a:gd name="adj" fmla="val 4386"/>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13" name="Shape 10"/>
          <p:cNvSpPr/>
          <p:nvPr/>
        </p:nvSpPr>
        <p:spPr>
          <a:xfrm>
            <a:off x="2798064" y="1783080"/>
            <a:ext cx="2084832" cy="868680"/>
          </a:xfrm>
          <a:prstGeom prst="roundRect">
            <a:avLst>
              <a:gd name="adj" fmla="val 10526"/>
            </a:avLst>
          </a:prstGeom>
          <a:solidFill>
            <a:srgbClr val="0E2B52"/>
          </a:solidFill>
          <a:ln/>
        </p:spPr>
      </p:sp>
      <p:sp>
        <p:nvSpPr>
          <p:cNvPr id="14" name="Shape 11"/>
          <p:cNvSpPr/>
          <p:nvPr/>
        </p:nvSpPr>
        <p:spPr>
          <a:xfrm>
            <a:off x="2798064" y="2286000"/>
            <a:ext cx="2084832" cy="365760"/>
          </a:xfrm>
          <a:prstGeom prst="rect">
            <a:avLst/>
          </a:prstGeom>
          <a:solidFill>
            <a:srgbClr val="0E2B52"/>
          </a:solidFill>
          <a:ln/>
        </p:spPr>
      </p:sp>
      <p:sp>
        <p:nvSpPr>
          <p:cNvPr id="15" name="Shape 12"/>
          <p:cNvSpPr/>
          <p:nvPr/>
        </p:nvSpPr>
        <p:spPr>
          <a:xfrm>
            <a:off x="3566160" y="1965960"/>
            <a:ext cx="548640" cy="548640"/>
          </a:xfrm>
          <a:prstGeom prst="ellipse">
            <a:avLst/>
          </a:prstGeom>
          <a:solidFill>
            <a:srgbClr val="21C7C7"/>
          </a:solidFill>
          <a:ln/>
        </p:spPr>
      </p:sp>
      <p:pic>
        <p:nvPicPr>
          <p:cNvPr id="16" name="Image 1" descr="/home/claude/sentinelai/images/cubes_white.png">    </p:cNvPr>
          <p:cNvPicPr>
            <a:picLocks noChangeAspect="1"/>
          </p:cNvPicPr>
          <p:nvPr/>
        </p:nvPicPr>
        <p:blipFill>
          <a:blip r:embed="rId2"/>
          <a:stretch>
            <a:fillRect/>
          </a:stretch>
        </p:blipFill>
        <p:spPr>
          <a:xfrm>
            <a:off x="3703320" y="2103120"/>
            <a:ext cx="274320" cy="274320"/>
          </a:xfrm>
          <a:prstGeom prst="rect">
            <a:avLst/>
          </a:prstGeom>
        </p:spPr>
      </p:pic>
      <p:sp>
        <p:nvSpPr>
          <p:cNvPr id="17" name="Text 13"/>
          <p:cNvSpPr/>
          <p:nvPr/>
        </p:nvSpPr>
        <p:spPr>
          <a:xfrm>
            <a:off x="2907792" y="2743200"/>
            <a:ext cx="1865376" cy="41148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2. Understand</a:t>
            </a:r>
            <a:endParaRPr lang="en-US" sz="1400" dirty="0"/>
          </a:p>
        </p:txBody>
      </p:sp>
      <p:sp>
        <p:nvSpPr>
          <p:cNvPr id="18" name="Text 14"/>
          <p:cNvSpPr/>
          <p:nvPr/>
        </p:nvSpPr>
        <p:spPr>
          <a:xfrm>
            <a:off x="2980944" y="3200400"/>
            <a:ext cx="1719072" cy="2377440"/>
          </a:xfrm>
          <a:prstGeom prst="rect">
            <a:avLst/>
          </a:prstGeom>
          <a:noFill/>
          <a:ln/>
        </p:spPr>
        <p:txBody>
          <a:bodyPr wrap="square" lIns="0" tIns="0" rIns="0" bIns="0" rtlCol="0" anchor="ctr"/>
          <a:lstStyle/>
          <a:p>
            <a:pPr algn="l" indent="0" marL="0">
              <a:lnSpc>
                <a:spcPct val="115000"/>
              </a:lnSpc>
              <a:buNone/>
            </a:pPr>
            <a:r>
              <a:rPr lang="en-US" sz="1050" dirty="0">
                <a:solidFill>
                  <a:srgbClr val="5B6B82"/>
                </a:solidFill>
                <a:latin typeface="Calibri" pitchFamily="34" charset="0"/>
                <a:ea typeface="Calibri" pitchFamily="34" charset="-122"/>
                <a:cs typeface="Calibri" pitchFamily="34" charset="-120"/>
              </a:rPr>
              <a:t>Visual telemetry is converted into a Digital Twin representing the live, real-time state of every room.</a:t>
            </a:r>
            <a:endParaRPr lang="en-US" sz="1050" dirty="0"/>
          </a:p>
        </p:txBody>
      </p:sp>
      <p:sp>
        <p:nvSpPr>
          <p:cNvPr id="19" name="Text 15"/>
          <p:cNvSpPr/>
          <p:nvPr/>
        </p:nvSpPr>
        <p:spPr>
          <a:xfrm>
            <a:off x="4882896" y="1783080"/>
            <a:ext cx="164592" cy="3931920"/>
          </a:xfrm>
          <a:prstGeom prst="rect">
            <a:avLst/>
          </a:prstGeom>
          <a:noFill/>
          <a:ln/>
        </p:spPr>
        <p:txBody>
          <a:bodyPr wrap="square" lIns="0" tIns="0" rIns="0" bIns="0" rtlCol="0" anchor="ctr"/>
          <a:lstStyle/>
          <a:p>
            <a:pPr algn="ctr" indent="0" marL="0">
              <a:buNone/>
            </a:pPr>
            <a:r>
              <a:rPr lang="en-US" sz="1600" dirty="0">
                <a:solidFill>
                  <a:srgbClr val="F2A33C"/>
                </a:solidFill>
                <a:latin typeface="Calibri" pitchFamily="34" charset="0"/>
                <a:ea typeface="Calibri" pitchFamily="34" charset="-122"/>
                <a:cs typeface="Calibri" pitchFamily="34" charset="-120"/>
              </a:rPr>
              <a:t>→</a:t>
            </a:r>
            <a:endParaRPr lang="en-US" sz="1600" dirty="0"/>
          </a:p>
        </p:txBody>
      </p:sp>
      <p:sp>
        <p:nvSpPr>
          <p:cNvPr id="20" name="Shape 16"/>
          <p:cNvSpPr/>
          <p:nvPr/>
        </p:nvSpPr>
        <p:spPr>
          <a:xfrm>
            <a:off x="5047488" y="1783080"/>
            <a:ext cx="2084832" cy="3931920"/>
          </a:xfrm>
          <a:prstGeom prst="roundRect">
            <a:avLst>
              <a:gd name="adj" fmla="val 4386"/>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21" name="Shape 17"/>
          <p:cNvSpPr/>
          <p:nvPr/>
        </p:nvSpPr>
        <p:spPr>
          <a:xfrm>
            <a:off x="5047488" y="1783080"/>
            <a:ext cx="2084832" cy="868680"/>
          </a:xfrm>
          <a:prstGeom prst="roundRect">
            <a:avLst>
              <a:gd name="adj" fmla="val 10526"/>
            </a:avLst>
          </a:prstGeom>
          <a:solidFill>
            <a:srgbClr val="0B1F3A"/>
          </a:solidFill>
          <a:ln/>
        </p:spPr>
      </p:sp>
      <p:sp>
        <p:nvSpPr>
          <p:cNvPr id="22" name="Shape 18"/>
          <p:cNvSpPr/>
          <p:nvPr/>
        </p:nvSpPr>
        <p:spPr>
          <a:xfrm>
            <a:off x="5047488" y="2286000"/>
            <a:ext cx="2084832" cy="365760"/>
          </a:xfrm>
          <a:prstGeom prst="rect">
            <a:avLst/>
          </a:prstGeom>
          <a:solidFill>
            <a:srgbClr val="0B1F3A"/>
          </a:solidFill>
          <a:ln/>
        </p:spPr>
      </p:sp>
      <p:sp>
        <p:nvSpPr>
          <p:cNvPr id="23" name="Shape 19"/>
          <p:cNvSpPr/>
          <p:nvPr/>
        </p:nvSpPr>
        <p:spPr>
          <a:xfrm>
            <a:off x="5815584" y="1965960"/>
            <a:ext cx="548640" cy="548640"/>
          </a:xfrm>
          <a:prstGeom prst="ellipse">
            <a:avLst/>
          </a:prstGeom>
          <a:solidFill>
            <a:srgbClr val="21C7C7"/>
          </a:solidFill>
          <a:ln/>
        </p:spPr>
      </p:sp>
      <p:pic>
        <p:nvPicPr>
          <p:cNvPr id="24" name="Image 2" descr="/home/claude/sentinelai/images/brain_white.png">    </p:cNvPr>
          <p:cNvPicPr>
            <a:picLocks noChangeAspect="1"/>
          </p:cNvPicPr>
          <p:nvPr/>
        </p:nvPicPr>
        <p:blipFill>
          <a:blip r:embed="rId3"/>
          <a:stretch>
            <a:fillRect/>
          </a:stretch>
        </p:blipFill>
        <p:spPr>
          <a:xfrm>
            <a:off x="5952744" y="2103120"/>
            <a:ext cx="274320" cy="274320"/>
          </a:xfrm>
          <a:prstGeom prst="rect">
            <a:avLst/>
          </a:prstGeom>
        </p:spPr>
      </p:pic>
      <p:sp>
        <p:nvSpPr>
          <p:cNvPr id="25" name="Text 20"/>
          <p:cNvSpPr/>
          <p:nvPr/>
        </p:nvSpPr>
        <p:spPr>
          <a:xfrm>
            <a:off x="5157216" y="2743200"/>
            <a:ext cx="1865376" cy="41148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3. Decide</a:t>
            </a:r>
            <a:endParaRPr lang="en-US" sz="1400" dirty="0"/>
          </a:p>
        </p:txBody>
      </p:sp>
      <p:sp>
        <p:nvSpPr>
          <p:cNvPr id="26" name="Text 21"/>
          <p:cNvSpPr/>
          <p:nvPr/>
        </p:nvSpPr>
        <p:spPr>
          <a:xfrm>
            <a:off x="5230368" y="3200400"/>
            <a:ext cx="1719072" cy="2377440"/>
          </a:xfrm>
          <a:prstGeom prst="rect">
            <a:avLst/>
          </a:prstGeom>
          <a:noFill/>
          <a:ln/>
        </p:spPr>
        <p:txBody>
          <a:bodyPr wrap="square" lIns="0" tIns="0" rIns="0" bIns="0" rtlCol="0" anchor="ctr"/>
          <a:lstStyle/>
          <a:p>
            <a:pPr algn="l" indent="0" marL="0">
              <a:lnSpc>
                <a:spcPct val="115000"/>
              </a:lnSpc>
              <a:buNone/>
            </a:pPr>
            <a:r>
              <a:rPr lang="en-US" sz="1050" dirty="0">
                <a:solidFill>
                  <a:srgbClr val="5B6B82"/>
                </a:solidFill>
                <a:latin typeface="Calibri" pitchFamily="34" charset="0"/>
                <a:ea typeface="Calibri" pitchFamily="34" charset="-122"/>
                <a:cs typeface="Calibri" pitchFamily="34" charset="-120"/>
              </a:rPr>
              <a:t>Specialized AI Agents analyze security, safety, energy, and facility health simultaneously, in parallel.</a:t>
            </a:r>
            <a:endParaRPr lang="en-US" sz="1050" dirty="0"/>
          </a:p>
        </p:txBody>
      </p:sp>
      <p:sp>
        <p:nvSpPr>
          <p:cNvPr id="27" name="Text 22"/>
          <p:cNvSpPr/>
          <p:nvPr/>
        </p:nvSpPr>
        <p:spPr>
          <a:xfrm>
            <a:off x="7132320" y="1783080"/>
            <a:ext cx="164592" cy="3931920"/>
          </a:xfrm>
          <a:prstGeom prst="rect">
            <a:avLst/>
          </a:prstGeom>
          <a:noFill/>
          <a:ln/>
        </p:spPr>
        <p:txBody>
          <a:bodyPr wrap="square" lIns="0" tIns="0" rIns="0" bIns="0" rtlCol="0" anchor="ctr"/>
          <a:lstStyle/>
          <a:p>
            <a:pPr algn="ctr" indent="0" marL="0">
              <a:buNone/>
            </a:pPr>
            <a:r>
              <a:rPr lang="en-US" sz="1600" dirty="0">
                <a:solidFill>
                  <a:srgbClr val="F2A33C"/>
                </a:solidFill>
                <a:latin typeface="Calibri" pitchFamily="34" charset="0"/>
                <a:ea typeface="Calibri" pitchFamily="34" charset="-122"/>
                <a:cs typeface="Calibri" pitchFamily="34" charset="-120"/>
              </a:rPr>
              <a:t>→</a:t>
            </a:r>
            <a:endParaRPr lang="en-US" sz="1600" dirty="0"/>
          </a:p>
        </p:txBody>
      </p:sp>
      <p:sp>
        <p:nvSpPr>
          <p:cNvPr id="28" name="Shape 23"/>
          <p:cNvSpPr/>
          <p:nvPr/>
        </p:nvSpPr>
        <p:spPr>
          <a:xfrm>
            <a:off x="7296912" y="1783080"/>
            <a:ext cx="2084832" cy="3931920"/>
          </a:xfrm>
          <a:prstGeom prst="roundRect">
            <a:avLst>
              <a:gd name="adj" fmla="val 4386"/>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29" name="Shape 24"/>
          <p:cNvSpPr/>
          <p:nvPr/>
        </p:nvSpPr>
        <p:spPr>
          <a:xfrm>
            <a:off x="7296912" y="1783080"/>
            <a:ext cx="2084832" cy="868680"/>
          </a:xfrm>
          <a:prstGeom prst="roundRect">
            <a:avLst>
              <a:gd name="adj" fmla="val 10526"/>
            </a:avLst>
          </a:prstGeom>
          <a:solidFill>
            <a:srgbClr val="0E2B52"/>
          </a:solidFill>
          <a:ln/>
        </p:spPr>
      </p:sp>
      <p:sp>
        <p:nvSpPr>
          <p:cNvPr id="30" name="Shape 25"/>
          <p:cNvSpPr/>
          <p:nvPr/>
        </p:nvSpPr>
        <p:spPr>
          <a:xfrm>
            <a:off x="7296912" y="2286000"/>
            <a:ext cx="2084832" cy="365760"/>
          </a:xfrm>
          <a:prstGeom prst="rect">
            <a:avLst/>
          </a:prstGeom>
          <a:solidFill>
            <a:srgbClr val="0E2B52"/>
          </a:solidFill>
          <a:ln/>
        </p:spPr>
      </p:sp>
      <p:sp>
        <p:nvSpPr>
          <p:cNvPr id="31" name="Shape 26"/>
          <p:cNvSpPr/>
          <p:nvPr/>
        </p:nvSpPr>
        <p:spPr>
          <a:xfrm>
            <a:off x="8065008" y="1965960"/>
            <a:ext cx="548640" cy="548640"/>
          </a:xfrm>
          <a:prstGeom prst="ellipse">
            <a:avLst/>
          </a:prstGeom>
          <a:solidFill>
            <a:srgbClr val="21C7C7"/>
          </a:solidFill>
          <a:ln/>
        </p:spPr>
      </p:sp>
      <p:pic>
        <p:nvPicPr>
          <p:cNvPr id="32" name="Image 3" descr="/home/claude/sentinelai/images/bolt_white.png">    </p:cNvPr>
          <p:cNvPicPr>
            <a:picLocks noChangeAspect="1"/>
          </p:cNvPicPr>
          <p:nvPr/>
        </p:nvPicPr>
        <p:blipFill>
          <a:blip r:embed="rId4"/>
          <a:stretch>
            <a:fillRect/>
          </a:stretch>
        </p:blipFill>
        <p:spPr>
          <a:xfrm>
            <a:off x="8202168" y="2103120"/>
            <a:ext cx="274320" cy="274320"/>
          </a:xfrm>
          <a:prstGeom prst="rect">
            <a:avLst/>
          </a:prstGeom>
        </p:spPr>
      </p:pic>
      <p:sp>
        <p:nvSpPr>
          <p:cNvPr id="33" name="Text 27"/>
          <p:cNvSpPr/>
          <p:nvPr/>
        </p:nvSpPr>
        <p:spPr>
          <a:xfrm>
            <a:off x="7406640" y="2743200"/>
            <a:ext cx="1865376" cy="41148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4. Act</a:t>
            </a:r>
            <a:endParaRPr lang="en-US" sz="1400" dirty="0"/>
          </a:p>
        </p:txBody>
      </p:sp>
      <p:sp>
        <p:nvSpPr>
          <p:cNvPr id="34" name="Text 28"/>
          <p:cNvSpPr/>
          <p:nvPr/>
        </p:nvSpPr>
        <p:spPr>
          <a:xfrm>
            <a:off x="7479792" y="3200400"/>
            <a:ext cx="1719072" cy="2377440"/>
          </a:xfrm>
          <a:prstGeom prst="rect">
            <a:avLst/>
          </a:prstGeom>
          <a:noFill/>
          <a:ln/>
        </p:spPr>
        <p:txBody>
          <a:bodyPr wrap="square" lIns="0" tIns="0" rIns="0" bIns="0" rtlCol="0" anchor="ctr"/>
          <a:lstStyle/>
          <a:p>
            <a:pPr algn="l" indent="0" marL="0">
              <a:lnSpc>
                <a:spcPct val="115000"/>
              </a:lnSpc>
              <a:buNone/>
            </a:pPr>
            <a:r>
              <a:rPr lang="en-US" sz="1050" dirty="0">
                <a:solidFill>
                  <a:srgbClr val="5B6B82"/>
                </a:solidFill>
                <a:latin typeface="Calibri" pitchFamily="34" charset="0"/>
                <a:ea typeface="Calibri" pitchFamily="34" charset="-122"/>
                <a:cs typeface="Calibri" pitchFamily="34" charset="-120"/>
              </a:rPr>
              <a:t>The Decision Engine triggers IoT actions, creates incidents, and alerts human operators automatically.</a:t>
            </a:r>
            <a:endParaRPr lang="en-US" sz="1050" dirty="0"/>
          </a:p>
        </p:txBody>
      </p:sp>
      <p:sp>
        <p:nvSpPr>
          <p:cNvPr id="35" name="Text 29"/>
          <p:cNvSpPr/>
          <p:nvPr/>
        </p:nvSpPr>
        <p:spPr>
          <a:xfrm>
            <a:off x="9381744" y="1783080"/>
            <a:ext cx="164592" cy="3931920"/>
          </a:xfrm>
          <a:prstGeom prst="rect">
            <a:avLst/>
          </a:prstGeom>
          <a:noFill/>
          <a:ln/>
        </p:spPr>
        <p:txBody>
          <a:bodyPr wrap="square" lIns="0" tIns="0" rIns="0" bIns="0" rtlCol="0" anchor="ctr"/>
          <a:lstStyle/>
          <a:p>
            <a:pPr algn="ctr" indent="0" marL="0">
              <a:buNone/>
            </a:pPr>
            <a:r>
              <a:rPr lang="en-US" sz="1600" dirty="0">
                <a:solidFill>
                  <a:srgbClr val="F2A33C"/>
                </a:solidFill>
                <a:latin typeface="Calibri" pitchFamily="34" charset="0"/>
                <a:ea typeface="Calibri" pitchFamily="34" charset="-122"/>
                <a:cs typeface="Calibri" pitchFamily="34" charset="-120"/>
              </a:rPr>
              <a:t>→</a:t>
            </a:r>
            <a:endParaRPr lang="en-US" sz="1600" dirty="0"/>
          </a:p>
        </p:txBody>
      </p:sp>
      <p:sp>
        <p:nvSpPr>
          <p:cNvPr id="36" name="Shape 30"/>
          <p:cNvSpPr/>
          <p:nvPr/>
        </p:nvSpPr>
        <p:spPr>
          <a:xfrm>
            <a:off x="9546336" y="1783080"/>
            <a:ext cx="2084832" cy="3931920"/>
          </a:xfrm>
          <a:prstGeom prst="roundRect">
            <a:avLst>
              <a:gd name="adj" fmla="val 4386"/>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37" name="Shape 31"/>
          <p:cNvSpPr/>
          <p:nvPr/>
        </p:nvSpPr>
        <p:spPr>
          <a:xfrm>
            <a:off x="9546336" y="1783080"/>
            <a:ext cx="2084832" cy="868680"/>
          </a:xfrm>
          <a:prstGeom prst="roundRect">
            <a:avLst>
              <a:gd name="adj" fmla="val 10526"/>
            </a:avLst>
          </a:prstGeom>
          <a:solidFill>
            <a:srgbClr val="0B1F3A"/>
          </a:solidFill>
          <a:ln/>
        </p:spPr>
      </p:sp>
      <p:sp>
        <p:nvSpPr>
          <p:cNvPr id="38" name="Shape 32"/>
          <p:cNvSpPr/>
          <p:nvPr/>
        </p:nvSpPr>
        <p:spPr>
          <a:xfrm>
            <a:off x="9546336" y="2286000"/>
            <a:ext cx="2084832" cy="365760"/>
          </a:xfrm>
          <a:prstGeom prst="rect">
            <a:avLst/>
          </a:prstGeom>
          <a:solidFill>
            <a:srgbClr val="0B1F3A"/>
          </a:solidFill>
          <a:ln/>
        </p:spPr>
      </p:sp>
      <p:sp>
        <p:nvSpPr>
          <p:cNvPr id="39" name="Shape 33"/>
          <p:cNvSpPr/>
          <p:nvPr/>
        </p:nvSpPr>
        <p:spPr>
          <a:xfrm>
            <a:off x="10314432" y="1965960"/>
            <a:ext cx="548640" cy="548640"/>
          </a:xfrm>
          <a:prstGeom prst="ellipse">
            <a:avLst/>
          </a:prstGeom>
          <a:solidFill>
            <a:srgbClr val="21C7C7"/>
          </a:solidFill>
          <a:ln/>
        </p:spPr>
      </p:sp>
      <p:pic>
        <p:nvPicPr>
          <p:cNvPr id="40" name="Image 4" descr="/home/claude/sentinelai/images/chart_white.png">    </p:cNvPr>
          <p:cNvPicPr>
            <a:picLocks noChangeAspect="1"/>
          </p:cNvPicPr>
          <p:nvPr/>
        </p:nvPicPr>
        <p:blipFill>
          <a:blip r:embed="rId5"/>
          <a:stretch>
            <a:fillRect/>
          </a:stretch>
        </p:blipFill>
        <p:spPr>
          <a:xfrm>
            <a:off x="10451592" y="2103120"/>
            <a:ext cx="274320" cy="274320"/>
          </a:xfrm>
          <a:prstGeom prst="rect">
            <a:avLst/>
          </a:prstGeom>
        </p:spPr>
      </p:pic>
      <p:sp>
        <p:nvSpPr>
          <p:cNvPr id="41" name="Text 34"/>
          <p:cNvSpPr/>
          <p:nvPr/>
        </p:nvSpPr>
        <p:spPr>
          <a:xfrm>
            <a:off x="9656064" y="2743200"/>
            <a:ext cx="1865376" cy="41148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5. Optimize</a:t>
            </a:r>
            <a:endParaRPr lang="en-US" sz="1400" dirty="0"/>
          </a:p>
        </p:txBody>
      </p:sp>
      <p:sp>
        <p:nvSpPr>
          <p:cNvPr id="42" name="Text 35"/>
          <p:cNvSpPr/>
          <p:nvPr/>
        </p:nvSpPr>
        <p:spPr>
          <a:xfrm>
            <a:off x="9729216" y="3200400"/>
            <a:ext cx="1719072" cy="2377440"/>
          </a:xfrm>
          <a:prstGeom prst="rect">
            <a:avLst/>
          </a:prstGeom>
          <a:noFill/>
          <a:ln/>
        </p:spPr>
        <p:txBody>
          <a:bodyPr wrap="square" lIns="0" tIns="0" rIns="0" bIns="0" rtlCol="0" anchor="ctr"/>
          <a:lstStyle/>
          <a:p>
            <a:pPr algn="l" indent="0" marL="0">
              <a:lnSpc>
                <a:spcPct val="115000"/>
              </a:lnSpc>
              <a:buNone/>
            </a:pPr>
            <a:r>
              <a:rPr lang="en-US" sz="1050" dirty="0">
                <a:solidFill>
                  <a:srgbClr val="5B6B82"/>
                </a:solidFill>
                <a:latin typeface="Calibri" pitchFamily="34" charset="0"/>
                <a:ea typeface="Calibri" pitchFamily="34" charset="-122"/>
                <a:cs typeface="Calibri" pitchFamily="34" charset="-120"/>
              </a:rPr>
              <a:t>ROI, energy savings, operational efficiency, and compliance metrics are continuously updated.</a:t>
            </a:r>
            <a:endParaRPr lang="en-US" sz="1050" dirty="0"/>
          </a:p>
        </p:txBody>
      </p:sp>
      <p:sp>
        <p:nvSpPr>
          <p:cNvPr id="43" name="Text 36"/>
          <p:cNvSpPr/>
          <p:nvPr/>
        </p:nvSpPr>
        <p:spPr>
          <a:xfrm>
            <a:off x="548640" y="5897880"/>
            <a:ext cx="10789920" cy="411480"/>
          </a:xfrm>
          <a:prstGeom prst="rect">
            <a:avLst/>
          </a:prstGeom>
          <a:noFill/>
          <a:ln/>
        </p:spPr>
        <p:txBody>
          <a:bodyPr wrap="square" lIns="0" tIns="0" rIns="0" bIns="0" rtlCol="0" anchor="ctr"/>
          <a:lstStyle/>
          <a:p>
            <a:pPr indent="0" marL="0">
              <a:buNone/>
            </a:pPr>
            <a:r>
              <a:rPr lang="en-US" sz="1250" i="1" dirty="0">
                <a:solidFill>
                  <a:srgbClr val="5B6B82"/>
                </a:solidFill>
                <a:latin typeface="Calibri" pitchFamily="34" charset="0"/>
                <a:ea typeface="Calibri" pitchFamily="34" charset="-122"/>
                <a:cs typeface="Calibri" pitchFamily="34" charset="-120"/>
              </a:rPr>
              <a:t>Observe → Understand → Decide → Act → Optimize: a continuous, closed-loop, autonomous decision cycle.</a:t>
            </a:r>
            <a:endParaRPr lang="en-US" sz="1250" dirty="0"/>
          </a:p>
        </p:txBody>
      </p:sp>
      <p:sp>
        <p:nvSpPr>
          <p:cNvPr id="45" name="Text 37"/>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A9B6C9"/>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AI INTELLIGENCE</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Multi-Agent Reasoning System</a:t>
            </a:r>
            <a:endParaRPr lang="en-US" sz="2800" dirty="0"/>
          </a:p>
        </p:txBody>
      </p:sp>
      <p:sp>
        <p:nvSpPr>
          <p:cNvPr id="4" name="Text 2"/>
          <p:cNvSpPr/>
          <p:nvPr/>
        </p:nvSpPr>
        <p:spPr>
          <a:xfrm>
            <a:off x="548640" y="1417320"/>
            <a:ext cx="10607040" cy="365760"/>
          </a:xfrm>
          <a:prstGeom prst="rect">
            <a:avLst/>
          </a:prstGeom>
          <a:noFill/>
          <a:ln/>
        </p:spPr>
        <p:txBody>
          <a:bodyPr wrap="square" lIns="0" tIns="0" rIns="0" bIns="0" rtlCol="0" anchor="ctr"/>
          <a:lstStyle/>
          <a:p>
            <a:pPr indent="0" marL="0">
              <a:buNone/>
            </a:pPr>
            <a:r>
              <a:rPr lang="en-US" sz="1300" dirty="0">
                <a:solidFill>
                  <a:srgbClr val="9FB3D1"/>
                </a:solidFill>
                <a:latin typeface="Calibri" pitchFamily="34" charset="0"/>
                <a:ea typeface="Calibri" pitchFamily="34" charset="-122"/>
                <a:cs typeface="Calibri" pitchFamily="34" charset="-120"/>
              </a:rPr>
              <a:t>Four specialized AI Agents reason in parallel over the same live Digital Twin — each an expert in one operational domain.</a:t>
            </a:r>
            <a:endParaRPr lang="en-US" sz="1300" dirty="0"/>
          </a:p>
        </p:txBody>
      </p:sp>
      <p:sp>
        <p:nvSpPr>
          <p:cNvPr id="5" name="Shape 3"/>
          <p:cNvSpPr/>
          <p:nvPr/>
        </p:nvSpPr>
        <p:spPr>
          <a:xfrm>
            <a:off x="548640" y="2011680"/>
            <a:ext cx="2542032" cy="4160520"/>
          </a:xfrm>
          <a:prstGeom prst="roundRect">
            <a:avLst>
              <a:gd name="adj" fmla="val 3597"/>
            </a:avLst>
          </a:prstGeom>
          <a:solidFill>
            <a:srgbClr val="10294D"/>
          </a:solidFill>
          <a:ln w="12700">
            <a:solidFill>
              <a:srgbClr val="1C3A66"/>
            </a:solidFill>
            <a:prstDash val="solid"/>
          </a:ln>
        </p:spPr>
      </p:sp>
      <p:sp>
        <p:nvSpPr>
          <p:cNvPr id="6" name="Shape 4"/>
          <p:cNvSpPr/>
          <p:nvPr/>
        </p:nvSpPr>
        <p:spPr>
          <a:xfrm>
            <a:off x="1431036" y="2217420"/>
            <a:ext cx="777240" cy="777240"/>
          </a:xfrm>
          <a:prstGeom prst="ellipse">
            <a:avLst/>
          </a:prstGeom>
          <a:solidFill>
            <a:srgbClr val="F2A33C"/>
          </a:solidFill>
          <a:ln/>
        </p:spPr>
      </p:sp>
      <p:pic>
        <p:nvPicPr>
          <p:cNvPr id="7" name="Image 0" descr="/home/claude/sentinelai/images/usershield_dark.png">    </p:cNvPr>
          <p:cNvPicPr>
            <a:picLocks noChangeAspect="1"/>
          </p:cNvPicPr>
          <p:nvPr/>
        </p:nvPicPr>
        <p:blipFill>
          <a:blip r:embed="rId1"/>
          <a:stretch>
            <a:fillRect/>
          </a:stretch>
        </p:blipFill>
        <p:spPr>
          <a:xfrm>
            <a:off x="1625346" y="2411730"/>
            <a:ext cx="388620" cy="388620"/>
          </a:xfrm>
          <a:prstGeom prst="rect">
            <a:avLst/>
          </a:prstGeom>
        </p:spPr>
      </p:pic>
      <p:sp>
        <p:nvSpPr>
          <p:cNvPr id="8" name="Text 5"/>
          <p:cNvSpPr/>
          <p:nvPr/>
        </p:nvSpPr>
        <p:spPr>
          <a:xfrm>
            <a:off x="640080" y="3154680"/>
            <a:ext cx="2359152"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Security Agent</a:t>
            </a:r>
            <a:endParaRPr lang="en-US" sz="1450" dirty="0"/>
          </a:p>
        </p:txBody>
      </p:sp>
      <p:sp>
        <p:nvSpPr>
          <p:cNvPr id="9" name="Shape 6"/>
          <p:cNvSpPr/>
          <p:nvPr/>
        </p:nvSpPr>
        <p:spPr>
          <a:xfrm>
            <a:off x="804672" y="3794760"/>
            <a:ext cx="82296" cy="82296"/>
          </a:xfrm>
          <a:prstGeom prst="ellipse">
            <a:avLst/>
          </a:prstGeom>
          <a:solidFill>
            <a:srgbClr val="F2A33C"/>
          </a:solidFill>
          <a:ln/>
        </p:spPr>
      </p:sp>
      <p:sp>
        <p:nvSpPr>
          <p:cNvPr id="10" name="Text 7"/>
          <p:cNvSpPr/>
          <p:nvPr/>
        </p:nvSpPr>
        <p:spPr>
          <a:xfrm>
            <a:off x="987552" y="3703320"/>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Intrusion Detection</a:t>
            </a:r>
            <a:endParaRPr lang="en-US" sz="1100" dirty="0"/>
          </a:p>
        </p:txBody>
      </p:sp>
      <p:sp>
        <p:nvSpPr>
          <p:cNvPr id="11" name="Shape 8"/>
          <p:cNvSpPr/>
          <p:nvPr/>
        </p:nvSpPr>
        <p:spPr>
          <a:xfrm>
            <a:off x="804672" y="4453128"/>
            <a:ext cx="82296" cy="82296"/>
          </a:xfrm>
          <a:prstGeom prst="ellipse">
            <a:avLst/>
          </a:prstGeom>
          <a:solidFill>
            <a:srgbClr val="F2A33C"/>
          </a:solidFill>
          <a:ln/>
        </p:spPr>
      </p:sp>
      <p:sp>
        <p:nvSpPr>
          <p:cNvPr id="12" name="Text 9"/>
          <p:cNvSpPr/>
          <p:nvPr/>
        </p:nvSpPr>
        <p:spPr>
          <a:xfrm>
            <a:off x="987552" y="4361688"/>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Restricted Area Monitoring</a:t>
            </a:r>
            <a:endParaRPr lang="en-US" sz="1100" dirty="0"/>
          </a:p>
        </p:txBody>
      </p:sp>
      <p:sp>
        <p:nvSpPr>
          <p:cNvPr id="13" name="Shape 10"/>
          <p:cNvSpPr/>
          <p:nvPr/>
        </p:nvSpPr>
        <p:spPr>
          <a:xfrm>
            <a:off x="804672" y="5111496"/>
            <a:ext cx="82296" cy="82296"/>
          </a:xfrm>
          <a:prstGeom prst="ellipse">
            <a:avLst/>
          </a:prstGeom>
          <a:solidFill>
            <a:srgbClr val="F2A33C"/>
          </a:solidFill>
          <a:ln/>
        </p:spPr>
      </p:sp>
      <p:sp>
        <p:nvSpPr>
          <p:cNvPr id="14" name="Text 11"/>
          <p:cNvSpPr/>
          <p:nvPr/>
        </p:nvSpPr>
        <p:spPr>
          <a:xfrm>
            <a:off x="987552" y="5020056"/>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Risk Assessment</a:t>
            </a:r>
            <a:endParaRPr lang="en-US" sz="1100" dirty="0"/>
          </a:p>
        </p:txBody>
      </p:sp>
      <p:sp>
        <p:nvSpPr>
          <p:cNvPr id="15" name="Shape 12"/>
          <p:cNvSpPr/>
          <p:nvPr/>
        </p:nvSpPr>
        <p:spPr>
          <a:xfrm>
            <a:off x="3273552" y="2011680"/>
            <a:ext cx="2542032" cy="4160520"/>
          </a:xfrm>
          <a:prstGeom prst="roundRect">
            <a:avLst>
              <a:gd name="adj" fmla="val 3597"/>
            </a:avLst>
          </a:prstGeom>
          <a:solidFill>
            <a:srgbClr val="10294D"/>
          </a:solidFill>
          <a:ln w="12700">
            <a:solidFill>
              <a:srgbClr val="1C3A66"/>
            </a:solidFill>
            <a:prstDash val="solid"/>
          </a:ln>
        </p:spPr>
      </p:sp>
      <p:sp>
        <p:nvSpPr>
          <p:cNvPr id="16" name="Shape 13"/>
          <p:cNvSpPr/>
          <p:nvPr/>
        </p:nvSpPr>
        <p:spPr>
          <a:xfrm>
            <a:off x="4155948" y="2217420"/>
            <a:ext cx="777240" cy="777240"/>
          </a:xfrm>
          <a:prstGeom prst="ellipse">
            <a:avLst/>
          </a:prstGeom>
          <a:solidFill>
            <a:srgbClr val="21C7C7"/>
          </a:solidFill>
          <a:ln/>
        </p:spPr>
      </p:sp>
      <p:pic>
        <p:nvPicPr>
          <p:cNvPr id="17" name="Image 1" descr="/home/claude/sentinelai/images/bolt_dark.png">    </p:cNvPr>
          <p:cNvPicPr>
            <a:picLocks noChangeAspect="1"/>
          </p:cNvPicPr>
          <p:nvPr/>
        </p:nvPicPr>
        <p:blipFill>
          <a:blip r:embed="rId2"/>
          <a:stretch>
            <a:fillRect/>
          </a:stretch>
        </p:blipFill>
        <p:spPr>
          <a:xfrm>
            <a:off x="4350258" y="2411730"/>
            <a:ext cx="388620" cy="388620"/>
          </a:xfrm>
          <a:prstGeom prst="rect">
            <a:avLst/>
          </a:prstGeom>
        </p:spPr>
      </p:pic>
      <p:sp>
        <p:nvSpPr>
          <p:cNvPr id="18" name="Text 14"/>
          <p:cNvSpPr/>
          <p:nvPr/>
        </p:nvSpPr>
        <p:spPr>
          <a:xfrm>
            <a:off x="3364992" y="3154680"/>
            <a:ext cx="2359152"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Energy Agent</a:t>
            </a:r>
            <a:endParaRPr lang="en-US" sz="1450" dirty="0"/>
          </a:p>
        </p:txBody>
      </p:sp>
      <p:sp>
        <p:nvSpPr>
          <p:cNvPr id="19" name="Shape 15"/>
          <p:cNvSpPr/>
          <p:nvPr/>
        </p:nvSpPr>
        <p:spPr>
          <a:xfrm>
            <a:off x="3529584" y="3794760"/>
            <a:ext cx="82296" cy="82296"/>
          </a:xfrm>
          <a:prstGeom prst="ellipse">
            <a:avLst/>
          </a:prstGeom>
          <a:solidFill>
            <a:srgbClr val="21C7C7"/>
          </a:solidFill>
          <a:ln/>
        </p:spPr>
      </p:sp>
      <p:sp>
        <p:nvSpPr>
          <p:cNvPr id="20" name="Text 16"/>
          <p:cNvSpPr/>
          <p:nvPr/>
        </p:nvSpPr>
        <p:spPr>
          <a:xfrm>
            <a:off x="3712464" y="3703320"/>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Energy Wastage Detection</a:t>
            </a:r>
            <a:endParaRPr lang="en-US" sz="1100" dirty="0"/>
          </a:p>
        </p:txBody>
      </p:sp>
      <p:sp>
        <p:nvSpPr>
          <p:cNvPr id="21" name="Shape 17"/>
          <p:cNvSpPr/>
          <p:nvPr/>
        </p:nvSpPr>
        <p:spPr>
          <a:xfrm>
            <a:off x="3529584" y="4453128"/>
            <a:ext cx="82296" cy="82296"/>
          </a:xfrm>
          <a:prstGeom prst="ellipse">
            <a:avLst/>
          </a:prstGeom>
          <a:solidFill>
            <a:srgbClr val="21C7C7"/>
          </a:solidFill>
          <a:ln/>
        </p:spPr>
      </p:sp>
      <p:sp>
        <p:nvSpPr>
          <p:cNvPr id="22" name="Text 18"/>
          <p:cNvSpPr/>
          <p:nvPr/>
        </p:nvSpPr>
        <p:spPr>
          <a:xfrm>
            <a:off x="3712464" y="4361688"/>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Cost Analysis</a:t>
            </a:r>
            <a:endParaRPr lang="en-US" sz="1100" dirty="0"/>
          </a:p>
        </p:txBody>
      </p:sp>
      <p:sp>
        <p:nvSpPr>
          <p:cNvPr id="23" name="Shape 19"/>
          <p:cNvSpPr/>
          <p:nvPr/>
        </p:nvSpPr>
        <p:spPr>
          <a:xfrm>
            <a:off x="3529584" y="5111496"/>
            <a:ext cx="82296" cy="82296"/>
          </a:xfrm>
          <a:prstGeom prst="ellipse">
            <a:avLst/>
          </a:prstGeom>
          <a:solidFill>
            <a:srgbClr val="21C7C7"/>
          </a:solidFill>
          <a:ln/>
        </p:spPr>
      </p:sp>
      <p:sp>
        <p:nvSpPr>
          <p:cNvPr id="24" name="Text 20"/>
          <p:cNvSpPr/>
          <p:nvPr/>
        </p:nvSpPr>
        <p:spPr>
          <a:xfrm>
            <a:off x="3712464" y="5020056"/>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Carbon Reduction</a:t>
            </a:r>
            <a:endParaRPr lang="en-US" sz="1100" dirty="0"/>
          </a:p>
        </p:txBody>
      </p:sp>
      <p:sp>
        <p:nvSpPr>
          <p:cNvPr id="25" name="Shape 21"/>
          <p:cNvSpPr/>
          <p:nvPr/>
        </p:nvSpPr>
        <p:spPr>
          <a:xfrm>
            <a:off x="5998464" y="2011680"/>
            <a:ext cx="2542032" cy="4160520"/>
          </a:xfrm>
          <a:prstGeom prst="roundRect">
            <a:avLst>
              <a:gd name="adj" fmla="val 3597"/>
            </a:avLst>
          </a:prstGeom>
          <a:solidFill>
            <a:srgbClr val="10294D"/>
          </a:solidFill>
          <a:ln w="12700">
            <a:solidFill>
              <a:srgbClr val="1C3A66"/>
            </a:solidFill>
            <a:prstDash val="solid"/>
          </a:ln>
        </p:spPr>
      </p:sp>
      <p:sp>
        <p:nvSpPr>
          <p:cNvPr id="26" name="Shape 22"/>
          <p:cNvSpPr/>
          <p:nvPr/>
        </p:nvSpPr>
        <p:spPr>
          <a:xfrm>
            <a:off x="6880860" y="2217420"/>
            <a:ext cx="777240" cy="777240"/>
          </a:xfrm>
          <a:prstGeom prst="ellipse">
            <a:avLst/>
          </a:prstGeom>
          <a:solidFill>
            <a:srgbClr val="E0654A"/>
          </a:solidFill>
          <a:ln/>
        </p:spPr>
      </p:sp>
      <p:pic>
        <p:nvPicPr>
          <p:cNvPr id="27" name="Image 2" descr="/home/claude/sentinelai/images/fire_dark.png">    </p:cNvPr>
          <p:cNvPicPr>
            <a:picLocks noChangeAspect="1"/>
          </p:cNvPicPr>
          <p:nvPr/>
        </p:nvPicPr>
        <p:blipFill>
          <a:blip r:embed="rId3"/>
          <a:stretch>
            <a:fillRect/>
          </a:stretch>
        </p:blipFill>
        <p:spPr>
          <a:xfrm>
            <a:off x="7075170" y="2411730"/>
            <a:ext cx="388620" cy="388620"/>
          </a:xfrm>
          <a:prstGeom prst="rect">
            <a:avLst/>
          </a:prstGeom>
        </p:spPr>
      </p:pic>
      <p:sp>
        <p:nvSpPr>
          <p:cNvPr id="28" name="Text 23"/>
          <p:cNvSpPr/>
          <p:nvPr/>
        </p:nvSpPr>
        <p:spPr>
          <a:xfrm>
            <a:off x="6089904" y="3154680"/>
            <a:ext cx="2359152"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Safety Agent</a:t>
            </a:r>
            <a:endParaRPr lang="en-US" sz="1450" dirty="0"/>
          </a:p>
        </p:txBody>
      </p:sp>
      <p:sp>
        <p:nvSpPr>
          <p:cNvPr id="29" name="Shape 24"/>
          <p:cNvSpPr/>
          <p:nvPr/>
        </p:nvSpPr>
        <p:spPr>
          <a:xfrm>
            <a:off x="6254496" y="3794760"/>
            <a:ext cx="82296" cy="82296"/>
          </a:xfrm>
          <a:prstGeom prst="ellipse">
            <a:avLst/>
          </a:prstGeom>
          <a:solidFill>
            <a:srgbClr val="E0654A"/>
          </a:solidFill>
          <a:ln/>
        </p:spPr>
      </p:sp>
      <p:sp>
        <p:nvSpPr>
          <p:cNvPr id="30" name="Text 25"/>
          <p:cNvSpPr/>
          <p:nvPr/>
        </p:nvSpPr>
        <p:spPr>
          <a:xfrm>
            <a:off x="6437376" y="3703320"/>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Occupancy Monitoring</a:t>
            </a:r>
            <a:endParaRPr lang="en-US" sz="1100" dirty="0"/>
          </a:p>
        </p:txBody>
      </p:sp>
      <p:sp>
        <p:nvSpPr>
          <p:cNvPr id="31" name="Shape 26"/>
          <p:cNvSpPr/>
          <p:nvPr/>
        </p:nvSpPr>
        <p:spPr>
          <a:xfrm>
            <a:off x="6254496" y="4453128"/>
            <a:ext cx="82296" cy="82296"/>
          </a:xfrm>
          <a:prstGeom prst="ellipse">
            <a:avLst/>
          </a:prstGeom>
          <a:solidFill>
            <a:srgbClr val="E0654A"/>
          </a:solidFill>
          <a:ln/>
        </p:spPr>
      </p:sp>
      <p:sp>
        <p:nvSpPr>
          <p:cNvPr id="32" name="Text 27"/>
          <p:cNvSpPr/>
          <p:nvPr/>
        </p:nvSpPr>
        <p:spPr>
          <a:xfrm>
            <a:off x="6437376" y="4361688"/>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Crowd Risk Analysis</a:t>
            </a:r>
            <a:endParaRPr lang="en-US" sz="1100" dirty="0"/>
          </a:p>
        </p:txBody>
      </p:sp>
      <p:sp>
        <p:nvSpPr>
          <p:cNvPr id="33" name="Shape 28"/>
          <p:cNvSpPr/>
          <p:nvPr/>
        </p:nvSpPr>
        <p:spPr>
          <a:xfrm>
            <a:off x="6254496" y="5111496"/>
            <a:ext cx="82296" cy="82296"/>
          </a:xfrm>
          <a:prstGeom prst="ellipse">
            <a:avLst/>
          </a:prstGeom>
          <a:solidFill>
            <a:srgbClr val="E0654A"/>
          </a:solidFill>
          <a:ln/>
        </p:spPr>
      </p:sp>
      <p:sp>
        <p:nvSpPr>
          <p:cNvPr id="34" name="Text 29"/>
          <p:cNvSpPr/>
          <p:nvPr/>
        </p:nvSpPr>
        <p:spPr>
          <a:xfrm>
            <a:off x="6437376" y="5020056"/>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Emergency Compliance</a:t>
            </a:r>
            <a:endParaRPr lang="en-US" sz="1100" dirty="0"/>
          </a:p>
        </p:txBody>
      </p:sp>
      <p:sp>
        <p:nvSpPr>
          <p:cNvPr id="35" name="Shape 30"/>
          <p:cNvSpPr/>
          <p:nvPr/>
        </p:nvSpPr>
        <p:spPr>
          <a:xfrm>
            <a:off x="8723376" y="2011680"/>
            <a:ext cx="2542032" cy="4160520"/>
          </a:xfrm>
          <a:prstGeom prst="roundRect">
            <a:avLst>
              <a:gd name="adj" fmla="val 3597"/>
            </a:avLst>
          </a:prstGeom>
          <a:solidFill>
            <a:srgbClr val="10294D"/>
          </a:solidFill>
          <a:ln w="12700">
            <a:solidFill>
              <a:srgbClr val="1C3A66"/>
            </a:solidFill>
            <a:prstDash val="solid"/>
          </a:ln>
        </p:spPr>
      </p:sp>
      <p:sp>
        <p:nvSpPr>
          <p:cNvPr id="36" name="Shape 31"/>
          <p:cNvSpPr/>
          <p:nvPr/>
        </p:nvSpPr>
        <p:spPr>
          <a:xfrm>
            <a:off x="9605772" y="2217420"/>
            <a:ext cx="777240" cy="777240"/>
          </a:xfrm>
          <a:prstGeom prst="ellipse">
            <a:avLst/>
          </a:prstGeom>
          <a:solidFill>
            <a:srgbClr val="67D6A6"/>
          </a:solidFill>
          <a:ln/>
        </p:spPr>
      </p:sp>
      <p:pic>
        <p:nvPicPr>
          <p:cNvPr id="37" name="Image 3" descr="/home/claude/sentinelai/images/tools_dark.png">    </p:cNvPr>
          <p:cNvPicPr>
            <a:picLocks noChangeAspect="1"/>
          </p:cNvPicPr>
          <p:nvPr/>
        </p:nvPicPr>
        <p:blipFill>
          <a:blip r:embed="rId4"/>
          <a:stretch>
            <a:fillRect/>
          </a:stretch>
        </p:blipFill>
        <p:spPr>
          <a:xfrm>
            <a:off x="9800082" y="2411730"/>
            <a:ext cx="388620" cy="388620"/>
          </a:xfrm>
          <a:prstGeom prst="rect">
            <a:avLst/>
          </a:prstGeom>
        </p:spPr>
      </p:pic>
      <p:sp>
        <p:nvSpPr>
          <p:cNvPr id="38" name="Text 32"/>
          <p:cNvSpPr/>
          <p:nvPr/>
        </p:nvSpPr>
        <p:spPr>
          <a:xfrm>
            <a:off x="8814816" y="3154680"/>
            <a:ext cx="2359152"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Facility Agent</a:t>
            </a:r>
            <a:endParaRPr lang="en-US" sz="1450" dirty="0"/>
          </a:p>
        </p:txBody>
      </p:sp>
      <p:sp>
        <p:nvSpPr>
          <p:cNvPr id="39" name="Shape 33"/>
          <p:cNvSpPr/>
          <p:nvPr/>
        </p:nvSpPr>
        <p:spPr>
          <a:xfrm>
            <a:off x="8979408" y="3794760"/>
            <a:ext cx="82296" cy="82296"/>
          </a:xfrm>
          <a:prstGeom prst="ellipse">
            <a:avLst/>
          </a:prstGeom>
          <a:solidFill>
            <a:srgbClr val="67D6A6"/>
          </a:solidFill>
          <a:ln/>
        </p:spPr>
      </p:sp>
      <p:sp>
        <p:nvSpPr>
          <p:cNvPr id="40" name="Text 34"/>
          <p:cNvSpPr/>
          <p:nvPr/>
        </p:nvSpPr>
        <p:spPr>
          <a:xfrm>
            <a:off x="9162288" y="3703320"/>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Infrastructure Health Score</a:t>
            </a:r>
            <a:endParaRPr lang="en-US" sz="1100" dirty="0"/>
          </a:p>
        </p:txBody>
      </p:sp>
      <p:sp>
        <p:nvSpPr>
          <p:cNvPr id="41" name="Shape 35"/>
          <p:cNvSpPr/>
          <p:nvPr/>
        </p:nvSpPr>
        <p:spPr>
          <a:xfrm>
            <a:off x="8979408" y="4453128"/>
            <a:ext cx="82296" cy="82296"/>
          </a:xfrm>
          <a:prstGeom prst="ellipse">
            <a:avLst/>
          </a:prstGeom>
          <a:solidFill>
            <a:srgbClr val="67D6A6"/>
          </a:solidFill>
          <a:ln/>
        </p:spPr>
      </p:sp>
      <p:sp>
        <p:nvSpPr>
          <p:cNvPr id="42" name="Text 36"/>
          <p:cNvSpPr/>
          <p:nvPr/>
        </p:nvSpPr>
        <p:spPr>
          <a:xfrm>
            <a:off x="9162288" y="4361688"/>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Equipment Optimization</a:t>
            </a:r>
            <a:endParaRPr lang="en-US" sz="1100" dirty="0"/>
          </a:p>
        </p:txBody>
      </p:sp>
      <p:sp>
        <p:nvSpPr>
          <p:cNvPr id="43" name="Shape 37"/>
          <p:cNvSpPr/>
          <p:nvPr/>
        </p:nvSpPr>
        <p:spPr>
          <a:xfrm>
            <a:off x="8979408" y="5111496"/>
            <a:ext cx="82296" cy="82296"/>
          </a:xfrm>
          <a:prstGeom prst="ellipse">
            <a:avLst/>
          </a:prstGeom>
          <a:solidFill>
            <a:srgbClr val="67D6A6"/>
          </a:solidFill>
          <a:ln/>
        </p:spPr>
      </p:sp>
      <p:sp>
        <p:nvSpPr>
          <p:cNvPr id="44" name="Text 38"/>
          <p:cNvSpPr/>
          <p:nvPr/>
        </p:nvSpPr>
        <p:spPr>
          <a:xfrm>
            <a:off x="9162288" y="5020056"/>
            <a:ext cx="1947672" cy="502920"/>
          </a:xfrm>
          <a:prstGeom prst="rect">
            <a:avLst/>
          </a:prstGeom>
          <a:noFill/>
          <a:ln/>
        </p:spPr>
        <p:txBody>
          <a:bodyPr wrap="square" lIns="0" tIns="0" rIns="0" bIns="0" rtlCol="0" anchor="t"/>
          <a:lstStyle/>
          <a:p>
            <a:pPr indent="0" marL="0">
              <a:lnSpc>
                <a:spcPct val="100000"/>
              </a:lnSpc>
              <a:buNone/>
            </a:pPr>
            <a:r>
              <a:rPr lang="en-US" sz="1100" dirty="0">
                <a:solidFill>
                  <a:srgbClr val="D7E2F0"/>
                </a:solidFill>
                <a:latin typeface="Calibri" pitchFamily="34" charset="0"/>
                <a:ea typeface="Calibri" pitchFamily="34" charset="-122"/>
                <a:cs typeface="Calibri" pitchFamily="34" charset="-120"/>
              </a:rPr>
              <a:t>Predictive Recommendations</a:t>
            </a:r>
            <a:endParaRPr lang="en-US" sz="1100" dirty="0"/>
          </a:p>
        </p:txBody>
      </p:sp>
      <p:sp>
        <p:nvSpPr>
          <p:cNvPr id="46" name="Text 39"/>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B7BA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TECHNOLOGY STACK</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Core Technologies</a:t>
            </a:r>
            <a:endParaRPr lang="en-US" sz="3000" dirty="0"/>
          </a:p>
        </p:txBody>
      </p:sp>
      <p:sp>
        <p:nvSpPr>
          <p:cNvPr id="4" name="Shape 2"/>
          <p:cNvSpPr/>
          <p:nvPr/>
        </p:nvSpPr>
        <p:spPr>
          <a:xfrm>
            <a:off x="548640" y="1691640"/>
            <a:ext cx="2542032" cy="2103120"/>
          </a:xfrm>
          <a:prstGeom prst="roundRect">
            <a:avLst>
              <a:gd name="adj" fmla="val 3913"/>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5" name="Shape 3"/>
          <p:cNvSpPr/>
          <p:nvPr/>
        </p:nvSpPr>
        <p:spPr>
          <a:xfrm>
            <a:off x="1490472" y="1911096"/>
            <a:ext cx="658368" cy="658368"/>
          </a:xfrm>
          <a:prstGeom prst="ellipse">
            <a:avLst/>
          </a:prstGeom>
          <a:solidFill>
            <a:srgbClr val="0B1F3A"/>
          </a:solidFill>
          <a:ln/>
        </p:spPr>
      </p:sp>
      <p:pic>
        <p:nvPicPr>
          <p:cNvPr id="6" name="Image 0" descr="/home/claude/sentinelai/images/react_white.png">    </p:cNvPr>
          <p:cNvPicPr>
            <a:picLocks noChangeAspect="1"/>
          </p:cNvPicPr>
          <p:nvPr/>
        </p:nvPicPr>
        <p:blipFill>
          <a:blip r:embed="rId1"/>
          <a:stretch>
            <a:fillRect/>
          </a:stretch>
        </p:blipFill>
        <p:spPr>
          <a:xfrm>
            <a:off x="1655064" y="2075688"/>
            <a:ext cx="329184" cy="329184"/>
          </a:xfrm>
          <a:prstGeom prst="rect">
            <a:avLst/>
          </a:prstGeom>
        </p:spPr>
      </p:pic>
      <p:sp>
        <p:nvSpPr>
          <p:cNvPr id="7" name="Text 4"/>
          <p:cNvSpPr/>
          <p:nvPr/>
        </p:nvSpPr>
        <p:spPr>
          <a:xfrm>
            <a:off x="685800" y="2743200"/>
            <a:ext cx="2267712"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Frontend</a:t>
            </a:r>
            <a:endParaRPr lang="en-US" sz="1300" dirty="0"/>
          </a:p>
        </p:txBody>
      </p:sp>
      <p:sp>
        <p:nvSpPr>
          <p:cNvPr id="8" name="Text 5"/>
          <p:cNvSpPr/>
          <p:nvPr/>
        </p:nvSpPr>
        <p:spPr>
          <a:xfrm>
            <a:off x="685800" y="3108960"/>
            <a:ext cx="2267712" cy="594360"/>
          </a:xfrm>
          <a:prstGeom prst="rect">
            <a:avLst/>
          </a:prstGeom>
          <a:noFill/>
          <a:ln/>
        </p:spPr>
        <p:txBody>
          <a:bodyPr wrap="square" lIns="0" tIns="0" rIns="0" bIns="0" rtlCol="0" anchor="ctr"/>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React, Next.js, Tailwind CSS</a:t>
            </a:r>
            <a:endParaRPr lang="en-US" sz="1050" dirty="0"/>
          </a:p>
        </p:txBody>
      </p:sp>
      <p:sp>
        <p:nvSpPr>
          <p:cNvPr id="9" name="Shape 6"/>
          <p:cNvSpPr/>
          <p:nvPr/>
        </p:nvSpPr>
        <p:spPr>
          <a:xfrm>
            <a:off x="3291840" y="1691640"/>
            <a:ext cx="2542032" cy="2103120"/>
          </a:xfrm>
          <a:prstGeom prst="roundRect">
            <a:avLst>
              <a:gd name="adj" fmla="val 3913"/>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10" name="Shape 7"/>
          <p:cNvSpPr/>
          <p:nvPr/>
        </p:nvSpPr>
        <p:spPr>
          <a:xfrm>
            <a:off x="4233672" y="1911096"/>
            <a:ext cx="658368" cy="658368"/>
          </a:xfrm>
          <a:prstGeom prst="ellipse">
            <a:avLst/>
          </a:prstGeom>
          <a:solidFill>
            <a:srgbClr val="0B1F3A"/>
          </a:solidFill>
          <a:ln/>
        </p:spPr>
      </p:sp>
      <p:pic>
        <p:nvPicPr>
          <p:cNvPr id="11" name="Image 1" descr="/home/claude/sentinelai/images/server_white.png">    </p:cNvPr>
          <p:cNvPicPr>
            <a:picLocks noChangeAspect="1"/>
          </p:cNvPicPr>
          <p:nvPr/>
        </p:nvPicPr>
        <p:blipFill>
          <a:blip r:embed="rId2"/>
          <a:stretch>
            <a:fillRect/>
          </a:stretch>
        </p:blipFill>
        <p:spPr>
          <a:xfrm>
            <a:off x="4398264" y="2075688"/>
            <a:ext cx="329184" cy="329184"/>
          </a:xfrm>
          <a:prstGeom prst="rect">
            <a:avLst/>
          </a:prstGeom>
        </p:spPr>
      </p:pic>
      <p:sp>
        <p:nvSpPr>
          <p:cNvPr id="12" name="Text 8"/>
          <p:cNvSpPr/>
          <p:nvPr/>
        </p:nvSpPr>
        <p:spPr>
          <a:xfrm>
            <a:off x="3429000" y="2743200"/>
            <a:ext cx="2267712"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Backend</a:t>
            </a:r>
            <a:endParaRPr lang="en-US" sz="1300" dirty="0"/>
          </a:p>
        </p:txBody>
      </p:sp>
      <p:sp>
        <p:nvSpPr>
          <p:cNvPr id="13" name="Text 9"/>
          <p:cNvSpPr/>
          <p:nvPr/>
        </p:nvSpPr>
        <p:spPr>
          <a:xfrm>
            <a:off x="3429000" y="3108960"/>
            <a:ext cx="2267712" cy="594360"/>
          </a:xfrm>
          <a:prstGeom prst="rect">
            <a:avLst/>
          </a:prstGeom>
          <a:noFill/>
          <a:ln/>
        </p:spPr>
        <p:txBody>
          <a:bodyPr wrap="square" lIns="0" tIns="0" rIns="0" bIns="0" rtlCol="0" anchor="ctr"/>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Node.js, Express.js</a:t>
            </a:r>
            <a:endParaRPr lang="en-US" sz="1050" dirty="0"/>
          </a:p>
        </p:txBody>
      </p:sp>
      <p:sp>
        <p:nvSpPr>
          <p:cNvPr id="14" name="Shape 10"/>
          <p:cNvSpPr/>
          <p:nvPr/>
        </p:nvSpPr>
        <p:spPr>
          <a:xfrm>
            <a:off x="6035040" y="1691640"/>
            <a:ext cx="2542032" cy="2103120"/>
          </a:xfrm>
          <a:prstGeom prst="roundRect">
            <a:avLst>
              <a:gd name="adj" fmla="val 3913"/>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15" name="Shape 11"/>
          <p:cNvSpPr/>
          <p:nvPr/>
        </p:nvSpPr>
        <p:spPr>
          <a:xfrm>
            <a:off x="6976872" y="1911096"/>
            <a:ext cx="658368" cy="658368"/>
          </a:xfrm>
          <a:prstGeom prst="ellipse">
            <a:avLst/>
          </a:prstGeom>
          <a:solidFill>
            <a:srgbClr val="0B1F3A"/>
          </a:solidFill>
          <a:ln/>
        </p:spPr>
      </p:sp>
      <p:pic>
        <p:nvPicPr>
          <p:cNvPr id="16" name="Image 2" descr="/home/claude/sentinelai/images/database_white.png">    </p:cNvPr>
          <p:cNvPicPr>
            <a:picLocks noChangeAspect="1"/>
          </p:cNvPicPr>
          <p:nvPr/>
        </p:nvPicPr>
        <p:blipFill>
          <a:blip r:embed="rId3"/>
          <a:stretch>
            <a:fillRect/>
          </a:stretch>
        </p:blipFill>
        <p:spPr>
          <a:xfrm>
            <a:off x="7141464" y="2075688"/>
            <a:ext cx="329184" cy="329184"/>
          </a:xfrm>
          <a:prstGeom prst="rect">
            <a:avLst/>
          </a:prstGeom>
        </p:spPr>
      </p:pic>
      <p:sp>
        <p:nvSpPr>
          <p:cNvPr id="17" name="Text 12"/>
          <p:cNvSpPr/>
          <p:nvPr/>
        </p:nvSpPr>
        <p:spPr>
          <a:xfrm>
            <a:off x="6172200" y="2743200"/>
            <a:ext cx="2267712"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Database</a:t>
            </a:r>
            <a:endParaRPr lang="en-US" sz="1300" dirty="0"/>
          </a:p>
        </p:txBody>
      </p:sp>
      <p:sp>
        <p:nvSpPr>
          <p:cNvPr id="18" name="Text 13"/>
          <p:cNvSpPr/>
          <p:nvPr/>
        </p:nvSpPr>
        <p:spPr>
          <a:xfrm>
            <a:off x="6172200" y="3108960"/>
            <a:ext cx="2267712" cy="594360"/>
          </a:xfrm>
          <a:prstGeom prst="rect">
            <a:avLst/>
          </a:prstGeom>
          <a:noFill/>
          <a:ln/>
        </p:spPr>
        <p:txBody>
          <a:bodyPr wrap="square" lIns="0" tIns="0" rIns="0" bIns="0" rtlCol="0" anchor="ctr"/>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MongoDB</a:t>
            </a:r>
            <a:endParaRPr lang="en-US" sz="1050" dirty="0"/>
          </a:p>
        </p:txBody>
      </p:sp>
      <p:sp>
        <p:nvSpPr>
          <p:cNvPr id="19" name="Shape 14"/>
          <p:cNvSpPr/>
          <p:nvPr/>
        </p:nvSpPr>
        <p:spPr>
          <a:xfrm>
            <a:off x="8778240" y="1691640"/>
            <a:ext cx="2542032" cy="2103120"/>
          </a:xfrm>
          <a:prstGeom prst="roundRect">
            <a:avLst>
              <a:gd name="adj" fmla="val 3913"/>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20" name="Shape 15"/>
          <p:cNvSpPr/>
          <p:nvPr/>
        </p:nvSpPr>
        <p:spPr>
          <a:xfrm>
            <a:off x="9720072" y="1911096"/>
            <a:ext cx="658368" cy="658368"/>
          </a:xfrm>
          <a:prstGeom prst="ellipse">
            <a:avLst/>
          </a:prstGeom>
          <a:solidFill>
            <a:srgbClr val="0B1F3A"/>
          </a:solidFill>
          <a:ln/>
        </p:spPr>
      </p:sp>
      <p:pic>
        <p:nvPicPr>
          <p:cNvPr id="21" name="Image 3" descr="/home/claude/sentinelai/images/eye_white.png">    </p:cNvPr>
          <p:cNvPicPr>
            <a:picLocks noChangeAspect="1"/>
          </p:cNvPicPr>
          <p:nvPr/>
        </p:nvPicPr>
        <p:blipFill>
          <a:blip r:embed="rId4"/>
          <a:stretch>
            <a:fillRect/>
          </a:stretch>
        </p:blipFill>
        <p:spPr>
          <a:xfrm>
            <a:off x="9884664" y="2075688"/>
            <a:ext cx="329184" cy="329184"/>
          </a:xfrm>
          <a:prstGeom prst="rect">
            <a:avLst/>
          </a:prstGeom>
        </p:spPr>
      </p:pic>
      <p:sp>
        <p:nvSpPr>
          <p:cNvPr id="22" name="Text 16"/>
          <p:cNvSpPr/>
          <p:nvPr/>
        </p:nvSpPr>
        <p:spPr>
          <a:xfrm>
            <a:off x="8915400" y="2743200"/>
            <a:ext cx="2267712"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Computer Vision</a:t>
            </a:r>
            <a:endParaRPr lang="en-US" sz="1300" dirty="0"/>
          </a:p>
        </p:txBody>
      </p:sp>
      <p:sp>
        <p:nvSpPr>
          <p:cNvPr id="23" name="Text 17"/>
          <p:cNvSpPr/>
          <p:nvPr/>
        </p:nvSpPr>
        <p:spPr>
          <a:xfrm>
            <a:off x="8915400" y="3108960"/>
            <a:ext cx="2267712" cy="594360"/>
          </a:xfrm>
          <a:prstGeom prst="rect">
            <a:avLst/>
          </a:prstGeom>
          <a:noFill/>
          <a:ln/>
        </p:spPr>
        <p:txBody>
          <a:bodyPr wrap="square" lIns="0" tIns="0" rIns="0" bIns="0" rtlCol="0" anchor="ctr"/>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TensorFlow.js, BlazeFace</a:t>
            </a:r>
            <a:endParaRPr lang="en-US" sz="1050" dirty="0"/>
          </a:p>
        </p:txBody>
      </p:sp>
      <p:sp>
        <p:nvSpPr>
          <p:cNvPr id="24" name="Shape 18"/>
          <p:cNvSpPr/>
          <p:nvPr/>
        </p:nvSpPr>
        <p:spPr>
          <a:xfrm>
            <a:off x="548640" y="4023360"/>
            <a:ext cx="2542032" cy="2103120"/>
          </a:xfrm>
          <a:prstGeom prst="roundRect">
            <a:avLst>
              <a:gd name="adj" fmla="val 3913"/>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25" name="Shape 19"/>
          <p:cNvSpPr/>
          <p:nvPr/>
        </p:nvSpPr>
        <p:spPr>
          <a:xfrm>
            <a:off x="1490472" y="4242816"/>
            <a:ext cx="658368" cy="658368"/>
          </a:xfrm>
          <a:prstGeom prst="ellipse">
            <a:avLst/>
          </a:prstGeom>
          <a:solidFill>
            <a:srgbClr val="0B1F3A"/>
          </a:solidFill>
          <a:ln/>
        </p:spPr>
      </p:sp>
      <p:pic>
        <p:nvPicPr>
          <p:cNvPr id="26" name="Image 4" descr="/home/claude/sentinelai/images/brain_white.png">    </p:cNvPr>
          <p:cNvPicPr>
            <a:picLocks noChangeAspect="1"/>
          </p:cNvPicPr>
          <p:nvPr/>
        </p:nvPicPr>
        <p:blipFill>
          <a:blip r:embed="rId5"/>
          <a:stretch>
            <a:fillRect/>
          </a:stretch>
        </p:blipFill>
        <p:spPr>
          <a:xfrm>
            <a:off x="1655064" y="4407408"/>
            <a:ext cx="329184" cy="329184"/>
          </a:xfrm>
          <a:prstGeom prst="rect">
            <a:avLst/>
          </a:prstGeom>
        </p:spPr>
      </p:pic>
      <p:sp>
        <p:nvSpPr>
          <p:cNvPr id="27" name="Text 20"/>
          <p:cNvSpPr/>
          <p:nvPr/>
        </p:nvSpPr>
        <p:spPr>
          <a:xfrm>
            <a:off x="685800" y="5074920"/>
            <a:ext cx="2267712"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AI Reasoning</a:t>
            </a:r>
            <a:endParaRPr lang="en-US" sz="1300" dirty="0"/>
          </a:p>
        </p:txBody>
      </p:sp>
      <p:sp>
        <p:nvSpPr>
          <p:cNvPr id="28" name="Text 21"/>
          <p:cNvSpPr/>
          <p:nvPr/>
        </p:nvSpPr>
        <p:spPr>
          <a:xfrm>
            <a:off x="685800" y="5440680"/>
            <a:ext cx="2267712" cy="594360"/>
          </a:xfrm>
          <a:prstGeom prst="rect">
            <a:avLst/>
          </a:prstGeom>
          <a:noFill/>
          <a:ln/>
        </p:spPr>
        <p:txBody>
          <a:bodyPr wrap="square" lIns="0" tIns="0" rIns="0" bIns="0" rtlCol="0" anchor="ctr"/>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Multi-Agent Architecture</a:t>
            </a:r>
            <a:endParaRPr lang="en-US" sz="1050" dirty="0"/>
          </a:p>
        </p:txBody>
      </p:sp>
      <p:sp>
        <p:nvSpPr>
          <p:cNvPr id="29" name="Shape 22"/>
          <p:cNvSpPr/>
          <p:nvPr/>
        </p:nvSpPr>
        <p:spPr>
          <a:xfrm>
            <a:off x="3291840" y="4023360"/>
            <a:ext cx="2542032" cy="2103120"/>
          </a:xfrm>
          <a:prstGeom prst="roundRect">
            <a:avLst>
              <a:gd name="adj" fmla="val 3913"/>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30" name="Shape 23"/>
          <p:cNvSpPr/>
          <p:nvPr/>
        </p:nvSpPr>
        <p:spPr>
          <a:xfrm>
            <a:off x="4233672" y="4242816"/>
            <a:ext cx="658368" cy="658368"/>
          </a:xfrm>
          <a:prstGeom prst="ellipse">
            <a:avLst/>
          </a:prstGeom>
          <a:solidFill>
            <a:srgbClr val="0B1F3A"/>
          </a:solidFill>
          <a:ln/>
        </p:spPr>
      </p:sp>
      <p:pic>
        <p:nvPicPr>
          <p:cNvPr id="31" name="Image 5" descr="/home/claude/sentinelai/images/cubes_white.png">    </p:cNvPr>
          <p:cNvPicPr>
            <a:picLocks noChangeAspect="1"/>
          </p:cNvPicPr>
          <p:nvPr/>
        </p:nvPicPr>
        <p:blipFill>
          <a:blip r:embed="rId6"/>
          <a:stretch>
            <a:fillRect/>
          </a:stretch>
        </p:blipFill>
        <p:spPr>
          <a:xfrm>
            <a:off x="4398264" y="4407408"/>
            <a:ext cx="329184" cy="329184"/>
          </a:xfrm>
          <a:prstGeom prst="rect">
            <a:avLst/>
          </a:prstGeom>
        </p:spPr>
      </p:pic>
      <p:sp>
        <p:nvSpPr>
          <p:cNvPr id="32" name="Text 24"/>
          <p:cNvSpPr/>
          <p:nvPr/>
        </p:nvSpPr>
        <p:spPr>
          <a:xfrm>
            <a:off x="3429000" y="5074920"/>
            <a:ext cx="2267712"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State Management</a:t>
            </a:r>
            <a:endParaRPr lang="en-US" sz="1300" dirty="0"/>
          </a:p>
        </p:txBody>
      </p:sp>
      <p:sp>
        <p:nvSpPr>
          <p:cNvPr id="33" name="Text 25"/>
          <p:cNvSpPr/>
          <p:nvPr/>
        </p:nvSpPr>
        <p:spPr>
          <a:xfrm>
            <a:off x="3429000" y="5440680"/>
            <a:ext cx="2267712" cy="594360"/>
          </a:xfrm>
          <a:prstGeom prst="rect">
            <a:avLst/>
          </a:prstGeom>
          <a:noFill/>
          <a:ln/>
        </p:spPr>
        <p:txBody>
          <a:bodyPr wrap="square" lIns="0" tIns="0" rIns="0" bIns="0" rtlCol="0" anchor="ctr"/>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Digital Twin</a:t>
            </a:r>
            <a:endParaRPr lang="en-US" sz="1050" dirty="0"/>
          </a:p>
        </p:txBody>
      </p:sp>
      <p:sp>
        <p:nvSpPr>
          <p:cNvPr id="34" name="Shape 26"/>
          <p:cNvSpPr/>
          <p:nvPr/>
        </p:nvSpPr>
        <p:spPr>
          <a:xfrm>
            <a:off x="6035040" y="4023360"/>
            <a:ext cx="2542032" cy="2103120"/>
          </a:xfrm>
          <a:prstGeom prst="roundRect">
            <a:avLst>
              <a:gd name="adj" fmla="val 3913"/>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35" name="Shape 27"/>
          <p:cNvSpPr/>
          <p:nvPr/>
        </p:nvSpPr>
        <p:spPr>
          <a:xfrm>
            <a:off x="6976872" y="4242816"/>
            <a:ext cx="658368" cy="658368"/>
          </a:xfrm>
          <a:prstGeom prst="ellipse">
            <a:avLst/>
          </a:prstGeom>
          <a:solidFill>
            <a:srgbClr val="0B1F3A"/>
          </a:solidFill>
          <a:ln/>
        </p:spPr>
      </p:sp>
      <p:pic>
        <p:nvPicPr>
          <p:cNvPr id="36" name="Image 6" descr="/home/claude/sentinelai/images/chip_white.png">    </p:cNvPr>
          <p:cNvPicPr>
            <a:picLocks noChangeAspect="1"/>
          </p:cNvPicPr>
          <p:nvPr/>
        </p:nvPicPr>
        <p:blipFill>
          <a:blip r:embed="rId7"/>
          <a:stretch>
            <a:fillRect/>
          </a:stretch>
        </p:blipFill>
        <p:spPr>
          <a:xfrm>
            <a:off x="7141464" y="4407408"/>
            <a:ext cx="329184" cy="329184"/>
          </a:xfrm>
          <a:prstGeom prst="rect">
            <a:avLst/>
          </a:prstGeom>
        </p:spPr>
      </p:pic>
      <p:sp>
        <p:nvSpPr>
          <p:cNvPr id="37" name="Text 28"/>
          <p:cNvSpPr/>
          <p:nvPr/>
        </p:nvSpPr>
        <p:spPr>
          <a:xfrm>
            <a:off x="6172200" y="5074920"/>
            <a:ext cx="2267712"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Automation</a:t>
            </a:r>
            <a:endParaRPr lang="en-US" sz="1300" dirty="0"/>
          </a:p>
        </p:txBody>
      </p:sp>
      <p:sp>
        <p:nvSpPr>
          <p:cNvPr id="38" name="Text 29"/>
          <p:cNvSpPr/>
          <p:nvPr/>
        </p:nvSpPr>
        <p:spPr>
          <a:xfrm>
            <a:off x="6172200" y="5440680"/>
            <a:ext cx="2267712" cy="594360"/>
          </a:xfrm>
          <a:prstGeom prst="rect">
            <a:avLst/>
          </a:prstGeom>
          <a:noFill/>
          <a:ln/>
        </p:spPr>
        <p:txBody>
          <a:bodyPr wrap="square" lIns="0" tIns="0" rIns="0" bIns="0" rtlCol="0" anchor="ctr"/>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ESP32, IoT Devices</a:t>
            </a:r>
            <a:endParaRPr lang="en-US" sz="1050" dirty="0"/>
          </a:p>
        </p:txBody>
      </p:sp>
      <p:sp>
        <p:nvSpPr>
          <p:cNvPr id="39" name="Shape 30"/>
          <p:cNvSpPr/>
          <p:nvPr/>
        </p:nvSpPr>
        <p:spPr>
          <a:xfrm>
            <a:off x="8778240" y="4023360"/>
            <a:ext cx="2542032" cy="2103120"/>
          </a:xfrm>
          <a:prstGeom prst="roundRect">
            <a:avLst>
              <a:gd name="adj" fmla="val 3913"/>
            </a:avLst>
          </a:prstGeom>
          <a:solidFill>
            <a:srgbClr val="FFFFFF"/>
          </a:solidFill>
          <a:ln w="12700">
            <a:solidFill>
              <a:srgbClr val="DCE3EC"/>
            </a:solidFill>
            <a:prstDash val="solid"/>
          </a:ln>
          <a:effectLst>
            <a:outerShdw sx="100000" sy="100000" kx="0" ky="0" algn="bl" rotWithShape="0" blurRad="88900" dist="38100" dir="2700000">
              <a:srgbClr val="000000">
                <a:alpha val="18000"/>
              </a:srgbClr>
            </a:outerShdw>
          </a:effectLst>
        </p:spPr>
      </p:sp>
      <p:sp>
        <p:nvSpPr>
          <p:cNvPr id="40" name="Shape 31"/>
          <p:cNvSpPr/>
          <p:nvPr/>
        </p:nvSpPr>
        <p:spPr>
          <a:xfrm>
            <a:off x="9720072" y="4242816"/>
            <a:ext cx="658368" cy="658368"/>
          </a:xfrm>
          <a:prstGeom prst="ellipse">
            <a:avLst/>
          </a:prstGeom>
          <a:solidFill>
            <a:srgbClr val="0B1F3A"/>
          </a:solidFill>
          <a:ln/>
        </p:spPr>
      </p:sp>
      <p:pic>
        <p:nvPicPr>
          <p:cNvPr id="41" name="Image 7" descr="/home/claude/sentinelai/images/cloud_white.png">    </p:cNvPr>
          <p:cNvPicPr>
            <a:picLocks noChangeAspect="1"/>
          </p:cNvPicPr>
          <p:nvPr/>
        </p:nvPicPr>
        <p:blipFill>
          <a:blip r:embed="rId8"/>
          <a:stretch>
            <a:fillRect/>
          </a:stretch>
        </p:blipFill>
        <p:spPr>
          <a:xfrm>
            <a:off x="9884664" y="4407408"/>
            <a:ext cx="329184" cy="329184"/>
          </a:xfrm>
          <a:prstGeom prst="rect">
            <a:avLst/>
          </a:prstGeom>
        </p:spPr>
      </p:pic>
      <p:sp>
        <p:nvSpPr>
          <p:cNvPr id="42" name="Text 32"/>
          <p:cNvSpPr/>
          <p:nvPr/>
        </p:nvSpPr>
        <p:spPr>
          <a:xfrm>
            <a:off x="8915400" y="5074920"/>
            <a:ext cx="2267712"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APIs</a:t>
            </a:r>
            <a:endParaRPr lang="en-US" sz="1300" dirty="0"/>
          </a:p>
        </p:txBody>
      </p:sp>
      <p:sp>
        <p:nvSpPr>
          <p:cNvPr id="43" name="Text 33"/>
          <p:cNvSpPr/>
          <p:nvPr/>
        </p:nvSpPr>
        <p:spPr>
          <a:xfrm>
            <a:off x="8915400" y="5440680"/>
            <a:ext cx="2267712" cy="594360"/>
          </a:xfrm>
          <a:prstGeom prst="rect">
            <a:avLst/>
          </a:prstGeom>
          <a:noFill/>
          <a:ln/>
        </p:spPr>
        <p:txBody>
          <a:bodyPr wrap="square" lIns="0" tIns="0" rIns="0" bIns="0" rtlCol="0" anchor="ctr"/>
          <a:lstStyle/>
          <a:p>
            <a:pPr algn="ctr" indent="0" marL="0">
              <a:lnSpc>
                <a:spcPct val="105000"/>
              </a:lnSpc>
              <a:buNone/>
            </a:pPr>
            <a:r>
              <a:rPr lang="en-US" sz="1050" dirty="0">
                <a:solidFill>
                  <a:srgbClr val="5B6B82"/>
                </a:solidFill>
                <a:latin typeface="Calibri" pitchFamily="34" charset="0"/>
                <a:ea typeface="Calibri" pitchFamily="34" charset="-122"/>
                <a:cs typeface="Calibri" pitchFamily="34" charset="-120"/>
              </a:rPr>
              <a:t>REST APIs</a:t>
            </a:r>
            <a:endParaRPr lang="en-US" sz="1050" dirty="0"/>
          </a:p>
        </p:txBody>
      </p:sp>
      <p:sp>
        <p:nvSpPr>
          <p:cNvPr id="45" name="Text 34"/>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A9B6C9"/>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PLATFORM CAPABILITIES</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Key Features</a:t>
            </a:r>
            <a:endParaRPr lang="en-US" sz="3000" dirty="0"/>
          </a:p>
        </p:txBody>
      </p:sp>
      <p:sp>
        <p:nvSpPr>
          <p:cNvPr id="4" name="Shape 2"/>
          <p:cNvSpPr/>
          <p:nvPr/>
        </p:nvSpPr>
        <p:spPr>
          <a:xfrm>
            <a:off x="548640" y="1691640"/>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5" name="Shape 3"/>
          <p:cNvSpPr/>
          <p:nvPr/>
        </p:nvSpPr>
        <p:spPr>
          <a:xfrm>
            <a:off x="800100" y="1860804"/>
            <a:ext cx="502920" cy="502920"/>
          </a:xfrm>
          <a:prstGeom prst="ellipse">
            <a:avLst/>
          </a:prstGeom>
          <a:solidFill>
            <a:srgbClr val="21C7C7"/>
          </a:solidFill>
          <a:ln/>
        </p:spPr>
      </p:sp>
      <p:pic>
        <p:nvPicPr>
          <p:cNvPr id="6" name="Image 0" descr="/home/claude/sentinelai/images/eye_white.png">    </p:cNvPr>
          <p:cNvPicPr>
            <a:picLocks noChangeAspect="1"/>
          </p:cNvPicPr>
          <p:nvPr/>
        </p:nvPicPr>
        <p:blipFill>
          <a:blip r:embed="rId1"/>
          <a:stretch>
            <a:fillRect/>
          </a:stretch>
        </p:blipFill>
        <p:spPr>
          <a:xfrm>
            <a:off x="925830" y="1986534"/>
            <a:ext cx="251460" cy="251460"/>
          </a:xfrm>
          <a:prstGeom prst="rect">
            <a:avLst/>
          </a:prstGeom>
        </p:spPr>
      </p:pic>
      <p:sp>
        <p:nvSpPr>
          <p:cNvPr id="7" name="Text 4"/>
          <p:cNvSpPr/>
          <p:nvPr/>
        </p:nvSpPr>
        <p:spPr>
          <a:xfrm>
            <a:off x="1417320" y="1691640"/>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Real-Time AI Perception Engine</a:t>
            </a:r>
            <a:endParaRPr lang="en-US" sz="1350" dirty="0"/>
          </a:p>
        </p:txBody>
      </p:sp>
      <p:sp>
        <p:nvSpPr>
          <p:cNvPr id="8" name="Shape 5"/>
          <p:cNvSpPr/>
          <p:nvPr/>
        </p:nvSpPr>
        <p:spPr>
          <a:xfrm>
            <a:off x="6080760" y="1691640"/>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9" name="Shape 6"/>
          <p:cNvSpPr/>
          <p:nvPr/>
        </p:nvSpPr>
        <p:spPr>
          <a:xfrm>
            <a:off x="6332220" y="1860804"/>
            <a:ext cx="502920" cy="502920"/>
          </a:xfrm>
          <a:prstGeom prst="ellipse">
            <a:avLst/>
          </a:prstGeom>
          <a:solidFill>
            <a:srgbClr val="21C7C7"/>
          </a:solidFill>
          <a:ln/>
        </p:spPr>
      </p:sp>
      <p:pic>
        <p:nvPicPr>
          <p:cNvPr id="10" name="Image 1" descr="/home/claude/sentinelai/images/cubes_white.png">    </p:cNvPr>
          <p:cNvPicPr>
            <a:picLocks noChangeAspect="1"/>
          </p:cNvPicPr>
          <p:nvPr/>
        </p:nvPicPr>
        <p:blipFill>
          <a:blip r:embed="rId2"/>
          <a:stretch>
            <a:fillRect/>
          </a:stretch>
        </p:blipFill>
        <p:spPr>
          <a:xfrm>
            <a:off x="6457950" y="1986534"/>
            <a:ext cx="251460" cy="251460"/>
          </a:xfrm>
          <a:prstGeom prst="rect">
            <a:avLst/>
          </a:prstGeom>
        </p:spPr>
      </p:pic>
      <p:sp>
        <p:nvSpPr>
          <p:cNvPr id="11" name="Text 7"/>
          <p:cNvSpPr/>
          <p:nvPr/>
        </p:nvSpPr>
        <p:spPr>
          <a:xfrm>
            <a:off x="6949440" y="1691640"/>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Digital Twin Environment Modeling</a:t>
            </a:r>
            <a:endParaRPr lang="en-US" sz="1350" dirty="0"/>
          </a:p>
        </p:txBody>
      </p:sp>
      <p:sp>
        <p:nvSpPr>
          <p:cNvPr id="12" name="Shape 8"/>
          <p:cNvSpPr/>
          <p:nvPr/>
        </p:nvSpPr>
        <p:spPr>
          <a:xfrm>
            <a:off x="548640" y="2670048"/>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3" name="Shape 9"/>
          <p:cNvSpPr/>
          <p:nvPr/>
        </p:nvSpPr>
        <p:spPr>
          <a:xfrm>
            <a:off x="800100" y="2839212"/>
            <a:ext cx="502920" cy="502920"/>
          </a:xfrm>
          <a:prstGeom prst="ellipse">
            <a:avLst/>
          </a:prstGeom>
          <a:solidFill>
            <a:srgbClr val="21C7C7"/>
          </a:solidFill>
          <a:ln/>
        </p:spPr>
      </p:sp>
      <p:pic>
        <p:nvPicPr>
          <p:cNvPr id="14" name="Image 2" descr="/home/claude/sentinelai/images/brain_white.png">    </p:cNvPr>
          <p:cNvPicPr>
            <a:picLocks noChangeAspect="1"/>
          </p:cNvPicPr>
          <p:nvPr/>
        </p:nvPicPr>
        <p:blipFill>
          <a:blip r:embed="rId3"/>
          <a:stretch>
            <a:fillRect/>
          </a:stretch>
        </p:blipFill>
        <p:spPr>
          <a:xfrm>
            <a:off x="925830" y="2964942"/>
            <a:ext cx="251460" cy="251460"/>
          </a:xfrm>
          <a:prstGeom prst="rect">
            <a:avLst/>
          </a:prstGeom>
        </p:spPr>
      </p:pic>
      <p:sp>
        <p:nvSpPr>
          <p:cNvPr id="15" name="Text 10"/>
          <p:cNvSpPr/>
          <p:nvPr/>
        </p:nvSpPr>
        <p:spPr>
          <a:xfrm>
            <a:off x="1417320" y="2670048"/>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Multi-Agent AI Reasoning</a:t>
            </a:r>
            <a:endParaRPr lang="en-US" sz="1350" dirty="0"/>
          </a:p>
        </p:txBody>
      </p:sp>
      <p:sp>
        <p:nvSpPr>
          <p:cNvPr id="16" name="Shape 11"/>
          <p:cNvSpPr/>
          <p:nvPr/>
        </p:nvSpPr>
        <p:spPr>
          <a:xfrm>
            <a:off x="6080760" y="2670048"/>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7" name="Shape 12"/>
          <p:cNvSpPr/>
          <p:nvPr/>
        </p:nvSpPr>
        <p:spPr>
          <a:xfrm>
            <a:off x="6332220" y="2839212"/>
            <a:ext cx="502920" cy="502920"/>
          </a:xfrm>
          <a:prstGeom prst="ellipse">
            <a:avLst/>
          </a:prstGeom>
          <a:solidFill>
            <a:srgbClr val="21C7C7"/>
          </a:solidFill>
          <a:ln/>
        </p:spPr>
      </p:sp>
      <p:pic>
        <p:nvPicPr>
          <p:cNvPr id="18" name="Image 3" descr="/home/claude/sentinelai/images/gauge_white.png">    </p:cNvPr>
          <p:cNvPicPr>
            <a:picLocks noChangeAspect="1"/>
          </p:cNvPicPr>
          <p:nvPr/>
        </p:nvPicPr>
        <p:blipFill>
          <a:blip r:embed="rId4"/>
          <a:stretch>
            <a:fillRect/>
          </a:stretch>
        </p:blipFill>
        <p:spPr>
          <a:xfrm>
            <a:off x="6457950" y="2964942"/>
            <a:ext cx="251460" cy="251460"/>
          </a:xfrm>
          <a:prstGeom prst="rect">
            <a:avLst/>
          </a:prstGeom>
        </p:spPr>
      </p:pic>
      <p:sp>
        <p:nvSpPr>
          <p:cNvPr id="19" name="Text 13"/>
          <p:cNvSpPr/>
          <p:nvPr/>
        </p:nvSpPr>
        <p:spPr>
          <a:xfrm>
            <a:off x="6949440" y="2670048"/>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Autonomous Decision Engine</a:t>
            </a:r>
            <a:endParaRPr lang="en-US" sz="1350" dirty="0"/>
          </a:p>
        </p:txBody>
      </p:sp>
      <p:sp>
        <p:nvSpPr>
          <p:cNvPr id="20" name="Shape 14"/>
          <p:cNvSpPr/>
          <p:nvPr/>
        </p:nvSpPr>
        <p:spPr>
          <a:xfrm>
            <a:off x="548640" y="3648456"/>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1" name="Shape 15"/>
          <p:cNvSpPr/>
          <p:nvPr/>
        </p:nvSpPr>
        <p:spPr>
          <a:xfrm>
            <a:off x="800100" y="3817620"/>
            <a:ext cx="502920" cy="502920"/>
          </a:xfrm>
          <a:prstGeom prst="ellipse">
            <a:avLst/>
          </a:prstGeom>
          <a:solidFill>
            <a:srgbClr val="21C7C7"/>
          </a:solidFill>
          <a:ln/>
        </p:spPr>
      </p:sp>
      <p:pic>
        <p:nvPicPr>
          <p:cNvPr id="22" name="Image 4" descr="/home/claude/sentinelai/images/cogs_white.png">    </p:cNvPr>
          <p:cNvPicPr>
            <a:picLocks noChangeAspect="1"/>
          </p:cNvPicPr>
          <p:nvPr/>
        </p:nvPicPr>
        <p:blipFill>
          <a:blip r:embed="rId5"/>
          <a:stretch>
            <a:fillRect/>
          </a:stretch>
        </p:blipFill>
        <p:spPr>
          <a:xfrm>
            <a:off x="925830" y="3943350"/>
            <a:ext cx="251460" cy="251460"/>
          </a:xfrm>
          <a:prstGeom prst="rect">
            <a:avLst/>
          </a:prstGeom>
        </p:spPr>
      </p:pic>
      <p:sp>
        <p:nvSpPr>
          <p:cNvPr id="23" name="Text 16"/>
          <p:cNvSpPr/>
          <p:nvPr/>
        </p:nvSpPr>
        <p:spPr>
          <a:xfrm>
            <a:off x="1417320" y="3648456"/>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Action Orchestration Engine</a:t>
            </a:r>
            <a:endParaRPr lang="en-US" sz="1350" dirty="0"/>
          </a:p>
        </p:txBody>
      </p:sp>
      <p:sp>
        <p:nvSpPr>
          <p:cNvPr id="24" name="Shape 17"/>
          <p:cNvSpPr/>
          <p:nvPr/>
        </p:nvSpPr>
        <p:spPr>
          <a:xfrm>
            <a:off x="6080760" y="3648456"/>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5" name="Shape 18"/>
          <p:cNvSpPr/>
          <p:nvPr/>
        </p:nvSpPr>
        <p:spPr>
          <a:xfrm>
            <a:off x="6332220" y="3817620"/>
            <a:ext cx="502920" cy="502920"/>
          </a:xfrm>
          <a:prstGeom prst="ellipse">
            <a:avLst/>
          </a:prstGeom>
          <a:solidFill>
            <a:srgbClr val="21C7C7"/>
          </a:solidFill>
          <a:ln/>
        </p:spPr>
      </p:sp>
      <p:pic>
        <p:nvPicPr>
          <p:cNvPr id="26" name="Image 5" descr="/home/claude/sentinelai/images/robot_white.png">    </p:cNvPr>
          <p:cNvPicPr>
            <a:picLocks noChangeAspect="1"/>
          </p:cNvPicPr>
          <p:nvPr/>
        </p:nvPicPr>
        <p:blipFill>
          <a:blip r:embed="rId6"/>
          <a:stretch>
            <a:fillRect/>
          </a:stretch>
        </p:blipFill>
        <p:spPr>
          <a:xfrm>
            <a:off x="6457950" y="3943350"/>
            <a:ext cx="251460" cy="251460"/>
          </a:xfrm>
          <a:prstGeom prst="rect">
            <a:avLst/>
          </a:prstGeom>
        </p:spPr>
      </p:pic>
      <p:sp>
        <p:nvSpPr>
          <p:cNvPr id="27" name="Text 19"/>
          <p:cNvSpPr/>
          <p:nvPr/>
        </p:nvSpPr>
        <p:spPr>
          <a:xfrm>
            <a:off x="6949440" y="3648456"/>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Executive AI Copilot</a:t>
            </a:r>
            <a:endParaRPr lang="en-US" sz="1350" dirty="0"/>
          </a:p>
        </p:txBody>
      </p:sp>
      <p:sp>
        <p:nvSpPr>
          <p:cNvPr id="28" name="Shape 20"/>
          <p:cNvSpPr/>
          <p:nvPr/>
        </p:nvSpPr>
        <p:spPr>
          <a:xfrm>
            <a:off x="548640" y="4626864"/>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9" name="Shape 21"/>
          <p:cNvSpPr/>
          <p:nvPr/>
        </p:nvSpPr>
        <p:spPr>
          <a:xfrm>
            <a:off x="800100" y="4796028"/>
            <a:ext cx="502920" cy="502920"/>
          </a:xfrm>
          <a:prstGeom prst="ellipse">
            <a:avLst/>
          </a:prstGeom>
          <a:solidFill>
            <a:srgbClr val="21C7C7"/>
          </a:solidFill>
          <a:ln/>
        </p:spPr>
      </p:sp>
      <p:pic>
        <p:nvPicPr>
          <p:cNvPr id="30" name="Image 6" descr="/home/claude/sentinelai/images/warning_white.png">    </p:cNvPr>
          <p:cNvPicPr>
            <a:picLocks noChangeAspect="1"/>
          </p:cNvPicPr>
          <p:nvPr/>
        </p:nvPicPr>
        <p:blipFill>
          <a:blip r:embed="rId7"/>
          <a:stretch>
            <a:fillRect/>
          </a:stretch>
        </p:blipFill>
        <p:spPr>
          <a:xfrm>
            <a:off x="925830" y="4921758"/>
            <a:ext cx="251460" cy="251460"/>
          </a:xfrm>
          <a:prstGeom prst="rect">
            <a:avLst/>
          </a:prstGeom>
        </p:spPr>
      </p:pic>
      <p:sp>
        <p:nvSpPr>
          <p:cNvPr id="31" name="Text 22"/>
          <p:cNvSpPr/>
          <p:nvPr/>
        </p:nvSpPr>
        <p:spPr>
          <a:xfrm>
            <a:off x="1417320" y="4626864"/>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Incident Management System</a:t>
            </a:r>
            <a:endParaRPr lang="en-US" sz="1350" dirty="0"/>
          </a:p>
        </p:txBody>
      </p:sp>
      <p:sp>
        <p:nvSpPr>
          <p:cNvPr id="32" name="Shape 23"/>
          <p:cNvSpPr/>
          <p:nvPr/>
        </p:nvSpPr>
        <p:spPr>
          <a:xfrm>
            <a:off x="6080760" y="4626864"/>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33" name="Shape 24"/>
          <p:cNvSpPr/>
          <p:nvPr/>
        </p:nvSpPr>
        <p:spPr>
          <a:xfrm>
            <a:off x="6332220" y="4796028"/>
            <a:ext cx="502920" cy="502920"/>
          </a:xfrm>
          <a:prstGeom prst="ellipse">
            <a:avLst/>
          </a:prstGeom>
          <a:solidFill>
            <a:srgbClr val="21C7C7"/>
          </a:solidFill>
          <a:ln/>
        </p:spPr>
      </p:sp>
      <p:pic>
        <p:nvPicPr>
          <p:cNvPr id="34" name="Image 7" descr="/home/claude/sentinelai/images/check_white.png">    </p:cNvPr>
          <p:cNvPicPr>
            <a:picLocks noChangeAspect="1"/>
          </p:cNvPicPr>
          <p:nvPr/>
        </p:nvPicPr>
        <p:blipFill>
          <a:blip r:embed="rId8"/>
          <a:stretch>
            <a:fillRect/>
          </a:stretch>
        </p:blipFill>
        <p:spPr>
          <a:xfrm>
            <a:off x="6457950" y="4921758"/>
            <a:ext cx="251460" cy="251460"/>
          </a:xfrm>
          <a:prstGeom prst="rect">
            <a:avLst/>
          </a:prstGeom>
        </p:spPr>
      </p:pic>
      <p:sp>
        <p:nvSpPr>
          <p:cNvPr id="35" name="Text 25"/>
          <p:cNvSpPr/>
          <p:nvPr/>
        </p:nvSpPr>
        <p:spPr>
          <a:xfrm>
            <a:off x="6949440" y="4626864"/>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Compliance Auditing</a:t>
            </a:r>
            <a:endParaRPr lang="en-US" sz="1350" dirty="0"/>
          </a:p>
        </p:txBody>
      </p:sp>
      <p:sp>
        <p:nvSpPr>
          <p:cNvPr id="36" name="Shape 26"/>
          <p:cNvSpPr/>
          <p:nvPr/>
        </p:nvSpPr>
        <p:spPr>
          <a:xfrm>
            <a:off x="548640" y="5605272"/>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37" name="Shape 27"/>
          <p:cNvSpPr/>
          <p:nvPr/>
        </p:nvSpPr>
        <p:spPr>
          <a:xfrm>
            <a:off x="800100" y="5774436"/>
            <a:ext cx="502920" cy="502920"/>
          </a:xfrm>
          <a:prstGeom prst="ellipse">
            <a:avLst/>
          </a:prstGeom>
          <a:solidFill>
            <a:srgbClr val="21C7C7"/>
          </a:solidFill>
          <a:ln/>
        </p:spPr>
      </p:sp>
      <p:pic>
        <p:nvPicPr>
          <p:cNvPr id="38" name="Image 8" descr="/home/claude/sentinelai/images/route_white.png">    </p:cNvPr>
          <p:cNvPicPr>
            <a:picLocks noChangeAspect="1"/>
          </p:cNvPicPr>
          <p:nvPr/>
        </p:nvPicPr>
        <p:blipFill>
          <a:blip r:embed="rId9"/>
          <a:stretch>
            <a:fillRect/>
          </a:stretch>
        </p:blipFill>
        <p:spPr>
          <a:xfrm>
            <a:off x="925830" y="5900166"/>
            <a:ext cx="251460" cy="251460"/>
          </a:xfrm>
          <a:prstGeom prst="rect">
            <a:avLst/>
          </a:prstGeom>
        </p:spPr>
      </p:pic>
      <p:sp>
        <p:nvSpPr>
          <p:cNvPr id="39" name="Text 28"/>
          <p:cNvSpPr/>
          <p:nvPr/>
        </p:nvSpPr>
        <p:spPr>
          <a:xfrm>
            <a:off x="1417320" y="5605272"/>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Action Logs &amp; Timeline Replay</a:t>
            </a:r>
            <a:endParaRPr lang="en-US" sz="1350" dirty="0"/>
          </a:p>
        </p:txBody>
      </p:sp>
      <p:sp>
        <p:nvSpPr>
          <p:cNvPr id="40" name="Shape 29"/>
          <p:cNvSpPr/>
          <p:nvPr/>
        </p:nvSpPr>
        <p:spPr>
          <a:xfrm>
            <a:off x="6080760" y="5605272"/>
            <a:ext cx="5257800" cy="841248"/>
          </a:xfrm>
          <a:prstGeom prst="roundRect">
            <a:avLst>
              <a:gd name="adj" fmla="val 8696"/>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41" name="Shape 30"/>
          <p:cNvSpPr/>
          <p:nvPr/>
        </p:nvSpPr>
        <p:spPr>
          <a:xfrm>
            <a:off x="6332220" y="5774436"/>
            <a:ext cx="502920" cy="502920"/>
          </a:xfrm>
          <a:prstGeom prst="ellipse">
            <a:avLst/>
          </a:prstGeom>
          <a:solidFill>
            <a:srgbClr val="21C7C7"/>
          </a:solidFill>
          <a:ln/>
        </p:spPr>
      </p:sp>
      <p:pic>
        <p:nvPicPr>
          <p:cNvPr id="42" name="Image 9" descr="/home/claude/sentinelai/images/chart_white.png">    </p:cNvPr>
          <p:cNvPicPr>
            <a:picLocks noChangeAspect="1"/>
          </p:cNvPicPr>
          <p:nvPr/>
        </p:nvPicPr>
        <p:blipFill>
          <a:blip r:embed="rId10"/>
          <a:stretch>
            <a:fillRect/>
          </a:stretch>
        </p:blipFill>
        <p:spPr>
          <a:xfrm>
            <a:off x="6457950" y="5900166"/>
            <a:ext cx="251460" cy="251460"/>
          </a:xfrm>
          <a:prstGeom prst="rect">
            <a:avLst/>
          </a:prstGeom>
        </p:spPr>
      </p:pic>
      <p:sp>
        <p:nvSpPr>
          <p:cNvPr id="43" name="Text 31"/>
          <p:cNvSpPr/>
          <p:nvPr/>
        </p:nvSpPr>
        <p:spPr>
          <a:xfrm>
            <a:off x="6949440" y="5605272"/>
            <a:ext cx="4251960" cy="841248"/>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ROI &amp; Business Analytics</a:t>
            </a:r>
            <a:endParaRPr lang="en-US" sz="1350" dirty="0"/>
          </a:p>
        </p:txBody>
      </p:sp>
      <p:sp>
        <p:nvSpPr>
          <p:cNvPr id="45" name="Text 32"/>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A9B6C9"/>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BUSINESS IMPACT</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Measurable Operational Outcomes</a:t>
            </a:r>
            <a:endParaRPr lang="en-US" sz="2800" dirty="0"/>
          </a:p>
        </p:txBody>
      </p:sp>
      <p:sp>
        <p:nvSpPr>
          <p:cNvPr id="4" name="Text 2"/>
          <p:cNvSpPr/>
          <p:nvPr/>
        </p:nvSpPr>
        <p:spPr>
          <a:xfrm>
            <a:off x="548640" y="1417320"/>
            <a:ext cx="10607040" cy="365760"/>
          </a:xfrm>
          <a:prstGeom prst="rect">
            <a:avLst/>
          </a:prstGeom>
          <a:noFill/>
          <a:ln/>
        </p:spPr>
        <p:txBody>
          <a:bodyPr wrap="square" lIns="0" tIns="0" rIns="0" bIns="0" rtlCol="0" anchor="ctr"/>
          <a:lstStyle/>
          <a:p>
            <a:pPr indent="0" marL="0">
              <a:buNone/>
            </a:pPr>
            <a:r>
              <a:rPr lang="en-US" sz="1300" dirty="0">
                <a:solidFill>
                  <a:srgbClr val="9FB3D1"/>
                </a:solidFill>
                <a:latin typeface="Calibri" pitchFamily="34" charset="0"/>
                <a:ea typeface="Calibri" pitchFamily="34" charset="-122"/>
                <a:cs typeface="Calibri" pitchFamily="34" charset="-120"/>
              </a:rPr>
              <a:t>SentinelAI X delivers measurable operational outcomes across security, energy, compliance, and facility management.</a:t>
            </a:r>
            <a:endParaRPr lang="en-US" sz="1300" dirty="0"/>
          </a:p>
        </p:txBody>
      </p:sp>
      <p:sp>
        <p:nvSpPr>
          <p:cNvPr id="5" name="Shape 3"/>
          <p:cNvSpPr/>
          <p:nvPr/>
        </p:nvSpPr>
        <p:spPr>
          <a:xfrm>
            <a:off x="548640" y="1965960"/>
            <a:ext cx="2542032" cy="1783080"/>
          </a:xfrm>
          <a:prstGeom prst="roundRect">
            <a:avLst>
              <a:gd name="adj" fmla="val 4615"/>
            </a:avLst>
          </a:prstGeom>
          <a:solidFill>
            <a:srgbClr val="10294D"/>
          </a:solidFill>
          <a:ln w="12700">
            <a:solidFill>
              <a:srgbClr val="1C3A66"/>
            </a:solidFill>
            <a:prstDash val="solid"/>
          </a:ln>
        </p:spPr>
      </p:sp>
      <p:sp>
        <p:nvSpPr>
          <p:cNvPr id="6" name="Shape 4"/>
          <p:cNvSpPr/>
          <p:nvPr/>
        </p:nvSpPr>
        <p:spPr>
          <a:xfrm>
            <a:off x="1522476" y="2235708"/>
            <a:ext cx="594360" cy="594360"/>
          </a:xfrm>
          <a:prstGeom prst="ellipse">
            <a:avLst/>
          </a:prstGeom>
          <a:solidFill>
            <a:srgbClr val="21C7C7"/>
          </a:solidFill>
          <a:ln/>
        </p:spPr>
      </p:sp>
      <p:pic>
        <p:nvPicPr>
          <p:cNvPr id="7" name="Image 0" descr="/home/claude/sentinelai/images/chart_white.png">    </p:cNvPr>
          <p:cNvPicPr>
            <a:picLocks noChangeAspect="1"/>
          </p:cNvPicPr>
          <p:nvPr/>
        </p:nvPicPr>
        <p:blipFill>
          <a:blip r:embed="rId1"/>
          <a:stretch>
            <a:fillRect/>
          </a:stretch>
        </p:blipFill>
        <p:spPr>
          <a:xfrm>
            <a:off x="1671066" y="2384298"/>
            <a:ext cx="297180" cy="297180"/>
          </a:xfrm>
          <a:prstGeom prst="rect">
            <a:avLst/>
          </a:prstGeom>
        </p:spPr>
      </p:pic>
      <p:sp>
        <p:nvSpPr>
          <p:cNvPr id="8" name="Text 5"/>
          <p:cNvSpPr/>
          <p:nvPr/>
        </p:nvSpPr>
        <p:spPr>
          <a:xfrm>
            <a:off x="685800" y="2971800"/>
            <a:ext cx="2267712" cy="68580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Reduced Manual Monitoring</a:t>
            </a:r>
            <a:endParaRPr lang="en-US" sz="1200" dirty="0"/>
          </a:p>
        </p:txBody>
      </p:sp>
      <p:sp>
        <p:nvSpPr>
          <p:cNvPr id="9" name="Shape 6"/>
          <p:cNvSpPr/>
          <p:nvPr/>
        </p:nvSpPr>
        <p:spPr>
          <a:xfrm>
            <a:off x="3273552" y="1965960"/>
            <a:ext cx="2542032" cy="1783080"/>
          </a:xfrm>
          <a:prstGeom prst="roundRect">
            <a:avLst>
              <a:gd name="adj" fmla="val 4615"/>
            </a:avLst>
          </a:prstGeom>
          <a:solidFill>
            <a:srgbClr val="10294D"/>
          </a:solidFill>
          <a:ln w="12700">
            <a:solidFill>
              <a:srgbClr val="1C3A66"/>
            </a:solidFill>
            <a:prstDash val="solid"/>
          </a:ln>
        </p:spPr>
      </p:sp>
      <p:sp>
        <p:nvSpPr>
          <p:cNvPr id="10" name="Shape 7"/>
          <p:cNvSpPr/>
          <p:nvPr/>
        </p:nvSpPr>
        <p:spPr>
          <a:xfrm>
            <a:off x="4247388" y="2235708"/>
            <a:ext cx="594360" cy="594360"/>
          </a:xfrm>
          <a:prstGeom prst="ellipse">
            <a:avLst/>
          </a:prstGeom>
          <a:solidFill>
            <a:srgbClr val="F2A33C"/>
          </a:solidFill>
          <a:ln/>
        </p:spPr>
      </p:sp>
      <p:pic>
        <p:nvPicPr>
          <p:cNvPr id="11" name="Image 1" descr="/home/claude/sentinelai/images/bolt_white.png">    </p:cNvPr>
          <p:cNvPicPr>
            <a:picLocks noChangeAspect="1"/>
          </p:cNvPicPr>
          <p:nvPr/>
        </p:nvPicPr>
        <p:blipFill>
          <a:blip r:embed="rId2"/>
          <a:stretch>
            <a:fillRect/>
          </a:stretch>
        </p:blipFill>
        <p:spPr>
          <a:xfrm>
            <a:off x="4395978" y="2384298"/>
            <a:ext cx="297180" cy="297180"/>
          </a:xfrm>
          <a:prstGeom prst="rect">
            <a:avLst/>
          </a:prstGeom>
        </p:spPr>
      </p:pic>
      <p:sp>
        <p:nvSpPr>
          <p:cNvPr id="12" name="Text 8"/>
          <p:cNvSpPr/>
          <p:nvPr/>
        </p:nvSpPr>
        <p:spPr>
          <a:xfrm>
            <a:off x="3410712" y="2971800"/>
            <a:ext cx="2267712" cy="68580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Faster Incident Response</a:t>
            </a:r>
            <a:endParaRPr lang="en-US" sz="1200" dirty="0"/>
          </a:p>
        </p:txBody>
      </p:sp>
      <p:sp>
        <p:nvSpPr>
          <p:cNvPr id="13" name="Shape 9"/>
          <p:cNvSpPr/>
          <p:nvPr/>
        </p:nvSpPr>
        <p:spPr>
          <a:xfrm>
            <a:off x="5998464" y="1965960"/>
            <a:ext cx="2542032" cy="1783080"/>
          </a:xfrm>
          <a:prstGeom prst="roundRect">
            <a:avLst>
              <a:gd name="adj" fmla="val 4615"/>
            </a:avLst>
          </a:prstGeom>
          <a:solidFill>
            <a:srgbClr val="10294D"/>
          </a:solidFill>
          <a:ln w="12700">
            <a:solidFill>
              <a:srgbClr val="1C3A66"/>
            </a:solidFill>
            <a:prstDash val="solid"/>
          </a:ln>
        </p:spPr>
      </p:sp>
      <p:sp>
        <p:nvSpPr>
          <p:cNvPr id="14" name="Shape 10"/>
          <p:cNvSpPr/>
          <p:nvPr/>
        </p:nvSpPr>
        <p:spPr>
          <a:xfrm>
            <a:off x="6972300" y="2235708"/>
            <a:ext cx="594360" cy="594360"/>
          </a:xfrm>
          <a:prstGeom prst="ellipse">
            <a:avLst/>
          </a:prstGeom>
          <a:solidFill>
            <a:srgbClr val="21C7C7"/>
          </a:solidFill>
          <a:ln/>
        </p:spPr>
      </p:sp>
      <p:pic>
        <p:nvPicPr>
          <p:cNvPr id="15" name="Image 2" descr="/home/claude/sentinelai/images/leaf_white.png">    </p:cNvPr>
          <p:cNvPicPr>
            <a:picLocks noChangeAspect="1"/>
          </p:cNvPicPr>
          <p:nvPr/>
        </p:nvPicPr>
        <p:blipFill>
          <a:blip r:embed="rId3"/>
          <a:stretch>
            <a:fillRect/>
          </a:stretch>
        </p:blipFill>
        <p:spPr>
          <a:xfrm>
            <a:off x="7120890" y="2384298"/>
            <a:ext cx="297180" cy="297180"/>
          </a:xfrm>
          <a:prstGeom prst="rect">
            <a:avLst/>
          </a:prstGeom>
        </p:spPr>
      </p:pic>
      <p:sp>
        <p:nvSpPr>
          <p:cNvPr id="16" name="Text 11"/>
          <p:cNvSpPr/>
          <p:nvPr/>
        </p:nvSpPr>
        <p:spPr>
          <a:xfrm>
            <a:off x="6135624" y="2971800"/>
            <a:ext cx="2267712" cy="68580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Lower Energy Consumption</a:t>
            </a:r>
            <a:endParaRPr lang="en-US" sz="1200" dirty="0"/>
          </a:p>
        </p:txBody>
      </p:sp>
      <p:sp>
        <p:nvSpPr>
          <p:cNvPr id="17" name="Shape 12"/>
          <p:cNvSpPr/>
          <p:nvPr/>
        </p:nvSpPr>
        <p:spPr>
          <a:xfrm>
            <a:off x="8723376" y="1965960"/>
            <a:ext cx="2542032" cy="1783080"/>
          </a:xfrm>
          <a:prstGeom prst="roundRect">
            <a:avLst>
              <a:gd name="adj" fmla="val 4615"/>
            </a:avLst>
          </a:prstGeom>
          <a:solidFill>
            <a:srgbClr val="10294D"/>
          </a:solidFill>
          <a:ln w="12700">
            <a:solidFill>
              <a:srgbClr val="1C3A66"/>
            </a:solidFill>
            <a:prstDash val="solid"/>
          </a:ln>
        </p:spPr>
      </p:sp>
      <p:sp>
        <p:nvSpPr>
          <p:cNvPr id="18" name="Shape 13"/>
          <p:cNvSpPr/>
          <p:nvPr/>
        </p:nvSpPr>
        <p:spPr>
          <a:xfrm>
            <a:off x="9697212" y="2235708"/>
            <a:ext cx="594360" cy="594360"/>
          </a:xfrm>
          <a:prstGeom prst="ellipse">
            <a:avLst/>
          </a:prstGeom>
          <a:solidFill>
            <a:srgbClr val="F2A33C"/>
          </a:solidFill>
          <a:ln/>
        </p:spPr>
      </p:sp>
      <p:pic>
        <p:nvPicPr>
          <p:cNvPr id="19" name="Image 3" descr="/home/claude/sentinelai/images/cogs_white.png">    </p:cNvPr>
          <p:cNvPicPr>
            <a:picLocks noChangeAspect="1"/>
          </p:cNvPicPr>
          <p:nvPr/>
        </p:nvPicPr>
        <p:blipFill>
          <a:blip r:embed="rId4"/>
          <a:stretch>
            <a:fillRect/>
          </a:stretch>
        </p:blipFill>
        <p:spPr>
          <a:xfrm>
            <a:off x="9845802" y="2384298"/>
            <a:ext cx="297180" cy="297180"/>
          </a:xfrm>
          <a:prstGeom prst="rect">
            <a:avLst/>
          </a:prstGeom>
        </p:spPr>
      </p:pic>
      <p:sp>
        <p:nvSpPr>
          <p:cNvPr id="20" name="Text 14"/>
          <p:cNvSpPr/>
          <p:nvPr/>
        </p:nvSpPr>
        <p:spPr>
          <a:xfrm>
            <a:off x="8860536" y="2971800"/>
            <a:ext cx="2267712" cy="68580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Autonomous IoT Control</a:t>
            </a:r>
            <a:endParaRPr lang="en-US" sz="1200" dirty="0"/>
          </a:p>
        </p:txBody>
      </p:sp>
      <p:sp>
        <p:nvSpPr>
          <p:cNvPr id="21" name="Shape 15"/>
          <p:cNvSpPr/>
          <p:nvPr/>
        </p:nvSpPr>
        <p:spPr>
          <a:xfrm>
            <a:off x="548640" y="3977640"/>
            <a:ext cx="2542032" cy="1783080"/>
          </a:xfrm>
          <a:prstGeom prst="roundRect">
            <a:avLst>
              <a:gd name="adj" fmla="val 4615"/>
            </a:avLst>
          </a:prstGeom>
          <a:solidFill>
            <a:srgbClr val="10294D"/>
          </a:solidFill>
          <a:ln w="12700">
            <a:solidFill>
              <a:srgbClr val="1C3A66"/>
            </a:solidFill>
            <a:prstDash val="solid"/>
          </a:ln>
        </p:spPr>
      </p:sp>
      <p:sp>
        <p:nvSpPr>
          <p:cNvPr id="22" name="Shape 16"/>
          <p:cNvSpPr/>
          <p:nvPr/>
        </p:nvSpPr>
        <p:spPr>
          <a:xfrm>
            <a:off x="1522476" y="4247388"/>
            <a:ext cx="594360" cy="594360"/>
          </a:xfrm>
          <a:prstGeom prst="ellipse">
            <a:avLst/>
          </a:prstGeom>
          <a:solidFill>
            <a:srgbClr val="21C7C7"/>
          </a:solidFill>
          <a:ln/>
        </p:spPr>
      </p:sp>
      <p:pic>
        <p:nvPicPr>
          <p:cNvPr id="23" name="Image 4" descr="/home/claude/sentinelai/images/shield_white.png">    </p:cNvPr>
          <p:cNvPicPr>
            <a:picLocks noChangeAspect="1"/>
          </p:cNvPicPr>
          <p:nvPr/>
        </p:nvPicPr>
        <p:blipFill>
          <a:blip r:embed="rId5"/>
          <a:stretch>
            <a:fillRect/>
          </a:stretch>
        </p:blipFill>
        <p:spPr>
          <a:xfrm>
            <a:off x="1671066" y="4395978"/>
            <a:ext cx="297180" cy="297180"/>
          </a:xfrm>
          <a:prstGeom prst="rect">
            <a:avLst/>
          </a:prstGeom>
        </p:spPr>
      </p:pic>
      <p:sp>
        <p:nvSpPr>
          <p:cNvPr id="24" name="Text 17"/>
          <p:cNvSpPr/>
          <p:nvPr/>
        </p:nvSpPr>
        <p:spPr>
          <a:xfrm>
            <a:off x="685800" y="4983480"/>
            <a:ext cx="2267712" cy="68580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Improved Security</a:t>
            </a:r>
            <a:endParaRPr lang="en-US" sz="1200" dirty="0"/>
          </a:p>
        </p:txBody>
      </p:sp>
      <p:sp>
        <p:nvSpPr>
          <p:cNvPr id="25" name="Shape 18"/>
          <p:cNvSpPr/>
          <p:nvPr/>
        </p:nvSpPr>
        <p:spPr>
          <a:xfrm>
            <a:off x="3273552" y="3977640"/>
            <a:ext cx="2542032" cy="1783080"/>
          </a:xfrm>
          <a:prstGeom prst="roundRect">
            <a:avLst>
              <a:gd name="adj" fmla="val 4615"/>
            </a:avLst>
          </a:prstGeom>
          <a:solidFill>
            <a:srgbClr val="10294D"/>
          </a:solidFill>
          <a:ln w="12700">
            <a:solidFill>
              <a:srgbClr val="1C3A66"/>
            </a:solidFill>
            <a:prstDash val="solid"/>
          </a:ln>
        </p:spPr>
      </p:sp>
      <p:sp>
        <p:nvSpPr>
          <p:cNvPr id="26" name="Shape 19"/>
          <p:cNvSpPr/>
          <p:nvPr/>
        </p:nvSpPr>
        <p:spPr>
          <a:xfrm>
            <a:off x="4247388" y="4247388"/>
            <a:ext cx="594360" cy="594360"/>
          </a:xfrm>
          <a:prstGeom prst="ellipse">
            <a:avLst/>
          </a:prstGeom>
          <a:solidFill>
            <a:srgbClr val="F2A33C"/>
          </a:solidFill>
          <a:ln/>
        </p:spPr>
      </p:sp>
      <p:pic>
        <p:nvPicPr>
          <p:cNvPr id="27" name="Image 5" descr="/home/claude/sentinelai/images/check_white.png">    </p:cNvPr>
          <p:cNvPicPr>
            <a:picLocks noChangeAspect="1"/>
          </p:cNvPicPr>
          <p:nvPr/>
        </p:nvPicPr>
        <p:blipFill>
          <a:blip r:embed="rId6"/>
          <a:stretch>
            <a:fillRect/>
          </a:stretch>
        </p:blipFill>
        <p:spPr>
          <a:xfrm>
            <a:off x="4395978" y="4395978"/>
            <a:ext cx="297180" cy="297180"/>
          </a:xfrm>
          <a:prstGeom prst="rect">
            <a:avLst/>
          </a:prstGeom>
        </p:spPr>
      </p:pic>
      <p:sp>
        <p:nvSpPr>
          <p:cNvPr id="28" name="Text 20"/>
          <p:cNvSpPr/>
          <p:nvPr/>
        </p:nvSpPr>
        <p:spPr>
          <a:xfrm>
            <a:off x="3410712" y="4983480"/>
            <a:ext cx="2267712" cy="68580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Compliance Automation</a:t>
            </a:r>
            <a:endParaRPr lang="en-US" sz="1200" dirty="0"/>
          </a:p>
        </p:txBody>
      </p:sp>
      <p:sp>
        <p:nvSpPr>
          <p:cNvPr id="29" name="Shape 21"/>
          <p:cNvSpPr/>
          <p:nvPr/>
        </p:nvSpPr>
        <p:spPr>
          <a:xfrm>
            <a:off x="5998464" y="3977640"/>
            <a:ext cx="2542032" cy="1783080"/>
          </a:xfrm>
          <a:prstGeom prst="roundRect">
            <a:avLst>
              <a:gd name="adj" fmla="val 4615"/>
            </a:avLst>
          </a:prstGeom>
          <a:solidFill>
            <a:srgbClr val="10294D"/>
          </a:solidFill>
          <a:ln w="12700">
            <a:solidFill>
              <a:srgbClr val="1C3A66"/>
            </a:solidFill>
            <a:prstDash val="solid"/>
          </a:ln>
        </p:spPr>
      </p:sp>
      <p:sp>
        <p:nvSpPr>
          <p:cNvPr id="30" name="Shape 22"/>
          <p:cNvSpPr/>
          <p:nvPr/>
        </p:nvSpPr>
        <p:spPr>
          <a:xfrm>
            <a:off x="6972300" y="4247388"/>
            <a:ext cx="594360" cy="594360"/>
          </a:xfrm>
          <a:prstGeom prst="ellipse">
            <a:avLst/>
          </a:prstGeom>
          <a:solidFill>
            <a:srgbClr val="21C7C7"/>
          </a:solidFill>
          <a:ln/>
        </p:spPr>
      </p:sp>
      <p:pic>
        <p:nvPicPr>
          <p:cNvPr id="31" name="Image 6" descr="/home/claude/sentinelai/images/tools_white.png">    </p:cNvPr>
          <p:cNvPicPr>
            <a:picLocks noChangeAspect="1"/>
          </p:cNvPicPr>
          <p:nvPr/>
        </p:nvPicPr>
        <p:blipFill>
          <a:blip r:embed="rId7"/>
          <a:stretch>
            <a:fillRect/>
          </a:stretch>
        </p:blipFill>
        <p:spPr>
          <a:xfrm>
            <a:off x="7120890" y="4395978"/>
            <a:ext cx="297180" cy="297180"/>
          </a:xfrm>
          <a:prstGeom prst="rect">
            <a:avLst/>
          </a:prstGeom>
        </p:spPr>
      </p:pic>
      <p:sp>
        <p:nvSpPr>
          <p:cNvPr id="32" name="Text 23"/>
          <p:cNvSpPr/>
          <p:nvPr/>
        </p:nvSpPr>
        <p:spPr>
          <a:xfrm>
            <a:off x="6135624" y="4983480"/>
            <a:ext cx="2267712" cy="68580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Infrastructure Health Monitoring</a:t>
            </a:r>
            <a:endParaRPr lang="en-US" sz="1200" dirty="0"/>
          </a:p>
        </p:txBody>
      </p:sp>
      <p:sp>
        <p:nvSpPr>
          <p:cNvPr id="33" name="Shape 24"/>
          <p:cNvSpPr/>
          <p:nvPr/>
        </p:nvSpPr>
        <p:spPr>
          <a:xfrm>
            <a:off x="8723376" y="3977640"/>
            <a:ext cx="2542032" cy="1783080"/>
          </a:xfrm>
          <a:prstGeom prst="roundRect">
            <a:avLst>
              <a:gd name="adj" fmla="val 4615"/>
            </a:avLst>
          </a:prstGeom>
          <a:solidFill>
            <a:srgbClr val="10294D"/>
          </a:solidFill>
          <a:ln w="12700">
            <a:solidFill>
              <a:srgbClr val="1C3A66"/>
            </a:solidFill>
            <a:prstDash val="solid"/>
          </a:ln>
        </p:spPr>
      </p:sp>
      <p:sp>
        <p:nvSpPr>
          <p:cNvPr id="34" name="Shape 25"/>
          <p:cNvSpPr/>
          <p:nvPr/>
        </p:nvSpPr>
        <p:spPr>
          <a:xfrm>
            <a:off x="9697212" y="4247388"/>
            <a:ext cx="594360" cy="594360"/>
          </a:xfrm>
          <a:prstGeom prst="ellipse">
            <a:avLst/>
          </a:prstGeom>
          <a:solidFill>
            <a:srgbClr val="F2A33C"/>
          </a:solidFill>
          <a:ln/>
        </p:spPr>
      </p:sp>
      <p:pic>
        <p:nvPicPr>
          <p:cNvPr id="35" name="Image 7" descr="/home/claude/sentinelai/images/brain_white.png">    </p:cNvPr>
          <p:cNvPicPr>
            <a:picLocks noChangeAspect="1"/>
          </p:cNvPicPr>
          <p:nvPr/>
        </p:nvPicPr>
        <p:blipFill>
          <a:blip r:embed="rId8"/>
          <a:stretch>
            <a:fillRect/>
          </a:stretch>
        </p:blipFill>
        <p:spPr>
          <a:xfrm>
            <a:off x="9845802" y="4395978"/>
            <a:ext cx="297180" cy="297180"/>
          </a:xfrm>
          <a:prstGeom prst="rect">
            <a:avLst/>
          </a:prstGeom>
        </p:spPr>
      </p:pic>
      <p:sp>
        <p:nvSpPr>
          <p:cNvPr id="36" name="Text 26"/>
          <p:cNvSpPr/>
          <p:nvPr/>
        </p:nvSpPr>
        <p:spPr>
          <a:xfrm>
            <a:off x="8860536" y="4983480"/>
            <a:ext cx="2267712" cy="68580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Operational Intelligence</a:t>
            </a:r>
            <a:endParaRPr lang="en-US" sz="1200" dirty="0"/>
          </a:p>
        </p:txBody>
      </p:sp>
      <p:sp>
        <p:nvSpPr>
          <p:cNvPr id="38" name="Text 27"/>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B7BA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SCALABILITY</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One Platform, Every Physical Environment</a:t>
            </a:r>
            <a:endParaRPr lang="en-US" sz="2800" dirty="0"/>
          </a:p>
        </p:txBody>
      </p:sp>
      <p:sp>
        <p:nvSpPr>
          <p:cNvPr id="4" name="Text 2"/>
          <p:cNvSpPr/>
          <p:nvPr/>
        </p:nvSpPr>
        <p:spPr>
          <a:xfrm>
            <a:off x="548640" y="1417320"/>
            <a:ext cx="10607040" cy="365760"/>
          </a:xfrm>
          <a:prstGeom prst="rect">
            <a:avLst/>
          </a:prstGeom>
          <a:noFill/>
          <a:ln/>
        </p:spPr>
        <p:txBody>
          <a:bodyPr wrap="square" lIns="0" tIns="0" rIns="0" bIns="0" rtlCol="0" anchor="ctr"/>
          <a:lstStyle/>
          <a:p>
            <a:pPr indent="0" marL="0">
              <a:buNone/>
            </a:pPr>
            <a:r>
              <a:rPr lang="en-US" sz="1300" dirty="0">
                <a:solidFill>
                  <a:srgbClr val="5B6B82"/>
                </a:solidFill>
                <a:latin typeface="Calibri" pitchFamily="34" charset="0"/>
                <a:ea typeface="Calibri" pitchFamily="34" charset="-122"/>
                <a:cs typeface="Calibri" pitchFamily="34" charset="-120"/>
              </a:rPr>
              <a:t>SentinelAI X is designed as a platform, not a single application — deployable across every category of physical infrastructure.</a:t>
            </a:r>
            <a:endParaRPr lang="en-US" sz="1300" dirty="0"/>
          </a:p>
        </p:txBody>
      </p:sp>
      <p:sp>
        <p:nvSpPr>
          <p:cNvPr id="5" name="Shape 3"/>
          <p:cNvSpPr/>
          <p:nvPr/>
        </p:nvSpPr>
        <p:spPr>
          <a:xfrm>
            <a:off x="548640" y="2011680"/>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6" name="Shape 4"/>
          <p:cNvSpPr/>
          <p:nvPr/>
        </p:nvSpPr>
        <p:spPr>
          <a:xfrm>
            <a:off x="1225296" y="2286000"/>
            <a:ext cx="640080" cy="640080"/>
          </a:xfrm>
          <a:prstGeom prst="ellipse">
            <a:avLst/>
          </a:prstGeom>
          <a:solidFill>
            <a:srgbClr val="0B1F3A"/>
          </a:solidFill>
          <a:ln/>
        </p:spPr>
      </p:sp>
      <p:pic>
        <p:nvPicPr>
          <p:cNvPr id="7" name="Image 0" descr="/home/claude/sentinelai/images/university_white.png">    </p:cNvPr>
          <p:cNvPicPr>
            <a:picLocks noChangeAspect="1"/>
          </p:cNvPicPr>
          <p:nvPr/>
        </p:nvPicPr>
        <p:blipFill>
          <a:blip r:embed="rId1"/>
          <a:stretch>
            <a:fillRect/>
          </a:stretch>
        </p:blipFill>
        <p:spPr>
          <a:xfrm>
            <a:off x="1385316" y="2446020"/>
            <a:ext cx="320040" cy="320040"/>
          </a:xfrm>
          <a:prstGeom prst="rect">
            <a:avLst/>
          </a:prstGeom>
        </p:spPr>
      </p:pic>
      <p:sp>
        <p:nvSpPr>
          <p:cNvPr id="8" name="Text 5"/>
          <p:cNvSpPr/>
          <p:nvPr/>
        </p:nvSpPr>
        <p:spPr>
          <a:xfrm>
            <a:off x="640080" y="3108960"/>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Universities</a:t>
            </a:r>
            <a:endParaRPr lang="en-US" sz="1150" dirty="0"/>
          </a:p>
        </p:txBody>
      </p:sp>
      <p:sp>
        <p:nvSpPr>
          <p:cNvPr id="9" name="Shape 6"/>
          <p:cNvSpPr/>
          <p:nvPr/>
        </p:nvSpPr>
        <p:spPr>
          <a:xfrm>
            <a:off x="2706624" y="2011680"/>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0" name="Shape 7"/>
          <p:cNvSpPr/>
          <p:nvPr/>
        </p:nvSpPr>
        <p:spPr>
          <a:xfrm>
            <a:off x="3383280" y="2286000"/>
            <a:ext cx="640080" cy="640080"/>
          </a:xfrm>
          <a:prstGeom prst="ellipse">
            <a:avLst/>
          </a:prstGeom>
          <a:solidFill>
            <a:srgbClr val="0B1F3A"/>
          </a:solidFill>
          <a:ln/>
        </p:spPr>
      </p:sp>
      <p:pic>
        <p:nvPicPr>
          <p:cNvPr id="11" name="Image 1" descr="/home/claude/sentinelai/images/building_white.png">    </p:cNvPr>
          <p:cNvPicPr>
            <a:picLocks noChangeAspect="1"/>
          </p:cNvPicPr>
          <p:nvPr/>
        </p:nvPicPr>
        <p:blipFill>
          <a:blip r:embed="rId2"/>
          <a:stretch>
            <a:fillRect/>
          </a:stretch>
        </p:blipFill>
        <p:spPr>
          <a:xfrm>
            <a:off x="3543300" y="2446020"/>
            <a:ext cx="320040" cy="320040"/>
          </a:xfrm>
          <a:prstGeom prst="rect">
            <a:avLst/>
          </a:prstGeom>
        </p:spPr>
      </p:pic>
      <p:sp>
        <p:nvSpPr>
          <p:cNvPr id="12" name="Text 8"/>
          <p:cNvSpPr/>
          <p:nvPr/>
        </p:nvSpPr>
        <p:spPr>
          <a:xfrm>
            <a:off x="2798064" y="3108960"/>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Smart Campuses</a:t>
            </a:r>
            <a:endParaRPr lang="en-US" sz="1150" dirty="0"/>
          </a:p>
        </p:txBody>
      </p:sp>
      <p:sp>
        <p:nvSpPr>
          <p:cNvPr id="13" name="Shape 9"/>
          <p:cNvSpPr/>
          <p:nvPr/>
        </p:nvSpPr>
        <p:spPr>
          <a:xfrm>
            <a:off x="4864608" y="2011680"/>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4" name="Shape 10"/>
          <p:cNvSpPr/>
          <p:nvPr/>
        </p:nvSpPr>
        <p:spPr>
          <a:xfrm>
            <a:off x="5541264" y="2286000"/>
            <a:ext cx="640080" cy="640080"/>
          </a:xfrm>
          <a:prstGeom prst="ellipse">
            <a:avLst/>
          </a:prstGeom>
          <a:solidFill>
            <a:srgbClr val="0B1F3A"/>
          </a:solidFill>
          <a:ln/>
        </p:spPr>
      </p:sp>
      <p:pic>
        <p:nvPicPr>
          <p:cNvPr id="15" name="Image 2" descr="/home/claude/sentinelai/images/industry_white.png">    </p:cNvPr>
          <p:cNvPicPr>
            <a:picLocks noChangeAspect="1"/>
          </p:cNvPicPr>
          <p:nvPr/>
        </p:nvPicPr>
        <p:blipFill>
          <a:blip r:embed="rId3"/>
          <a:stretch>
            <a:fillRect/>
          </a:stretch>
        </p:blipFill>
        <p:spPr>
          <a:xfrm>
            <a:off x="5701284" y="2446020"/>
            <a:ext cx="320040" cy="320040"/>
          </a:xfrm>
          <a:prstGeom prst="rect">
            <a:avLst/>
          </a:prstGeom>
        </p:spPr>
      </p:pic>
      <p:sp>
        <p:nvSpPr>
          <p:cNvPr id="16" name="Text 11"/>
          <p:cNvSpPr/>
          <p:nvPr/>
        </p:nvSpPr>
        <p:spPr>
          <a:xfrm>
            <a:off x="4956048" y="3108960"/>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Industries</a:t>
            </a:r>
            <a:endParaRPr lang="en-US" sz="1150" dirty="0"/>
          </a:p>
        </p:txBody>
      </p:sp>
      <p:sp>
        <p:nvSpPr>
          <p:cNvPr id="17" name="Shape 12"/>
          <p:cNvSpPr/>
          <p:nvPr/>
        </p:nvSpPr>
        <p:spPr>
          <a:xfrm>
            <a:off x="7022592" y="2011680"/>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8" name="Shape 13"/>
          <p:cNvSpPr/>
          <p:nvPr/>
        </p:nvSpPr>
        <p:spPr>
          <a:xfrm>
            <a:off x="7699248" y="2286000"/>
            <a:ext cx="640080" cy="640080"/>
          </a:xfrm>
          <a:prstGeom prst="ellipse">
            <a:avLst/>
          </a:prstGeom>
          <a:solidFill>
            <a:srgbClr val="0B1F3A"/>
          </a:solidFill>
          <a:ln/>
        </p:spPr>
      </p:sp>
      <p:pic>
        <p:nvPicPr>
          <p:cNvPr id="19" name="Image 3" descr="/home/claude/sentinelai/images/hospital_white.png">    </p:cNvPr>
          <p:cNvPicPr>
            <a:picLocks noChangeAspect="1"/>
          </p:cNvPicPr>
          <p:nvPr/>
        </p:nvPicPr>
        <p:blipFill>
          <a:blip r:embed="rId4"/>
          <a:stretch>
            <a:fillRect/>
          </a:stretch>
        </p:blipFill>
        <p:spPr>
          <a:xfrm>
            <a:off x="7859268" y="2446020"/>
            <a:ext cx="320040" cy="320040"/>
          </a:xfrm>
          <a:prstGeom prst="rect">
            <a:avLst/>
          </a:prstGeom>
        </p:spPr>
      </p:pic>
      <p:sp>
        <p:nvSpPr>
          <p:cNvPr id="20" name="Text 14"/>
          <p:cNvSpPr/>
          <p:nvPr/>
        </p:nvSpPr>
        <p:spPr>
          <a:xfrm>
            <a:off x="7114032" y="3108960"/>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Hospitals</a:t>
            </a:r>
            <a:endParaRPr lang="en-US" sz="1150" dirty="0"/>
          </a:p>
        </p:txBody>
      </p:sp>
      <p:sp>
        <p:nvSpPr>
          <p:cNvPr id="21" name="Shape 15"/>
          <p:cNvSpPr/>
          <p:nvPr/>
        </p:nvSpPr>
        <p:spPr>
          <a:xfrm>
            <a:off x="9180576" y="2011680"/>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2" name="Shape 16"/>
          <p:cNvSpPr/>
          <p:nvPr/>
        </p:nvSpPr>
        <p:spPr>
          <a:xfrm>
            <a:off x="9857232" y="2286000"/>
            <a:ext cx="640080" cy="640080"/>
          </a:xfrm>
          <a:prstGeom prst="ellipse">
            <a:avLst/>
          </a:prstGeom>
          <a:solidFill>
            <a:srgbClr val="0B1F3A"/>
          </a:solidFill>
          <a:ln/>
        </p:spPr>
      </p:sp>
      <p:pic>
        <p:nvPicPr>
          <p:cNvPr id="23" name="Image 4" descr="/home/claude/sentinelai/images/plane_white.png">    </p:cNvPr>
          <p:cNvPicPr>
            <a:picLocks noChangeAspect="1"/>
          </p:cNvPicPr>
          <p:nvPr/>
        </p:nvPicPr>
        <p:blipFill>
          <a:blip r:embed="rId5"/>
          <a:stretch>
            <a:fillRect/>
          </a:stretch>
        </p:blipFill>
        <p:spPr>
          <a:xfrm>
            <a:off x="10017252" y="2446020"/>
            <a:ext cx="320040" cy="320040"/>
          </a:xfrm>
          <a:prstGeom prst="rect">
            <a:avLst/>
          </a:prstGeom>
        </p:spPr>
      </p:pic>
      <p:sp>
        <p:nvSpPr>
          <p:cNvPr id="24" name="Text 17"/>
          <p:cNvSpPr/>
          <p:nvPr/>
        </p:nvSpPr>
        <p:spPr>
          <a:xfrm>
            <a:off x="9272016" y="3108960"/>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Airports</a:t>
            </a:r>
            <a:endParaRPr lang="en-US" sz="1150" dirty="0"/>
          </a:p>
        </p:txBody>
      </p:sp>
      <p:sp>
        <p:nvSpPr>
          <p:cNvPr id="25" name="Shape 18"/>
          <p:cNvSpPr/>
          <p:nvPr/>
        </p:nvSpPr>
        <p:spPr>
          <a:xfrm>
            <a:off x="548640" y="3904488"/>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6" name="Shape 19"/>
          <p:cNvSpPr/>
          <p:nvPr/>
        </p:nvSpPr>
        <p:spPr>
          <a:xfrm>
            <a:off x="1225296" y="4178808"/>
            <a:ext cx="640080" cy="640080"/>
          </a:xfrm>
          <a:prstGeom prst="ellipse">
            <a:avLst/>
          </a:prstGeom>
          <a:solidFill>
            <a:srgbClr val="0B1F3A"/>
          </a:solidFill>
          <a:ln/>
        </p:spPr>
      </p:sp>
      <p:pic>
        <p:nvPicPr>
          <p:cNvPr id="27" name="Image 5" descr="/home/claude/sentinelai/images/landmark_white.png">    </p:cNvPr>
          <p:cNvPicPr>
            <a:picLocks noChangeAspect="1"/>
          </p:cNvPicPr>
          <p:nvPr/>
        </p:nvPicPr>
        <p:blipFill>
          <a:blip r:embed="rId6"/>
          <a:stretch>
            <a:fillRect/>
          </a:stretch>
        </p:blipFill>
        <p:spPr>
          <a:xfrm>
            <a:off x="1385316" y="4338828"/>
            <a:ext cx="320040" cy="320040"/>
          </a:xfrm>
          <a:prstGeom prst="rect">
            <a:avLst/>
          </a:prstGeom>
        </p:spPr>
      </p:pic>
      <p:sp>
        <p:nvSpPr>
          <p:cNvPr id="28" name="Text 20"/>
          <p:cNvSpPr/>
          <p:nvPr/>
        </p:nvSpPr>
        <p:spPr>
          <a:xfrm>
            <a:off x="640080" y="5001768"/>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Corporate Offices</a:t>
            </a:r>
            <a:endParaRPr lang="en-US" sz="1150" dirty="0"/>
          </a:p>
        </p:txBody>
      </p:sp>
      <p:sp>
        <p:nvSpPr>
          <p:cNvPr id="29" name="Shape 21"/>
          <p:cNvSpPr/>
          <p:nvPr/>
        </p:nvSpPr>
        <p:spPr>
          <a:xfrm>
            <a:off x="2706624" y="3904488"/>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30" name="Shape 22"/>
          <p:cNvSpPr/>
          <p:nvPr/>
        </p:nvSpPr>
        <p:spPr>
          <a:xfrm>
            <a:off x="3383280" y="4178808"/>
            <a:ext cx="640080" cy="640080"/>
          </a:xfrm>
          <a:prstGeom prst="ellipse">
            <a:avLst/>
          </a:prstGeom>
          <a:solidFill>
            <a:srgbClr val="0B1F3A"/>
          </a:solidFill>
          <a:ln/>
        </p:spPr>
      </p:sp>
      <p:pic>
        <p:nvPicPr>
          <p:cNvPr id="31" name="Image 6" descr="/home/claude/sentinelai/images/warehouse_white.png">    </p:cNvPr>
          <p:cNvPicPr>
            <a:picLocks noChangeAspect="1"/>
          </p:cNvPicPr>
          <p:nvPr/>
        </p:nvPicPr>
        <p:blipFill>
          <a:blip r:embed="rId7"/>
          <a:stretch>
            <a:fillRect/>
          </a:stretch>
        </p:blipFill>
        <p:spPr>
          <a:xfrm>
            <a:off x="3543300" y="4338828"/>
            <a:ext cx="320040" cy="320040"/>
          </a:xfrm>
          <a:prstGeom prst="rect">
            <a:avLst/>
          </a:prstGeom>
        </p:spPr>
      </p:pic>
      <p:sp>
        <p:nvSpPr>
          <p:cNvPr id="32" name="Text 23"/>
          <p:cNvSpPr/>
          <p:nvPr/>
        </p:nvSpPr>
        <p:spPr>
          <a:xfrm>
            <a:off x="2798064" y="5001768"/>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Warehouses</a:t>
            </a:r>
            <a:endParaRPr lang="en-US" sz="1150" dirty="0"/>
          </a:p>
        </p:txBody>
      </p:sp>
      <p:sp>
        <p:nvSpPr>
          <p:cNvPr id="33" name="Shape 24"/>
          <p:cNvSpPr/>
          <p:nvPr/>
        </p:nvSpPr>
        <p:spPr>
          <a:xfrm>
            <a:off x="4864608" y="3904488"/>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34" name="Shape 25"/>
          <p:cNvSpPr/>
          <p:nvPr/>
        </p:nvSpPr>
        <p:spPr>
          <a:xfrm>
            <a:off x="5541264" y="4178808"/>
            <a:ext cx="640080" cy="640080"/>
          </a:xfrm>
          <a:prstGeom prst="ellipse">
            <a:avLst/>
          </a:prstGeom>
          <a:solidFill>
            <a:srgbClr val="0B1F3A"/>
          </a:solidFill>
          <a:ln/>
        </p:spPr>
      </p:sp>
      <p:pic>
        <p:nvPicPr>
          <p:cNvPr id="35" name="Image 7" descr="/home/claude/sentinelai/images/network_white.png">    </p:cNvPr>
          <p:cNvPicPr>
            <a:picLocks noChangeAspect="1"/>
          </p:cNvPicPr>
          <p:nvPr/>
        </p:nvPicPr>
        <p:blipFill>
          <a:blip r:embed="rId8"/>
          <a:stretch>
            <a:fillRect/>
          </a:stretch>
        </p:blipFill>
        <p:spPr>
          <a:xfrm>
            <a:off x="5701284" y="4338828"/>
            <a:ext cx="320040" cy="320040"/>
          </a:xfrm>
          <a:prstGeom prst="rect">
            <a:avLst/>
          </a:prstGeom>
        </p:spPr>
      </p:pic>
      <p:sp>
        <p:nvSpPr>
          <p:cNvPr id="36" name="Text 26"/>
          <p:cNvSpPr/>
          <p:nvPr/>
        </p:nvSpPr>
        <p:spPr>
          <a:xfrm>
            <a:off x="4956048" y="5001768"/>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Smart Buildings</a:t>
            </a:r>
            <a:endParaRPr lang="en-US" sz="1150" dirty="0"/>
          </a:p>
        </p:txBody>
      </p:sp>
      <p:sp>
        <p:nvSpPr>
          <p:cNvPr id="37" name="Shape 27"/>
          <p:cNvSpPr/>
          <p:nvPr/>
        </p:nvSpPr>
        <p:spPr>
          <a:xfrm>
            <a:off x="7022592" y="3904488"/>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38" name="Shape 28"/>
          <p:cNvSpPr/>
          <p:nvPr/>
        </p:nvSpPr>
        <p:spPr>
          <a:xfrm>
            <a:off x="7699248" y="4178808"/>
            <a:ext cx="640080" cy="640080"/>
          </a:xfrm>
          <a:prstGeom prst="ellipse">
            <a:avLst/>
          </a:prstGeom>
          <a:solidFill>
            <a:srgbClr val="0B1F3A"/>
          </a:solidFill>
          <a:ln/>
        </p:spPr>
      </p:sp>
      <p:pic>
        <p:nvPicPr>
          <p:cNvPr id="39" name="Image 8" descr="/home/claude/sentinelai/images/shield_white.png">    </p:cNvPr>
          <p:cNvPicPr>
            <a:picLocks noChangeAspect="1"/>
          </p:cNvPicPr>
          <p:nvPr/>
        </p:nvPicPr>
        <p:blipFill>
          <a:blip r:embed="rId9"/>
          <a:stretch>
            <a:fillRect/>
          </a:stretch>
        </p:blipFill>
        <p:spPr>
          <a:xfrm>
            <a:off x="7859268" y="4338828"/>
            <a:ext cx="320040" cy="320040"/>
          </a:xfrm>
          <a:prstGeom prst="rect">
            <a:avLst/>
          </a:prstGeom>
        </p:spPr>
      </p:pic>
      <p:sp>
        <p:nvSpPr>
          <p:cNvPr id="40" name="Text 29"/>
          <p:cNvSpPr/>
          <p:nvPr/>
        </p:nvSpPr>
        <p:spPr>
          <a:xfrm>
            <a:off x="7114032" y="5001768"/>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Government Infrastructure</a:t>
            </a:r>
            <a:endParaRPr lang="en-US" sz="1150" dirty="0"/>
          </a:p>
        </p:txBody>
      </p:sp>
      <p:sp>
        <p:nvSpPr>
          <p:cNvPr id="41" name="Shape 30"/>
          <p:cNvSpPr/>
          <p:nvPr/>
        </p:nvSpPr>
        <p:spPr>
          <a:xfrm>
            <a:off x="9180576" y="3904488"/>
            <a:ext cx="1993392" cy="1691640"/>
          </a:xfrm>
          <a:prstGeom prst="roundRect">
            <a:avLst>
              <a:gd name="adj" fmla="val 5405"/>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42" name="Shape 31"/>
          <p:cNvSpPr/>
          <p:nvPr/>
        </p:nvSpPr>
        <p:spPr>
          <a:xfrm>
            <a:off x="9857232" y="4178808"/>
            <a:ext cx="640080" cy="640080"/>
          </a:xfrm>
          <a:prstGeom prst="ellipse">
            <a:avLst/>
          </a:prstGeom>
          <a:solidFill>
            <a:srgbClr val="0B1F3A"/>
          </a:solidFill>
          <a:ln/>
        </p:spPr>
      </p:sp>
      <p:pic>
        <p:nvPicPr>
          <p:cNvPr id="43" name="Image 9" descr="/home/claude/sentinelai/images/city_white.png">    </p:cNvPr>
          <p:cNvPicPr>
            <a:picLocks noChangeAspect="1"/>
          </p:cNvPicPr>
          <p:nvPr/>
        </p:nvPicPr>
        <p:blipFill>
          <a:blip r:embed="rId10"/>
          <a:stretch>
            <a:fillRect/>
          </a:stretch>
        </p:blipFill>
        <p:spPr>
          <a:xfrm>
            <a:off x="10017252" y="4338828"/>
            <a:ext cx="320040" cy="320040"/>
          </a:xfrm>
          <a:prstGeom prst="rect">
            <a:avLst/>
          </a:prstGeom>
        </p:spPr>
      </p:pic>
      <p:sp>
        <p:nvSpPr>
          <p:cNvPr id="44" name="Text 32"/>
          <p:cNvSpPr/>
          <p:nvPr/>
        </p:nvSpPr>
        <p:spPr>
          <a:xfrm>
            <a:off x="9272016" y="5001768"/>
            <a:ext cx="1810512" cy="50292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Smart Cities</a:t>
            </a:r>
            <a:endParaRPr lang="en-US" sz="1150" dirty="0"/>
          </a:p>
        </p:txBody>
      </p:sp>
      <p:sp>
        <p:nvSpPr>
          <p:cNvPr id="46" name="Text 3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A9B6C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FUTURE SCOPE</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Toward a Complete Physical AI Ecosystem</a:t>
            </a:r>
            <a:endParaRPr lang="en-US" sz="2800" dirty="0"/>
          </a:p>
        </p:txBody>
      </p:sp>
      <p:sp>
        <p:nvSpPr>
          <p:cNvPr id="4" name="Text 2"/>
          <p:cNvSpPr/>
          <p:nvPr/>
        </p:nvSpPr>
        <p:spPr>
          <a:xfrm>
            <a:off x="548640" y="1417320"/>
            <a:ext cx="10607040" cy="365760"/>
          </a:xfrm>
          <a:prstGeom prst="rect">
            <a:avLst/>
          </a:prstGeom>
          <a:noFill/>
          <a:ln/>
        </p:spPr>
        <p:txBody>
          <a:bodyPr wrap="square" lIns="0" tIns="0" rIns="0" bIns="0" rtlCol="0" anchor="ctr"/>
          <a:lstStyle/>
          <a:p>
            <a:pPr indent="0" marL="0">
              <a:buNone/>
            </a:pPr>
            <a:r>
              <a:rPr lang="en-US" sz="1300" dirty="0">
                <a:solidFill>
                  <a:srgbClr val="5B6B82"/>
                </a:solidFill>
                <a:latin typeface="Calibri" pitchFamily="34" charset="0"/>
                <a:ea typeface="Calibri" pitchFamily="34" charset="-122"/>
                <a:cs typeface="Calibri" pitchFamily="34" charset="-120"/>
              </a:rPr>
              <a:t>SentinelAI X can evolve from an autonomous operations platform into a complete Physical AI Ecosystem.</a:t>
            </a:r>
            <a:endParaRPr lang="en-US" sz="1300" dirty="0"/>
          </a:p>
        </p:txBody>
      </p:sp>
      <p:sp>
        <p:nvSpPr>
          <p:cNvPr id="5" name="Shape 3"/>
          <p:cNvSpPr/>
          <p:nvPr/>
        </p:nvSpPr>
        <p:spPr>
          <a:xfrm>
            <a:off x="548640" y="1965960"/>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6" name="Shape 4"/>
          <p:cNvSpPr/>
          <p:nvPr/>
        </p:nvSpPr>
        <p:spPr>
          <a:xfrm>
            <a:off x="777240" y="2171700"/>
            <a:ext cx="457200" cy="457200"/>
          </a:xfrm>
          <a:prstGeom prst="ellipse">
            <a:avLst/>
          </a:prstGeom>
          <a:solidFill>
            <a:srgbClr val="F2A33C"/>
          </a:solidFill>
          <a:ln/>
        </p:spPr>
      </p:sp>
      <p:pic>
        <p:nvPicPr>
          <p:cNvPr id="7" name="Image 0" descr="/home/claude/sentinelai/images/gauge_white.png">    </p:cNvPr>
          <p:cNvPicPr>
            <a:picLocks noChangeAspect="1"/>
          </p:cNvPicPr>
          <p:nvPr/>
        </p:nvPicPr>
        <p:blipFill>
          <a:blip r:embed="rId1"/>
          <a:stretch>
            <a:fillRect/>
          </a:stretch>
        </p:blipFill>
        <p:spPr>
          <a:xfrm>
            <a:off x="891540" y="2286000"/>
            <a:ext cx="228600" cy="228600"/>
          </a:xfrm>
          <a:prstGeom prst="rect">
            <a:avLst/>
          </a:prstGeom>
        </p:spPr>
      </p:pic>
      <p:sp>
        <p:nvSpPr>
          <p:cNvPr id="8" name="Text 5"/>
          <p:cNvSpPr/>
          <p:nvPr/>
        </p:nvSpPr>
        <p:spPr>
          <a:xfrm>
            <a:off x="1325880" y="1965960"/>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Predictive Maintenance</a:t>
            </a:r>
            <a:endParaRPr lang="en-US" sz="1150" dirty="0"/>
          </a:p>
        </p:txBody>
      </p:sp>
      <p:sp>
        <p:nvSpPr>
          <p:cNvPr id="9" name="Shape 6"/>
          <p:cNvSpPr/>
          <p:nvPr/>
        </p:nvSpPr>
        <p:spPr>
          <a:xfrm>
            <a:off x="4023360" y="1965960"/>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0" name="Shape 7"/>
          <p:cNvSpPr/>
          <p:nvPr/>
        </p:nvSpPr>
        <p:spPr>
          <a:xfrm>
            <a:off x="4251960" y="2171700"/>
            <a:ext cx="457200" cy="457200"/>
          </a:xfrm>
          <a:prstGeom prst="ellipse">
            <a:avLst/>
          </a:prstGeom>
          <a:solidFill>
            <a:srgbClr val="F2A33C"/>
          </a:solidFill>
          <a:ln/>
        </p:spPr>
      </p:sp>
      <p:pic>
        <p:nvPicPr>
          <p:cNvPr id="11" name="Image 1" descr="/home/claude/sentinelai/images/chip_white.png">    </p:cNvPr>
          <p:cNvPicPr>
            <a:picLocks noChangeAspect="1"/>
          </p:cNvPicPr>
          <p:nvPr/>
        </p:nvPicPr>
        <p:blipFill>
          <a:blip r:embed="rId2"/>
          <a:stretch>
            <a:fillRect/>
          </a:stretch>
        </p:blipFill>
        <p:spPr>
          <a:xfrm>
            <a:off x="4366260" y="2286000"/>
            <a:ext cx="228600" cy="228600"/>
          </a:xfrm>
          <a:prstGeom prst="rect">
            <a:avLst/>
          </a:prstGeom>
        </p:spPr>
      </p:pic>
      <p:sp>
        <p:nvSpPr>
          <p:cNvPr id="12" name="Text 8"/>
          <p:cNvSpPr/>
          <p:nvPr/>
        </p:nvSpPr>
        <p:spPr>
          <a:xfrm>
            <a:off x="4800600" y="1965960"/>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Edge AI Deployment</a:t>
            </a:r>
            <a:endParaRPr lang="en-US" sz="1150" dirty="0"/>
          </a:p>
        </p:txBody>
      </p:sp>
      <p:sp>
        <p:nvSpPr>
          <p:cNvPr id="13" name="Shape 9"/>
          <p:cNvSpPr/>
          <p:nvPr/>
        </p:nvSpPr>
        <p:spPr>
          <a:xfrm>
            <a:off x="7498080" y="1965960"/>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4" name="Shape 10"/>
          <p:cNvSpPr/>
          <p:nvPr/>
        </p:nvSpPr>
        <p:spPr>
          <a:xfrm>
            <a:off x="7726680" y="2171700"/>
            <a:ext cx="457200" cy="457200"/>
          </a:xfrm>
          <a:prstGeom prst="ellipse">
            <a:avLst/>
          </a:prstGeom>
          <a:solidFill>
            <a:srgbClr val="F2A33C"/>
          </a:solidFill>
          <a:ln/>
        </p:spPr>
      </p:sp>
      <p:pic>
        <p:nvPicPr>
          <p:cNvPr id="15" name="Image 2" descr="/home/claude/sentinelai/images/satellite_white.png">    </p:cNvPr>
          <p:cNvPicPr>
            <a:picLocks noChangeAspect="1"/>
          </p:cNvPicPr>
          <p:nvPr/>
        </p:nvPicPr>
        <p:blipFill>
          <a:blip r:embed="rId3"/>
          <a:stretch>
            <a:fillRect/>
          </a:stretch>
        </p:blipFill>
        <p:spPr>
          <a:xfrm>
            <a:off x="7840980" y="2286000"/>
            <a:ext cx="228600" cy="228600"/>
          </a:xfrm>
          <a:prstGeom prst="rect">
            <a:avLst/>
          </a:prstGeom>
        </p:spPr>
      </p:pic>
      <p:sp>
        <p:nvSpPr>
          <p:cNvPr id="16" name="Text 11"/>
          <p:cNvSpPr/>
          <p:nvPr/>
        </p:nvSpPr>
        <p:spPr>
          <a:xfrm>
            <a:off x="8275320" y="1965960"/>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Drone-Based Monitoring</a:t>
            </a:r>
            <a:endParaRPr lang="en-US" sz="1150" dirty="0"/>
          </a:p>
        </p:txBody>
      </p:sp>
      <p:sp>
        <p:nvSpPr>
          <p:cNvPr id="17" name="Shape 12"/>
          <p:cNvSpPr/>
          <p:nvPr/>
        </p:nvSpPr>
        <p:spPr>
          <a:xfrm>
            <a:off x="548640" y="2999232"/>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8" name="Shape 13"/>
          <p:cNvSpPr/>
          <p:nvPr/>
        </p:nvSpPr>
        <p:spPr>
          <a:xfrm>
            <a:off x="777240" y="3204972"/>
            <a:ext cx="457200" cy="457200"/>
          </a:xfrm>
          <a:prstGeom prst="ellipse">
            <a:avLst/>
          </a:prstGeom>
          <a:solidFill>
            <a:srgbClr val="F2A33C"/>
          </a:solidFill>
          <a:ln/>
        </p:spPr>
      </p:sp>
      <p:pic>
        <p:nvPicPr>
          <p:cNvPr id="19" name="Image 3" descr="/home/claude/sentinelai/images/robot_white.png">    </p:cNvPr>
          <p:cNvPicPr>
            <a:picLocks noChangeAspect="1"/>
          </p:cNvPicPr>
          <p:nvPr/>
        </p:nvPicPr>
        <p:blipFill>
          <a:blip r:embed="rId4"/>
          <a:stretch>
            <a:fillRect/>
          </a:stretch>
        </p:blipFill>
        <p:spPr>
          <a:xfrm>
            <a:off x="891540" y="3319272"/>
            <a:ext cx="228600" cy="228600"/>
          </a:xfrm>
          <a:prstGeom prst="rect">
            <a:avLst/>
          </a:prstGeom>
        </p:spPr>
      </p:pic>
      <p:sp>
        <p:nvSpPr>
          <p:cNvPr id="20" name="Text 14"/>
          <p:cNvSpPr/>
          <p:nvPr/>
        </p:nvSpPr>
        <p:spPr>
          <a:xfrm>
            <a:off x="1325880" y="2999232"/>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Autonomous Robotics Integration</a:t>
            </a:r>
            <a:endParaRPr lang="en-US" sz="1150" dirty="0"/>
          </a:p>
        </p:txBody>
      </p:sp>
      <p:sp>
        <p:nvSpPr>
          <p:cNvPr id="21" name="Shape 15"/>
          <p:cNvSpPr/>
          <p:nvPr/>
        </p:nvSpPr>
        <p:spPr>
          <a:xfrm>
            <a:off x="4023360" y="2999232"/>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2" name="Shape 16"/>
          <p:cNvSpPr/>
          <p:nvPr/>
        </p:nvSpPr>
        <p:spPr>
          <a:xfrm>
            <a:off x="4251960" y="3204972"/>
            <a:ext cx="457200" cy="457200"/>
          </a:xfrm>
          <a:prstGeom prst="ellipse">
            <a:avLst/>
          </a:prstGeom>
          <a:solidFill>
            <a:srgbClr val="F2A33C"/>
          </a:solidFill>
          <a:ln/>
        </p:spPr>
      </p:sp>
      <p:pic>
        <p:nvPicPr>
          <p:cNvPr id="23" name="Image 4" descr="/home/claude/sentinelai/images/building_white.png">    </p:cNvPr>
          <p:cNvPicPr>
            <a:picLocks noChangeAspect="1"/>
          </p:cNvPicPr>
          <p:nvPr/>
        </p:nvPicPr>
        <p:blipFill>
          <a:blip r:embed="rId5"/>
          <a:stretch>
            <a:fillRect/>
          </a:stretch>
        </p:blipFill>
        <p:spPr>
          <a:xfrm>
            <a:off x="4366260" y="3319272"/>
            <a:ext cx="228600" cy="228600"/>
          </a:xfrm>
          <a:prstGeom prst="rect">
            <a:avLst/>
          </a:prstGeom>
        </p:spPr>
      </p:pic>
      <p:sp>
        <p:nvSpPr>
          <p:cNvPr id="24" name="Text 17"/>
          <p:cNvSpPr/>
          <p:nvPr/>
        </p:nvSpPr>
        <p:spPr>
          <a:xfrm>
            <a:off x="4800600" y="2999232"/>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Building Information Modeling (BIM)</a:t>
            </a:r>
            <a:endParaRPr lang="en-US" sz="1150" dirty="0"/>
          </a:p>
        </p:txBody>
      </p:sp>
      <p:sp>
        <p:nvSpPr>
          <p:cNvPr id="25" name="Shape 18"/>
          <p:cNvSpPr/>
          <p:nvPr/>
        </p:nvSpPr>
        <p:spPr>
          <a:xfrm>
            <a:off x="7498080" y="2999232"/>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6" name="Shape 19"/>
          <p:cNvSpPr/>
          <p:nvPr/>
        </p:nvSpPr>
        <p:spPr>
          <a:xfrm>
            <a:off x="7726680" y="3204972"/>
            <a:ext cx="457200" cy="457200"/>
          </a:xfrm>
          <a:prstGeom prst="ellipse">
            <a:avLst/>
          </a:prstGeom>
          <a:solidFill>
            <a:srgbClr val="F2A33C"/>
          </a:solidFill>
          <a:ln/>
        </p:spPr>
      </p:sp>
      <p:pic>
        <p:nvPicPr>
          <p:cNvPr id="27" name="Image 5" descr="/home/claude/sentinelai/images/bolt_white.png">    </p:cNvPr>
          <p:cNvPicPr>
            <a:picLocks noChangeAspect="1"/>
          </p:cNvPicPr>
          <p:nvPr/>
        </p:nvPicPr>
        <p:blipFill>
          <a:blip r:embed="rId6"/>
          <a:stretch>
            <a:fillRect/>
          </a:stretch>
        </p:blipFill>
        <p:spPr>
          <a:xfrm>
            <a:off x="7840980" y="3319272"/>
            <a:ext cx="228600" cy="228600"/>
          </a:xfrm>
          <a:prstGeom prst="rect">
            <a:avLst/>
          </a:prstGeom>
        </p:spPr>
      </p:pic>
      <p:sp>
        <p:nvSpPr>
          <p:cNvPr id="28" name="Text 20"/>
          <p:cNvSpPr/>
          <p:nvPr/>
        </p:nvSpPr>
        <p:spPr>
          <a:xfrm>
            <a:off x="8275320" y="2999232"/>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Smart Grid Integration</a:t>
            </a:r>
            <a:endParaRPr lang="en-US" sz="1150" dirty="0"/>
          </a:p>
        </p:txBody>
      </p:sp>
      <p:sp>
        <p:nvSpPr>
          <p:cNvPr id="29" name="Shape 21"/>
          <p:cNvSpPr/>
          <p:nvPr/>
        </p:nvSpPr>
        <p:spPr>
          <a:xfrm>
            <a:off x="548640" y="4032504"/>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30" name="Shape 22"/>
          <p:cNvSpPr/>
          <p:nvPr/>
        </p:nvSpPr>
        <p:spPr>
          <a:xfrm>
            <a:off x="777240" y="4238244"/>
            <a:ext cx="457200" cy="457200"/>
          </a:xfrm>
          <a:prstGeom prst="ellipse">
            <a:avLst/>
          </a:prstGeom>
          <a:solidFill>
            <a:srgbClr val="F2A33C"/>
          </a:solidFill>
          <a:ln/>
        </p:spPr>
      </p:sp>
      <p:pic>
        <p:nvPicPr>
          <p:cNvPr id="31" name="Image 6" descr="/home/claude/sentinelai/images/cubes_white.png">    </p:cNvPr>
          <p:cNvPicPr>
            <a:picLocks noChangeAspect="1"/>
          </p:cNvPicPr>
          <p:nvPr/>
        </p:nvPicPr>
        <p:blipFill>
          <a:blip r:embed="rId7"/>
          <a:stretch>
            <a:fillRect/>
          </a:stretch>
        </p:blipFill>
        <p:spPr>
          <a:xfrm>
            <a:off x="891540" y="4352544"/>
            <a:ext cx="228600" cy="228600"/>
          </a:xfrm>
          <a:prstGeom prst="rect">
            <a:avLst/>
          </a:prstGeom>
        </p:spPr>
      </p:pic>
      <p:sp>
        <p:nvSpPr>
          <p:cNvPr id="32" name="Text 23"/>
          <p:cNvSpPr/>
          <p:nvPr/>
        </p:nvSpPr>
        <p:spPr>
          <a:xfrm>
            <a:off x="1325880" y="4032504"/>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Digital Twin Simulation</a:t>
            </a:r>
            <a:endParaRPr lang="en-US" sz="1150" dirty="0"/>
          </a:p>
        </p:txBody>
      </p:sp>
      <p:sp>
        <p:nvSpPr>
          <p:cNvPr id="33" name="Shape 24"/>
          <p:cNvSpPr/>
          <p:nvPr/>
        </p:nvSpPr>
        <p:spPr>
          <a:xfrm>
            <a:off x="4023360" y="4032504"/>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34" name="Shape 25"/>
          <p:cNvSpPr/>
          <p:nvPr/>
        </p:nvSpPr>
        <p:spPr>
          <a:xfrm>
            <a:off x="4251960" y="4238244"/>
            <a:ext cx="457200" cy="457200"/>
          </a:xfrm>
          <a:prstGeom prst="ellipse">
            <a:avLst/>
          </a:prstGeom>
          <a:solidFill>
            <a:srgbClr val="F2A33C"/>
          </a:solidFill>
          <a:ln/>
        </p:spPr>
      </p:sp>
      <p:pic>
        <p:nvPicPr>
          <p:cNvPr id="35" name="Image 7" descr="/home/claude/sentinelai/images/leaf_white.png">    </p:cNvPr>
          <p:cNvPicPr>
            <a:picLocks noChangeAspect="1"/>
          </p:cNvPicPr>
          <p:nvPr/>
        </p:nvPicPr>
        <p:blipFill>
          <a:blip r:embed="rId8"/>
          <a:stretch>
            <a:fillRect/>
          </a:stretch>
        </p:blipFill>
        <p:spPr>
          <a:xfrm>
            <a:off x="4366260" y="4352544"/>
            <a:ext cx="228600" cy="228600"/>
          </a:xfrm>
          <a:prstGeom prst="rect">
            <a:avLst/>
          </a:prstGeom>
        </p:spPr>
      </p:pic>
      <p:sp>
        <p:nvSpPr>
          <p:cNvPr id="36" name="Text 26"/>
          <p:cNvSpPr/>
          <p:nvPr/>
        </p:nvSpPr>
        <p:spPr>
          <a:xfrm>
            <a:off x="4800600" y="4032504"/>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Carbon Footprint Optimization</a:t>
            </a:r>
            <a:endParaRPr lang="en-US" sz="1150" dirty="0"/>
          </a:p>
        </p:txBody>
      </p:sp>
      <p:sp>
        <p:nvSpPr>
          <p:cNvPr id="37" name="Shape 27"/>
          <p:cNvSpPr/>
          <p:nvPr/>
        </p:nvSpPr>
        <p:spPr>
          <a:xfrm>
            <a:off x="7498080" y="4032504"/>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38" name="Shape 28"/>
          <p:cNvSpPr/>
          <p:nvPr/>
        </p:nvSpPr>
        <p:spPr>
          <a:xfrm>
            <a:off x="7726680" y="4238244"/>
            <a:ext cx="457200" cy="457200"/>
          </a:xfrm>
          <a:prstGeom prst="ellipse">
            <a:avLst/>
          </a:prstGeom>
          <a:solidFill>
            <a:srgbClr val="F2A33C"/>
          </a:solidFill>
          <a:ln/>
        </p:spPr>
      </p:sp>
      <p:pic>
        <p:nvPicPr>
          <p:cNvPr id="39" name="Image 8" descr="/home/claude/sentinelai/images/bulb_white.png">    </p:cNvPr>
          <p:cNvPicPr>
            <a:picLocks noChangeAspect="1"/>
          </p:cNvPicPr>
          <p:nvPr/>
        </p:nvPicPr>
        <p:blipFill>
          <a:blip r:embed="rId9"/>
          <a:stretch>
            <a:fillRect/>
          </a:stretch>
        </p:blipFill>
        <p:spPr>
          <a:xfrm>
            <a:off x="7840980" y="4352544"/>
            <a:ext cx="228600" cy="228600"/>
          </a:xfrm>
          <a:prstGeom prst="rect">
            <a:avLst/>
          </a:prstGeom>
        </p:spPr>
      </p:pic>
      <p:sp>
        <p:nvSpPr>
          <p:cNvPr id="40" name="Text 29"/>
          <p:cNvSpPr/>
          <p:nvPr/>
        </p:nvSpPr>
        <p:spPr>
          <a:xfrm>
            <a:off x="8275320" y="4032504"/>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AI-Driven Facility Planning</a:t>
            </a:r>
            <a:endParaRPr lang="en-US" sz="1150" dirty="0"/>
          </a:p>
        </p:txBody>
      </p:sp>
      <p:sp>
        <p:nvSpPr>
          <p:cNvPr id="41" name="Shape 30"/>
          <p:cNvSpPr/>
          <p:nvPr/>
        </p:nvSpPr>
        <p:spPr>
          <a:xfrm>
            <a:off x="548640" y="5065776"/>
            <a:ext cx="3291840" cy="868680"/>
          </a:xfrm>
          <a:prstGeom prst="roundRect">
            <a:avLst>
              <a:gd name="adj" fmla="val 8421"/>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42" name="Shape 31"/>
          <p:cNvSpPr/>
          <p:nvPr/>
        </p:nvSpPr>
        <p:spPr>
          <a:xfrm>
            <a:off x="777240" y="5271516"/>
            <a:ext cx="457200" cy="457200"/>
          </a:xfrm>
          <a:prstGeom prst="ellipse">
            <a:avLst/>
          </a:prstGeom>
          <a:solidFill>
            <a:srgbClr val="F2A33C"/>
          </a:solidFill>
          <a:ln/>
        </p:spPr>
      </p:sp>
      <p:pic>
        <p:nvPicPr>
          <p:cNvPr id="43" name="Image 9" descr="/home/claude/sentinelai/images/city_white.png">    </p:cNvPr>
          <p:cNvPicPr>
            <a:picLocks noChangeAspect="1"/>
          </p:cNvPicPr>
          <p:nvPr/>
        </p:nvPicPr>
        <p:blipFill>
          <a:blip r:embed="rId10"/>
          <a:stretch>
            <a:fillRect/>
          </a:stretch>
        </p:blipFill>
        <p:spPr>
          <a:xfrm>
            <a:off x="891540" y="5385816"/>
            <a:ext cx="228600" cy="228600"/>
          </a:xfrm>
          <a:prstGeom prst="rect">
            <a:avLst/>
          </a:prstGeom>
        </p:spPr>
      </p:pic>
      <p:sp>
        <p:nvSpPr>
          <p:cNvPr id="44" name="Text 32"/>
          <p:cNvSpPr/>
          <p:nvPr/>
        </p:nvSpPr>
        <p:spPr>
          <a:xfrm>
            <a:off x="1325880" y="5065776"/>
            <a:ext cx="2377440" cy="868680"/>
          </a:xfrm>
          <a:prstGeom prst="rect">
            <a:avLst/>
          </a:prstGeom>
          <a:noFill/>
          <a:ln/>
        </p:spPr>
        <p:txBody>
          <a:bodyPr wrap="square" lIns="0" tIns="0" rIns="0" bIns="0" rtlCol="0" anchor="ctr"/>
          <a:lstStyle/>
          <a:p>
            <a:pPr indent="0" marL="0">
              <a:lnSpc>
                <a:spcPct val="95000"/>
              </a:lnSpc>
              <a:buNone/>
            </a:pPr>
            <a:r>
              <a:rPr lang="en-US" sz="1150" b="1" dirty="0">
                <a:solidFill>
                  <a:srgbClr val="0B1F3A"/>
                </a:solidFill>
                <a:latin typeface="Calibri" pitchFamily="34" charset="0"/>
                <a:ea typeface="Calibri" pitchFamily="34" charset="-122"/>
                <a:cs typeface="Calibri" pitchFamily="34" charset="-120"/>
              </a:rPr>
              <a:t>City-Scale Physical Intelligence Platform</a:t>
            </a:r>
            <a:endParaRPr lang="en-US" sz="1150" dirty="0"/>
          </a:p>
        </p:txBody>
      </p:sp>
      <p:sp>
        <p:nvSpPr>
          <p:cNvPr id="46" name="Text 3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A9B6C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FEASIBILITY</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Why SentinelAI X Is Practical to Deploy</a:t>
            </a:r>
            <a:endParaRPr lang="en-US" sz="2800" dirty="0"/>
          </a:p>
        </p:txBody>
      </p:sp>
      <p:sp>
        <p:nvSpPr>
          <p:cNvPr id="4" name="Shape 2"/>
          <p:cNvSpPr/>
          <p:nvPr/>
        </p:nvSpPr>
        <p:spPr>
          <a:xfrm>
            <a:off x="548640" y="1691640"/>
            <a:ext cx="525780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5" name="Shape 3"/>
          <p:cNvSpPr/>
          <p:nvPr/>
        </p:nvSpPr>
        <p:spPr>
          <a:xfrm>
            <a:off x="777240" y="1965960"/>
            <a:ext cx="457200" cy="457200"/>
          </a:xfrm>
          <a:prstGeom prst="ellipse">
            <a:avLst/>
          </a:prstGeom>
          <a:solidFill>
            <a:srgbClr val="67D6A6"/>
          </a:solidFill>
          <a:ln/>
        </p:spPr>
      </p:sp>
      <p:pic>
        <p:nvPicPr>
          <p:cNvPr id="6" name="Image 0" descr="/home/claude/sentinelai/images/check_white.png">    </p:cNvPr>
          <p:cNvPicPr>
            <a:picLocks noChangeAspect="1"/>
          </p:cNvPicPr>
          <p:nvPr/>
        </p:nvPicPr>
        <p:blipFill>
          <a:blip r:embed="rId1"/>
          <a:stretch>
            <a:fillRect/>
          </a:stretch>
        </p:blipFill>
        <p:spPr>
          <a:xfrm>
            <a:off x="891540" y="2080260"/>
            <a:ext cx="228600" cy="228600"/>
          </a:xfrm>
          <a:prstGeom prst="rect">
            <a:avLst/>
          </a:prstGeom>
        </p:spPr>
      </p:pic>
      <p:sp>
        <p:nvSpPr>
          <p:cNvPr id="7" name="Text 4"/>
          <p:cNvSpPr/>
          <p:nvPr/>
        </p:nvSpPr>
        <p:spPr>
          <a:xfrm>
            <a:off x="1325880" y="1691640"/>
            <a:ext cx="4343400" cy="1005840"/>
          </a:xfrm>
          <a:prstGeom prst="rect">
            <a:avLst/>
          </a:prstGeom>
          <a:noFill/>
          <a:ln/>
        </p:spPr>
        <p:txBody>
          <a:bodyPr wrap="square" lIns="0" tIns="0" rIns="0" bIns="0" rtlCol="0" anchor="ctr"/>
          <a:lstStyle/>
          <a:p>
            <a:pPr indent="0" marL="0">
              <a:lnSpc>
                <a:spcPct val="105000"/>
              </a:lnSpc>
              <a:buNone/>
            </a:pPr>
            <a:r>
              <a:rPr lang="en-US" sz="1200" dirty="0">
                <a:solidFill>
                  <a:srgbClr val="33425C"/>
                </a:solidFill>
                <a:latin typeface="Calibri" pitchFamily="34" charset="0"/>
                <a:ea typeface="Calibri" pitchFamily="34" charset="-122"/>
                <a:cs typeface="Calibri" pitchFamily="34" charset="-120"/>
              </a:rPr>
              <a:t>Uses existing CCTV infrastructure — no camera replacement required.</a:t>
            </a:r>
            <a:endParaRPr lang="en-US" sz="1200" dirty="0"/>
          </a:p>
        </p:txBody>
      </p:sp>
      <p:sp>
        <p:nvSpPr>
          <p:cNvPr id="8" name="Shape 5"/>
          <p:cNvSpPr/>
          <p:nvPr/>
        </p:nvSpPr>
        <p:spPr>
          <a:xfrm>
            <a:off x="6080760" y="1691640"/>
            <a:ext cx="525780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9" name="Shape 6"/>
          <p:cNvSpPr/>
          <p:nvPr/>
        </p:nvSpPr>
        <p:spPr>
          <a:xfrm>
            <a:off x="6309360" y="1965960"/>
            <a:ext cx="457200" cy="457200"/>
          </a:xfrm>
          <a:prstGeom prst="ellipse">
            <a:avLst/>
          </a:prstGeom>
          <a:solidFill>
            <a:srgbClr val="67D6A6"/>
          </a:solidFill>
          <a:ln/>
        </p:spPr>
      </p:sp>
      <p:pic>
        <p:nvPicPr>
          <p:cNvPr id="10" name="Image 1" descr="/home/claude/sentinelai/images/check_white.png">    </p:cNvPr>
          <p:cNvPicPr>
            <a:picLocks noChangeAspect="1"/>
          </p:cNvPicPr>
          <p:nvPr/>
        </p:nvPicPr>
        <p:blipFill>
          <a:blip r:embed="rId2"/>
          <a:stretch>
            <a:fillRect/>
          </a:stretch>
        </p:blipFill>
        <p:spPr>
          <a:xfrm>
            <a:off x="6423660" y="2080260"/>
            <a:ext cx="228600" cy="228600"/>
          </a:xfrm>
          <a:prstGeom prst="rect">
            <a:avLst/>
          </a:prstGeom>
        </p:spPr>
      </p:pic>
      <p:sp>
        <p:nvSpPr>
          <p:cNvPr id="11" name="Text 7"/>
          <p:cNvSpPr/>
          <p:nvPr/>
        </p:nvSpPr>
        <p:spPr>
          <a:xfrm>
            <a:off x="6858000" y="1691640"/>
            <a:ext cx="4343400" cy="1005840"/>
          </a:xfrm>
          <a:prstGeom prst="rect">
            <a:avLst/>
          </a:prstGeom>
          <a:noFill/>
          <a:ln/>
        </p:spPr>
        <p:txBody>
          <a:bodyPr wrap="square" lIns="0" tIns="0" rIns="0" bIns="0" rtlCol="0" anchor="ctr"/>
          <a:lstStyle/>
          <a:p>
            <a:pPr indent="0" marL="0">
              <a:lnSpc>
                <a:spcPct val="105000"/>
              </a:lnSpc>
              <a:buNone/>
            </a:pPr>
            <a:r>
              <a:rPr lang="en-US" sz="1200" dirty="0">
                <a:solidFill>
                  <a:srgbClr val="33425C"/>
                </a:solidFill>
                <a:latin typeface="Calibri" pitchFamily="34" charset="0"/>
                <a:ea typeface="Calibri" pitchFamily="34" charset="-122"/>
                <a:cs typeface="Calibri" pitchFamily="34" charset="-120"/>
              </a:rPr>
              <a:t>Supports both simulated and real IoT devices for flexible rollout.</a:t>
            </a:r>
            <a:endParaRPr lang="en-US" sz="1200" dirty="0"/>
          </a:p>
        </p:txBody>
      </p:sp>
      <p:sp>
        <p:nvSpPr>
          <p:cNvPr id="12" name="Shape 8"/>
          <p:cNvSpPr/>
          <p:nvPr/>
        </p:nvSpPr>
        <p:spPr>
          <a:xfrm>
            <a:off x="548640" y="2834640"/>
            <a:ext cx="525780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3" name="Shape 9"/>
          <p:cNvSpPr/>
          <p:nvPr/>
        </p:nvSpPr>
        <p:spPr>
          <a:xfrm>
            <a:off x="777240" y="3108960"/>
            <a:ext cx="457200" cy="457200"/>
          </a:xfrm>
          <a:prstGeom prst="ellipse">
            <a:avLst/>
          </a:prstGeom>
          <a:solidFill>
            <a:srgbClr val="67D6A6"/>
          </a:solidFill>
          <a:ln/>
        </p:spPr>
      </p:sp>
      <p:pic>
        <p:nvPicPr>
          <p:cNvPr id="14" name="Image 2" descr="/home/claude/sentinelai/images/check_white.png">    </p:cNvPr>
          <p:cNvPicPr>
            <a:picLocks noChangeAspect="1"/>
          </p:cNvPicPr>
          <p:nvPr/>
        </p:nvPicPr>
        <p:blipFill>
          <a:blip r:embed="rId3"/>
          <a:stretch>
            <a:fillRect/>
          </a:stretch>
        </p:blipFill>
        <p:spPr>
          <a:xfrm>
            <a:off x="891540" y="3223260"/>
            <a:ext cx="228600" cy="228600"/>
          </a:xfrm>
          <a:prstGeom prst="rect">
            <a:avLst/>
          </a:prstGeom>
        </p:spPr>
      </p:pic>
      <p:sp>
        <p:nvSpPr>
          <p:cNvPr id="15" name="Text 10"/>
          <p:cNvSpPr/>
          <p:nvPr/>
        </p:nvSpPr>
        <p:spPr>
          <a:xfrm>
            <a:off x="1325880" y="2834640"/>
            <a:ext cx="4343400" cy="1005840"/>
          </a:xfrm>
          <a:prstGeom prst="rect">
            <a:avLst/>
          </a:prstGeom>
          <a:noFill/>
          <a:ln/>
        </p:spPr>
        <p:txBody>
          <a:bodyPr wrap="square" lIns="0" tIns="0" rIns="0" bIns="0" rtlCol="0" anchor="ctr"/>
          <a:lstStyle/>
          <a:p>
            <a:pPr indent="0" marL="0">
              <a:lnSpc>
                <a:spcPct val="105000"/>
              </a:lnSpc>
              <a:buNone/>
            </a:pPr>
            <a:r>
              <a:rPr lang="en-US" sz="1200" dirty="0">
                <a:solidFill>
                  <a:srgbClr val="33425C"/>
                </a:solidFill>
                <a:latin typeface="Calibri" pitchFamily="34" charset="0"/>
                <a:ea typeface="Calibri" pitchFamily="34" charset="-122"/>
                <a:cs typeface="Calibri" pitchFamily="34" charset="-120"/>
              </a:rPr>
              <a:t>Modular architecture enables incremental, phased deployment.</a:t>
            </a:r>
            <a:endParaRPr lang="en-US" sz="1200" dirty="0"/>
          </a:p>
        </p:txBody>
      </p:sp>
      <p:sp>
        <p:nvSpPr>
          <p:cNvPr id="16" name="Shape 11"/>
          <p:cNvSpPr/>
          <p:nvPr/>
        </p:nvSpPr>
        <p:spPr>
          <a:xfrm>
            <a:off x="6080760" y="2834640"/>
            <a:ext cx="525780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17" name="Shape 12"/>
          <p:cNvSpPr/>
          <p:nvPr/>
        </p:nvSpPr>
        <p:spPr>
          <a:xfrm>
            <a:off x="6309360" y="3108960"/>
            <a:ext cx="457200" cy="457200"/>
          </a:xfrm>
          <a:prstGeom prst="ellipse">
            <a:avLst/>
          </a:prstGeom>
          <a:solidFill>
            <a:srgbClr val="67D6A6"/>
          </a:solidFill>
          <a:ln/>
        </p:spPr>
      </p:sp>
      <p:pic>
        <p:nvPicPr>
          <p:cNvPr id="18" name="Image 3" descr="/home/claude/sentinelai/images/check_white.png">    </p:cNvPr>
          <p:cNvPicPr>
            <a:picLocks noChangeAspect="1"/>
          </p:cNvPicPr>
          <p:nvPr/>
        </p:nvPicPr>
        <p:blipFill>
          <a:blip r:embed="rId4"/>
          <a:stretch>
            <a:fillRect/>
          </a:stretch>
        </p:blipFill>
        <p:spPr>
          <a:xfrm>
            <a:off x="6423660" y="3223260"/>
            <a:ext cx="228600" cy="228600"/>
          </a:xfrm>
          <a:prstGeom prst="rect">
            <a:avLst/>
          </a:prstGeom>
        </p:spPr>
      </p:pic>
      <p:sp>
        <p:nvSpPr>
          <p:cNvPr id="19" name="Text 13"/>
          <p:cNvSpPr/>
          <p:nvPr/>
        </p:nvSpPr>
        <p:spPr>
          <a:xfrm>
            <a:off x="6858000" y="2834640"/>
            <a:ext cx="4343400" cy="1005840"/>
          </a:xfrm>
          <a:prstGeom prst="rect">
            <a:avLst/>
          </a:prstGeom>
          <a:noFill/>
          <a:ln/>
        </p:spPr>
        <p:txBody>
          <a:bodyPr wrap="square" lIns="0" tIns="0" rIns="0" bIns="0" rtlCol="0" anchor="ctr"/>
          <a:lstStyle/>
          <a:p>
            <a:pPr indent="0" marL="0">
              <a:lnSpc>
                <a:spcPct val="105000"/>
              </a:lnSpc>
              <a:buNone/>
            </a:pPr>
            <a:r>
              <a:rPr lang="en-US" sz="1200" dirty="0">
                <a:solidFill>
                  <a:srgbClr val="33425C"/>
                </a:solidFill>
                <a:latin typeface="Calibri" pitchFamily="34" charset="0"/>
                <a:ea typeface="Calibri" pitchFamily="34" charset="-122"/>
                <a:cs typeface="Calibri" pitchFamily="34" charset="-120"/>
              </a:rPr>
              <a:t>Cloud and Edge compatible for varied infrastructure needs.</a:t>
            </a:r>
            <a:endParaRPr lang="en-US" sz="1200" dirty="0"/>
          </a:p>
        </p:txBody>
      </p:sp>
      <p:sp>
        <p:nvSpPr>
          <p:cNvPr id="20" name="Shape 14"/>
          <p:cNvSpPr/>
          <p:nvPr/>
        </p:nvSpPr>
        <p:spPr>
          <a:xfrm>
            <a:off x="548640" y="3977640"/>
            <a:ext cx="525780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1" name="Shape 15"/>
          <p:cNvSpPr/>
          <p:nvPr/>
        </p:nvSpPr>
        <p:spPr>
          <a:xfrm>
            <a:off x="777240" y="4251960"/>
            <a:ext cx="457200" cy="457200"/>
          </a:xfrm>
          <a:prstGeom prst="ellipse">
            <a:avLst/>
          </a:prstGeom>
          <a:solidFill>
            <a:srgbClr val="67D6A6"/>
          </a:solidFill>
          <a:ln/>
        </p:spPr>
      </p:sp>
      <p:pic>
        <p:nvPicPr>
          <p:cNvPr id="22" name="Image 4" descr="/home/claude/sentinelai/images/check_white.png">    </p:cNvPr>
          <p:cNvPicPr>
            <a:picLocks noChangeAspect="1"/>
          </p:cNvPicPr>
          <p:nvPr/>
        </p:nvPicPr>
        <p:blipFill>
          <a:blip r:embed="rId5"/>
          <a:stretch>
            <a:fillRect/>
          </a:stretch>
        </p:blipFill>
        <p:spPr>
          <a:xfrm>
            <a:off x="891540" y="4366260"/>
            <a:ext cx="228600" cy="228600"/>
          </a:xfrm>
          <a:prstGeom prst="rect">
            <a:avLst/>
          </a:prstGeom>
        </p:spPr>
      </p:pic>
      <p:sp>
        <p:nvSpPr>
          <p:cNvPr id="23" name="Text 16"/>
          <p:cNvSpPr/>
          <p:nvPr/>
        </p:nvSpPr>
        <p:spPr>
          <a:xfrm>
            <a:off x="1325880" y="3977640"/>
            <a:ext cx="4343400" cy="1005840"/>
          </a:xfrm>
          <a:prstGeom prst="rect">
            <a:avLst/>
          </a:prstGeom>
          <a:noFill/>
          <a:ln/>
        </p:spPr>
        <p:txBody>
          <a:bodyPr wrap="square" lIns="0" tIns="0" rIns="0" bIns="0" rtlCol="0" anchor="ctr"/>
          <a:lstStyle/>
          <a:p>
            <a:pPr indent="0" marL="0">
              <a:lnSpc>
                <a:spcPct val="105000"/>
              </a:lnSpc>
              <a:buNone/>
            </a:pPr>
            <a:r>
              <a:rPr lang="en-US" sz="1200" dirty="0">
                <a:solidFill>
                  <a:srgbClr val="33425C"/>
                </a:solidFill>
                <a:latin typeface="Calibri" pitchFamily="34" charset="0"/>
                <a:ea typeface="Calibri" pitchFamily="34" charset="-122"/>
                <a:cs typeface="Calibri" pitchFamily="34" charset="-120"/>
              </a:rPr>
              <a:t>Enterprise-ready REST API architecture for easy integration.</a:t>
            </a:r>
            <a:endParaRPr lang="en-US" sz="1200" dirty="0"/>
          </a:p>
        </p:txBody>
      </p:sp>
      <p:sp>
        <p:nvSpPr>
          <p:cNvPr id="24" name="Shape 17"/>
          <p:cNvSpPr/>
          <p:nvPr/>
        </p:nvSpPr>
        <p:spPr>
          <a:xfrm>
            <a:off x="6080760" y="3977640"/>
            <a:ext cx="525780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5" name="Shape 18"/>
          <p:cNvSpPr/>
          <p:nvPr/>
        </p:nvSpPr>
        <p:spPr>
          <a:xfrm>
            <a:off x="6309360" y="4251960"/>
            <a:ext cx="457200" cy="457200"/>
          </a:xfrm>
          <a:prstGeom prst="ellipse">
            <a:avLst/>
          </a:prstGeom>
          <a:solidFill>
            <a:srgbClr val="67D6A6"/>
          </a:solidFill>
          <a:ln/>
        </p:spPr>
      </p:sp>
      <p:pic>
        <p:nvPicPr>
          <p:cNvPr id="26" name="Image 5" descr="/home/claude/sentinelai/images/check_white.png">    </p:cNvPr>
          <p:cNvPicPr>
            <a:picLocks noChangeAspect="1"/>
          </p:cNvPicPr>
          <p:nvPr/>
        </p:nvPicPr>
        <p:blipFill>
          <a:blip r:embed="rId6"/>
          <a:stretch>
            <a:fillRect/>
          </a:stretch>
        </p:blipFill>
        <p:spPr>
          <a:xfrm>
            <a:off x="6423660" y="4366260"/>
            <a:ext cx="228600" cy="228600"/>
          </a:xfrm>
          <a:prstGeom prst="rect">
            <a:avLst/>
          </a:prstGeom>
        </p:spPr>
      </p:pic>
      <p:sp>
        <p:nvSpPr>
          <p:cNvPr id="27" name="Text 19"/>
          <p:cNvSpPr/>
          <p:nvPr/>
        </p:nvSpPr>
        <p:spPr>
          <a:xfrm>
            <a:off x="6858000" y="3977640"/>
            <a:ext cx="4343400" cy="1005840"/>
          </a:xfrm>
          <a:prstGeom prst="rect">
            <a:avLst/>
          </a:prstGeom>
          <a:noFill/>
          <a:ln/>
        </p:spPr>
        <p:txBody>
          <a:bodyPr wrap="square" lIns="0" tIns="0" rIns="0" bIns="0" rtlCol="0" anchor="ctr"/>
          <a:lstStyle/>
          <a:p>
            <a:pPr indent="0" marL="0">
              <a:lnSpc>
                <a:spcPct val="105000"/>
              </a:lnSpc>
              <a:buNone/>
            </a:pPr>
            <a:r>
              <a:rPr lang="en-US" sz="1200" dirty="0">
                <a:solidFill>
                  <a:srgbClr val="33425C"/>
                </a:solidFill>
                <a:latin typeface="Calibri" pitchFamily="34" charset="0"/>
                <a:ea typeface="Calibri" pitchFamily="34" charset="-122"/>
                <a:cs typeface="Calibri" pitchFamily="34" charset="-120"/>
              </a:rPr>
              <a:t>Scalable Digital Twin data model handles growing facility size.</a:t>
            </a:r>
            <a:endParaRPr lang="en-US" sz="1200" dirty="0"/>
          </a:p>
        </p:txBody>
      </p:sp>
      <p:sp>
        <p:nvSpPr>
          <p:cNvPr id="28" name="Shape 20"/>
          <p:cNvSpPr/>
          <p:nvPr/>
        </p:nvSpPr>
        <p:spPr>
          <a:xfrm>
            <a:off x="548640" y="5120640"/>
            <a:ext cx="525780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29" name="Shape 21"/>
          <p:cNvSpPr/>
          <p:nvPr/>
        </p:nvSpPr>
        <p:spPr>
          <a:xfrm>
            <a:off x="777240" y="5394960"/>
            <a:ext cx="457200" cy="457200"/>
          </a:xfrm>
          <a:prstGeom prst="ellipse">
            <a:avLst/>
          </a:prstGeom>
          <a:solidFill>
            <a:srgbClr val="67D6A6"/>
          </a:solidFill>
          <a:ln/>
        </p:spPr>
      </p:sp>
      <p:pic>
        <p:nvPicPr>
          <p:cNvPr id="30" name="Image 6" descr="/home/claude/sentinelai/images/check_white.png">    </p:cNvPr>
          <p:cNvPicPr>
            <a:picLocks noChangeAspect="1"/>
          </p:cNvPicPr>
          <p:nvPr/>
        </p:nvPicPr>
        <p:blipFill>
          <a:blip r:embed="rId7"/>
          <a:stretch>
            <a:fillRect/>
          </a:stretch>
        </p:blipFill>
        <p:spPr>
          <a:xfrm>
            <a:off x="891540" y="5509260"/>
            <a:ext cx="228600" cy="228600"/>
          </a:xfrm>
          <a:prstGeom prst="rect">
            <a:avLst/>
          </a:prstGeom>
        </p:spPr>
      </p:pic>
      <p:sp>
        <p:nvSpPr>
          <p:cNvPr id="31" name="Text 22"/>
          <p:cNvSpPr/>
          <p:nvPr/>
        </p:nvSpPr>
        <p:spPr>
          <a:xfrm>
            <a:off x="1325880" y="5120640"/>
            <a:ext cx="4343400" cy="1005840"/>
          </a:xfrm>
          <a:prstGeom prst="rect">
            <a:avLst/>
          </a:prstGeom>
          <a:noFill/>
          <a:ln/>
        </p:spPr>
        <p:txBody>
          <a:bodyPr wrap="square" lIns="0" tIns="0" rIns="0" bIns="0" rtlCol="0" anchor="ctr"/>
          <a:lstStyle/>
          <a:p>
            <a:pPr indent="0" marL="0">
              <a:lnSpc>
                <a:spcPct val="105000"/>
              </a:lnSpc>
              <a:buNone/>
            </a:pPr>
            <a:r>
              <a:rPr lang="en-US" sz="1200" dirty="0">
                <a:solidFill>
                  <a:srgbClr val="33425C"/>
                </a:solidFill>
                <a:latin typeface="Calibri" pitchFamily="34" charset="0"/>
                <a:ea typeface="Calibri" pitchFamily="34" charset="-122"/>
                <a:cs typeface="Calibri" pitchFamily="34" charset="-120"/>
              </a:rPr>
              <a:t>Combines rule-based and AI-driven automation for reliability.</a:t>
            </a:r>
            <a:endParaRPr lang="en-US" sz="1200" dirty="0"/>
          </a:p>
        </p:txBody>
      </p:sp>
      <p:sp>
        <p:nvSpPr>
          <p:cNvPr id="32" name="Shape 23"/>
          <p:cNvSpPr/>
          <p:nvPr/>
        </p:nvSpPr>
        <p:spPr>
          <a:xfrm>
            <a:off x="6080760" y="5120640"/>
            <a:ext cx="525780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63500" dist="25400" dir="2700000">
              <a:srgbClr val="000000">
                <a:alpha val="10000"/>
              </a:srgbClr>
            </a:outerShdw>
          </a:effectLst>
        </p:spPr>
      </p:sp>
      <p:sp>
        <p:nvSpPr>
          <p:cNvPr id="33" name="Shape 24"/>
          <p:cNvSpPr/>
          <p:nvPr/>
        </p:nvSpPr>
        <p:spPr>
          <a:xfrm>
            <a:off x="6309360" y="5394960"/>
            <a:ext cx="457200" cy="457200"/>
          </a:xfrm>
          <a:prstGeom prst="ellipse">
            <a:avLst/>
          </a:prstGeom>
          <a:solidFill>
            <a:srgbClr val="67D6A6"/>
          </a:solidFill>
          <a:ln/>
        </p:spPr>
      </p:sp>
      <p:pic>
        <p:nvPicPr>
          <p:cNvPr id="34" name="Image 7" descr="/home/claude/sentinelai/images/check_white.png">    </p:cNvPr>
          <p:cNvPicPr>
            <a:picLocks noChangeAspect="1"/>
          </p:cNvPicPr>
          <p:nvPr/>
        </p:nvPicPr>
        <p:blipFill>
          <a:blip r:embed="rId8"/>
          <a:stretch>
            <a:fillRect/>
          </a:stretch>
        </p:blipFill>
        <p:spPr>
          <a:xfrm>
            <a:off x="6423660" y="5509260"/>
            <a:ext cx="228600" cy="228600"/>
          </a:xfrm>
          <a:prstGeom prst="rect">
            <a:avLst/>
          </a:prstGeom>
        </p:spPr>
      </p:pic>
      <p:sp>
        <p:nvSpPr>
          <p:cNvPr id="35" name="Text 25"/>
          <p:cNvSpPr/>
          <p:nvPr/>
        </p:nvSpPr>
        <p:spPr>
          <a:xfrm>
            <a:off x="6858000" y="5120640"/>
            <a:ext cx="4343400" cy="1005840"/>
          </a:xfrm>
          <a:prstGeom prst="rect">
            <a:avLst/>
          </a:prstGeom>
          <a:noFill/>
          <a:ln/>
        </p:spPr>
        <p:txBody>
          <a:bodyPr wrap="square" lIns="0" tIns="0" rIns="0" bIns="0" rtlCol="0" anchor="ctr"/>
          <a:lstStyle/>
          <a:p>
            <a:pPr indent="0" marL="0">
              <a:lnSpc>
                <a:spcPct val="105000"/>
              </a:lnSpc>
              <a:buNone/>
            </a:pPr>
            <a:r>
              <a:rPr lang="en-US" sz="1200" dirty="0">
                <a:solidFill>
                  <a:srgbClr val="33425C"/>
                </a:solidFill>
                <a:latin typeface="Calibri" pitchFamily="34" charset="0"/>
                <a:ea typeface="Calibri" pitchFamily="34" charset="-122"/>
                <a:cs typeface="Calibri" pitchFamily="34" charset="-120"/>
              </a:rPr>
              <a:t>Easily adaptable across multiple industries and verticals.</a:t>
            </a:r>
            <a:endParaRPr lang="en-US" sz="1200" dirty="0"/>
          </a:p>
        </p:txBody>
      </p:sp>
      <p:sp>
        <p:nvSpPr>
          <p:cNvPr id="37" name="Text 26"/>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A9B6C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UNIQUE CONTRIBUTIONS</a:t>
            </a:r>
            <a:endParaRPr lang="en-US" sz="1200" dirty="0"/>
          </a:p>
        </p:txBody>
      </p:sp>
      <p:sp>
        <p:nvSpPr>
          <p:cNvPr id="3" name="Text 1"/>
          <p:cNvSpPr/>
          <p:nvPr/>
        </p:nvSpPr>
        <p:spPr>
          <a:xfrm>
            <a:off x="548640" y="73152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Sets SentinelAI X Apart</a:t>
            </a:r>
            <a:endParaRPr lang="en-US" sz="2800" dirty="0"/>
          </a:p>
        </p:txBody>
      </p:sp>
      <p:sp>
        <p:nvSpPr>
          <p:cNvPr id="4" name="Text 2"/>
          <p:cNvSpPr/>
          <p:nvPr/>
        </p:nvSpPr>
        <p:spPr>
          <a:xfrm>
            <a:off x="548640" y="1417320"/>
            <a:ext cx="10607040" cy="365760"/>
          </a:xfrm>
          <a:prstGeom prst="rect">
            <a:avLst/>
          </a:prstGeom>
          <a:noFill/>
          <a:ln/>
        </p:spPr>
        <p:txBody>
          <a:bodyPr wrap="square" lIns="0" tIns="0" rIns="0" bIns="0" rtlCol="0" anchor="ctr"/>
          <a:lstStyle/>
          <a:p>
            <a:pPr indent="0" marL="0">
              <a:buNone/>
            </a:pPr>
            <a:r>
              <a:rPr lang="en-US" sz="1300" dirty="0">
                <a:solidFill>
                  <a:srgbClr val="9FB3D1"/>
                </a:solidFill>
                <a:latin typeface="Calibri" pitchFamily="34" charset="0"/>
                <a:ea typeface="Calibri" pitchFamily="34" charset="-122"/>
                <a:cs typeface="Calibri" pitchFamily="34" charset="-120"/>
              </a:rPr>
              <a:t>Unlike conventional monitoring systems, SentinelAI X integrates seven distinct capabilities into a single autonomous platform.</a:t>
            </a:r>
            <a:endParaRPr lang="en-US" sz="1300" dirty="0"/>
          </a:p>
        </p:txBody>
      </p:sp>
      <p:sp>
        <p:nvSpPr>
          <p:cNvPr id="5" name="Shape 3"/>
          <p:cNvSpPr/>
          <p:nvPr/>
        </p:nvSpPr>
        <p:spPr>
          <a:xfrm>
            <a:off x="548640" y="1920240"/>
            <a:ext cx="2542032" cy="1417320"/>
          </a:xfrm>
          <a:prstGeom prst="roundRect">
            <a:avLst>
              <a:gd name="adj" fmla="val 5806"/>
            </a:avLst>
          </a:prstGeom>
          <a:solidFill>
            <a:srgbClr val="10294D"/>
          </a:solidFill>
          <a:ln w="12700">
            <a:solidFill>
              <a:srgbClr val="1C3A66"/>
            </a:solidFill>
            <a:prstDash val="solid"/>
          </a:ln>
        </p:spPr>
      </p:sp>
      <p:sp>
        <p:nvSpPr>
          <p:cNvPr id="6" name="Shape 4"/>
          <p:cNvSpPr/>
          <p:nvPr/>
        </p:nvSpPr>
        <p:spPr>
          <a:xfrm>
            <a:off x="1554480" y="2112264"/>
            <a:ext cx="530352" cy="530352"/>
          </a:xfrm>
          <a:prstGeom prst="ellipse">
            <a:avLst/>
          </a:prstGeom>
          <a:solidFill>
            <a:srgbClr val="21C7C7"/>
          </a:solidFill>
          <a:ln/>
        </p:spPr>
      </p:sp>
      <p:pic>
        <p:nvPicPr>
          <p:cNvPr id="7" name="Image 0" descr="/home/claude/sentinelai/images/network_white.png">    </p:cNvPr>
          <p:cNvPicPr>
            <a:picLocks noChangeAspect="1"/>
          </p:cNvPicPr>
          <p:nvPr/>
        </p:nvPicPr>
        <p:blipFill>
          <a:blip r:embed="rId1"/>
          <a:stretch>
            <a:fillRect/>
          </a:stretch>
        </p:blipFill>
        <p:spPr>
          <a:xfrm>
            <a:off x="1687068" y="2244852"/>
            <a:ext cx="265176" cy="265176"/>
          </a:xfrm>
          <a:prstGeom prst="rect">
            <a:avLst/>
          </a:prstGeom>
        </p:spPr>
      </p:pic>
      <p:sp>
        <p:nvSpPr>
          <p:cNvPr id="8" name="Text 5"/>
          <p:cNvSpPr/>
          <p:nvPr/>
        </p:nvSpPr>
        <p:spPr>
          <a:xfrm>
            <a:off x="685800" y="2761488"/>
            <a:ext cx="2267712" cy="50292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Physical AI Operations</a:t>
            </a:r>
            <a:endParaRPr lang="en-US" sz="1150" dirty="0"/>
          </a:p>
        </p:txBody>
      </p:sp>
      <p:sp>
        <p:nvSpPr>
          <p:cNvPr id="9" name="Shape 6"/>
          <p:cNvSpPr/>
          <p:nvPr/>
        </p:nvSpPr>
        <p:spPr>
          <a:xfrm>
            <a:off x="3273552" y="1920240"/>
            <a:ext cx="2542032" cy="1417320"/>
          </a:xfrm>
          <a:prstGeom prst="roundRect">
            <a:avLst>
              <a:gd name="adj" fmla="val 5806"/>
            </a:avLst>
          </a:prstGeom>
          <a:solidFill>
            <a:srgbClr val="10294D"/>
          </a:solidFill>
          <a:ln w="12700">
            <a:solidFill>
              <a:srgbClr val="1C3A66"/>
            </a:solidFill>
            <a:prstDash val="solid"/>
          </a:ln>
        </p:spPr>
      </p:sp>
      <p:sp>
        <p:nvSpPr>
          <p:cNvPr id="10" name="Shape 7"/>
          <p:cNvSpPr/>
          <p:nvPr/>
        </p:nvSpPr>
        <p:spPr>
          <a:xfrm>
            <a:off x="4279392" y="2112264"/>
            <a:ext cx="530352" cy="530352"/>
          </a:xfrm>
          <a:prstGeom prst="ellipse">
            <a:avLst/>
          </a:prstGeom>
          <a:solidFill>
            <a:srgbClr val="21C7C7"/>
          </a:solidFill>
          <a:ln/>
        </p:spPr>
      </p:sp>
      <p:pic>
        <p:nvPicPr>
          <p:cNvPr id="11" name="Image 1" descr="/home/claude/sentinelai/images/cubes_white.png">    </p:cNvPr>
          <p:cNvPicPr>
            <a:picLocks noChangeAspect="1"/>
          </p:cNvPicPr>
          <p:nvPr/>
        </p:nvPicPr>
        <p:blipFill>
          <a:blip r:embed="rId2"/>
          <a:stretch>
            <a:fillRect/>
          </a:stretch>
        </p:blipFill>
        <p:spPr>
          <a:xfrm>
            <a:off x="4411980" y="2244852"/>
            <a:ext cx="265176" cy="265176"/>
          </a:xfrm>
          <a:prstGeom prst="rect">
            <a:avLst/>
          </a:prstGeom>
        </p:spPr>
      </p:pic>
      <p:sp>
        <p:nvSpPr>
          <p:cNvPr id="12" name="Text 8"/>
          <p:cNvSpPr/>
          <p:nvPr/>
        </p:nvSpPr>
        <p:spPr>
          <a:xfrm>
            <a:off x="3410712" y="2761488"/>
            <a:ext cx="2267712" cy="50292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Digital Twin Synchronization</a:t>
            </a:r>
            <a:endParaRPr lang="en-US" sz="1150" dirty="0"/>
          </a:p>
        </p:txBody>
      </p:sp>
      <p:sp>
        <p:nvSpPr>
          <p:cNvPr id="13" name="Shape 9"/>
          <p:cNvSpPr/>
          <p:nvPr/>
        </p:nvSpPr>
        <p:spPr>
          <a:xfrm>
            <a:off x="5998464" y="1920240"/>
            <a:ext cx="2542032" cy="1417320"/>
          </a:xfrm>
          <a:prstGeom prst="roundRect">
            <a:avLst>
              <a:gd name="adj" fmla="val 5806"/>
            </a:avLst>
          </a:prstGeom>
          <a:solidFill>
            <a:srgbClr val="10294D"/>
          </a:solidFill>
          <a:ln w="12700">
            <a:solidFill>
              <a:srgbClr val="1C3A66"/>
            </a:solidFill>
            <a:prstDash val="solid"/>
          </a:ln>
        </p:spPr>
      </p:sp>
      <p:sp>
        <p:nvSpPr>
          <p:cNvPr id="14" name="Shape 10"/>
          <p:cNvSpPr/>
          <p:nvPr/>
        </p:nvSpPr>
        <p:spPr>
          <a:xfrm>
            <a:off x="7004304" y="2112264"/>
            <a:ext cx="530352" cy="530352"/>
          </a:xfrm>
          <a:prstGeom prst="ellipse">
            <a:avLst/>
          </a:prstGeom>
          <a:solidFill>
            <a:srgbClr val="21C7C7"/>
          </a:solidFill>
          <a:ln/>
        </p:spPr>
      </p:sp>
      <p:pic>
        <p:nvPicPr>
          <p:cNvPr id="15" name="Image 2" descr="/home/claude/sentinelai/images/brain_white.png">    </p:cNvPr>
          <p:cNvPicPr>
            <a:picLocks noChangeAspect="1"/>
          </p:cNvPicPr>
          <p:nvPr/>
        </p:nvPicPr>
        <p:blipFill>
          <a:blip r:embed="rId3"/>
          <a:stretch>
            <a:fillRect/>
          </a:stretch>
        </p:blipFill>
        <p:spPr>
          <a:xfrm>
            <a:off x="7136892" y="2244852"/>
            <a:ext cx="265176" cy="265176"/>
          </a:xfrm>
          <a:prstGeom prst="rect">
            <a:avLst/>
          </a:prstGeom>
        </p:spPr>
      </p:pic>
      <p:sp>
        <p:nvSpPr>
          <p:cNvPr id="16" name="Text 11"/>
          <p:cNvSpPr/>
          <p:nvPr/>
        </p:nvSpPr>
        <p:spPr>
          <a:xfrm>
            <a:off x="6135624" y="2761488"/>
            <a:ext cx="2267712" cy="50292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Multi-Agent Autonomous Reasoning</a:t>
            </a:r>
            <a:endParaRPr lang="en-US" sz="1150" dirty="0"/>
          </a:p>
        </p:txBody>
      </p:sp>
      <p:sp>
        <p:nvSpPr>
          <p:cNvPr id="17" name="Shape 12"/>
          <p:cNvSpPr/>
          <p:nvPr/>
        </p:nvSpPr>
        <p:spPr>
          <a:xfrm>
            <a:off x="8723376" y="1920240"/>
            <a:ext cx="2542032" cy="1417320"/>
          </a:xfrm>
          <a:prstGeom prst="roundRect">
            <a:avLst>
              <a:gd name="adj" fmla="val 5806"/>
            </a:avLst>
          </a:prstGeom>
          <a:solidFill>
            <a:srgbClr val="10294D"/>
          </a:solidFill>
          <a:ln w="12700">
            <a:solidFill>
              <a:srgbClr val="1C3A66"/>
            </a:solidFill>
            <a:prstDash val="solid"/>
          </a:ln>
        </p:spPr>
      </p:sp>
      <p:sp>
        <p:nvSpPr>
          <p:cNvPr id="18" name="Shape 13"/>
          <p:cNvSpPr/>
          <p:nvPr/>
        </p:nvSpPr>
        <p:spPr>
          <a:xfrm>
            <a:off x="9729216" y="2112264"/>
            <a:ext cx="530352" cy="530352"/>
          </a:xfrm>
          <a:prstGeom prst="ellipse">
            <a:avLst/>
          </a:prstGeom>
          <a:solidFill>
            <a:srgbClr val="21C7C7"/>
          </a:solidFill>
          <a:ln/>
        </p:spPr>
      </p:sp>
      <p:pic>
        <p:nvPicPr>
          <p:cNvPr id="19" name="Image 3" descr="/home/claude/sentinelai/images/gauge_white.png">    </p:cNvPr>
          <p:cNvPicPr>
            <a:picLocks noChangeAspect="1"/>
          </p:cNvPicPr>
          <p:nvPr/>
        </p:nvPicPr>
        <p:blipFill>
          <a:blip r:embed="rId4"/>
          <a:stretch>
            <a:fillRect/>
          </a:stretch>
        </p:blipFill>
        <p:spPr>
          <a:xfrm>
            <a:off x="9861804" y="2244852"/>
            <a:ext cx="265176" cy="265176"/>
          </a:xfrm>
          <a:prstGeom prst="rect">
            <a:avLst/>
          </a:prstGeom>
        </p:spPr>
      </p:pic>
      <p:sp>
        <p:nvSpPr>
          <p:cNvPr id="20" name="Text 14"/>
          <p:cNvSpPr/>
          <p:nvPr/>
        </p:nvSpPr>
        <p:spPr>
          <a:xfrm>
            <a:off x="8860536" y="2761488"/>
            <a:ext cx="2267712" cy="50292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Rule-Based Decision Intelligence</a:t>
            </a:r>
            <a:endParaRPr lang="en-US" sz="1150" dirty="0"/>
          </a:p>
        </p:txBody>
      </p:sp>
      <p:sp>
        <p:nvSpPr>
          <p:cNvPr id="21" name="Shape 15"/>
          <p:cNvSpPr/>
          <p:nvPr/>
        </p:nvSpPr>
        <p:spPr>
          <a:xfrm>
            <a:off x="1911096" y="3566160"/>
            <a:ext cx="2542032" cy="1417320"/>
          </a:xfrm>
          <a:prstGeom prst="roundRect">
            <a:avLst>
              <a:gd name="adj" fmla="val 5806"/>
            </a:avLst>
          </a:prstGeom>
          <a:solidFill>
            <a:srgbClr val="10294D"/>
          </a:solidFill>
          <a:ln w="12700">
            <a:solidFill>
              <a:srgbClr val="1C3A66"/>
            </a:solidFill>
            <a:prstDash val="solid"/>
          </a:ln>
        </p:spPr>
      </p:sp>
      <p:sp>
        <p:nvSpPr>
          <p:cNvPr id="22" name="Shape 16"/>
          <p:cNvSpPr/>
          <p:nvPr/>
        </p:nvSpPr>
        <p:spPr>
          <a:xfrm>
            <a:off x="2916936" y="3758184"/>
            <a:ext cx="530352" cy="530352"/>
          </a:xfrm>
          <a:prstGeom prst="ellipse">
            <a:avLst/>
          </a:prstGeom>
          <a:solidFill>
            <a:srgbClr val="21C7C7"/>
          </a:solidFill>
          <a:ln/>
        </p:spPr>
      </p:sp>
      <p:pic>
        <p:nvPicPr>
          <p:cNvPr id="23" name="Image 4" descr="/home/claude/sentinelai/images/cogs_white.png">    </p:cNvPr>
          <p:cNvPicPr>
            <a:picLocks noChangeAspect="1"/>
          </p:cNvPicPr>
          <p:nvPr/>
        </p:nvPicPr>
        <p:blipFill>
          <a:blip r:embed="rId5"/>
          <a:stretch>
            <a:fillRect/>
          </a:stretch>
        </p:blipFill>
        <p:spPr>
          <a:xfrm>
            <a:off x="3049524" y="3890772"/>
            <a:ext cx="265176" cy="265176"/>
          </a:xfrm>
          <a:prstGeom prst="rect">
            <a:avLst/>
          </a:prstGeom>
        </p:spPr>
      </p:pic>
      <p:sp>
        <p:nvSpPr>
          <p:cNvPr id="24" name="Text 17"/>
          <p:cNvSpPr/>
          <p:nvPr/>
        </p:nvSpPr>
        <p:spPr>
          <a:xfrm>
            <a:off x="2048256" y="4407408"/>
            <a:ext cx="2267712" cy="50292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IoT Action Orchestration</a:t>
            </a:r>
            <a:endParaRPr lang="en-US" sz="1150" dirty="0"/>
          </a:p>
        </p:txBody>
      </p:sp>
      <p:sp>
        <p:nvSpPr>
          <p:cNvPr id="25" name="Shape 18"/>
          <p:cNvSpPr/>
          <p:nvPr/>
        </p:nvSpPr>
        <p:spPr>
          <a:xfrm>
            <a:off x="4636008" y="3566160"/>
            <a:ext cx="2542032" cy="1417320"/>
          </a:xfrm>
          <a:prstGeom prst="roundRect">
            <a:avLst>
              <a:gd name="adj" fmla="val 5806"/>
            </a:avLst>
          </a:prstGeom>
          <a:solidFill>
            <a:srgbClr val="10294D"/>
          </a:solidFill>
          <a:ln w="12700">
            <a:solidFill>
              <a:srgbClr val="1C3A66"/>
            </a:solidFill>
            <a:prstDash val="solid"/>
          </a:ln>
        </p:spPr>
      </p:sp>
      <p:sp>
        <p:nvSpPr>
          <p:cNvPr id="26" name="Shape 19"/>
          <p:cNvSpPr/>
          <p:nvPr/>
        </p:nvSpPr>
        <p:spPr>
          <a:xfrm>
            <a:off x="5641848" y="3758184"/>
            <a:ext cx="530352" cy="530352"/>
          </a:xfrm>
          <a:prstGeom prst="ellipse">
            <a:avLst/>
          </a:prstGeom>
          <a:solidFill>
            <a:srgbClr val="21C7C7"/>
          </a:solidFill>
          <a:ln/>
        </p:spPr>
      </p:sp>
      <p:pic>
        <p:nvPicPr>
          <p:cNvPr id="27" name="Image 5" descr="/home/claude/sentinelai/images/robot_white.png">    </p:cNvPr>
          <p:cNvPicPr>
            <a:picLocks noChangeAspect="1"/>
          </p:cNvPicPr>
          <p:nvPr/>
        </p:nvPicPr>
        <p:blipFill>
          <a:blip r:embed="rId6"/>
          <a:stretch>
            <a:fillRect/>
          </a:stretch>
        </p:blipFill>
        <p:spPr>
          <a:xfrm>
            <a:off x="5774436" y="3890772"/>
            <a:ext cx="265176" cy="265176"/>
          </a:xfrm>
          <a:prstGeom prst="rect">
            <a:avLst/>
          </a:prstGeom>
        </p:spPr>
      </p:pic>
      <p:sp>
        <p:nvSpPr>
          <p:cNvPr id="28" name="Text 20"/>
          <p:cNvSpPr/>
          <p:nvPr/>
        </p:nvSpPr>
        <p:spPr>
          <a:xfrm>
            <a:off x="4773168" y="4407408"/>
            <a:ext cx="2267712" cy="50292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Executive AI Copilot</a:t>
            </a:r>
            <a:endParaRPr lang="en-US" sz="1150" dirty="0"/>
          </a:p>
        </p:txBody>
      </p:sp>
      <p:sp>
        <p:nvSpPr>
          <p:cNvPr id="29" name="Shape 21"/>
          <p:cNvSpPr/>
          <p:nvPr/>
        </p:nvSpPr>
        <p:spPr>
          <a:xfrm>
            <a:off x="7360920" y="3566160"/>
            <a:ext cx="2542032" cy="1417320"/>
          </a:xfrm>
          <a:prstGeom prst="roundRect">
            <a:avLst>
              <a:gd name="adj" fmla="val 5806"/>
            </a:avLst>
          </a:prstGeom>
          <a:solidFill>
            <a:srgbClr val="10294D"/>
          </a:solidFill>
          <a:ln w="12700">
            <a:solidFill>
              <a:srgbClr val="1C3A66"/>
            </a:solidFill>
            <a:prstDash val="solid"/>
          </a:ln>
        </p:spPr>
      </p:sp>
      <p:sp>
        <p:nvSpPr>
          <p:cNvPr id="30" name="Shape 22"/>
          <p:cNvSpPr/>
          <p:nvPr/>
        </p:nvSpPr>
        <p:spPr>
          <a:xfrm>
            <a:off x="8366760" y="3758184"/>
            <a:ext cx="530352" cy="530352"/>
          </a:xfrm>
          <a:prstGeom prst="ellipse">
            <a:avLst/>
          </a:prstGeom>
          <a:solidFill>
            <a:srgbClr val="21C7C7"/>
          </a:solidFill>
          <a:ln/>
        </p:spPr>
      </p:sp>
      <p:pic>
        <p:nvPicPr>
          <p:cNvPr id="31" name="Image 6" descr="/home/claude/sentinelai/images/chart_white.png">    </p:cNvPr>
          <p:cNvPicPr>
            <a:picLocks noChangeAspect="1"/>
          </p:cNvPicPr>
          <p:nvPr/>
        </p:nvPicPr>
        <p:blipFill>
          <a:blip r:embed="rId7"/>
          <a:stretch>
            <a:fillRect/>
          </a:stretch>
        </p:blipFill>
        <p:spPr>
          <a:xfrm>
            <a:off x="8499348" y="3890772"/>
            <a:ext cx="265176" cy="265176"/>
          </a:xfrm>
          <a:prstGeom prst="rect">
            <a:avLst/>
          </a:prstGeom>
        </p:spPr>
      </p:pic>
      <p:sp>
        <p:nvSpPr>
          <p:cNvPr id="32" name="Text 23"/>
          <p:cNvSpPr/>
          <p:nvPr/>
        </p:nvSpPr>
        <p:spPr>
          <a:xfrm>
            <a:off x="7498080" y="4407408"/>
            <a:ext cx="2267712" cy="50292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Real-Time ROI Analytics</a:t>
            </a:r>
            <a:endParaRPr lang="en-US" sz="1150" dirty="0"/>
          </a:p>
        </p:txBody>
      </p:sp>
      <p:sp>
        <p:nvSpPr>
          <p:cNvPr id="33" name="Shape 24"/>
          <p:cNvSpPr/>
          <p:nvPr/>
        </p:nvSpPr>
        <p:spPr>
          <a:xfrm>
            <a:off x="548640" y="5440680"/>
            <a:ext cx="11064240" cy="868680"/>
          </a:xfrm>
          <a:prstGeom prst="roundRect">
            <a:avLst>
              <a:gd name="adj" fmla="val 8421"/>
            </a:avLst>
          </a:prstGeom>
          <a:solidFill>
            <a:srgbClr val="F2A33C"/>
          </a:solidFill>
          <a:ln/>
        </p:spPr>
      </p:sp>
      <p:sp>
        <p:nvSpPr>
          <p:cNvPr id="34" name="Text 25"/>
          <p:cNvSpPr/>
          <p:nvPr/>
        </p:nvSpPr>
        <p:spPr>
          <a:xfrm>
            <a:off x="914400" y="5440680"/>
            <a:ext cx="10424160" cy="868680"/>
          </a:xfrm>
          <a:prstGeom prst="rect">
            <a:avLst/>
          </a:prstGeom>
          <a:noFill/>
          <a:ln/>
        </p:spPr>
        <p:txBody>
          <a:bodyPr wrap="square" lIns="0" tIns="0" rIns="0" bIns="0" rtlCol="0" anchor="ctr"/>
          <a:lstStyle/>
          <a:p>
            <a:pPr indent="0" marL="0">
              <a:lnSpc>
                <a:spcPct val="105000"/>
              </a:lnSpc>
              <a:buNone/>
            </a:pPr>
            <a:r>
              <a:rPr lang="en-US" sz="1350" b="1" dirty="0">
                <a:solidFill>
                  <a:srgbClr val="0B1F3A"/>
                </a:solidFill>
                <a:latin typeface="Calibri" pitchFamily="34" charset="0"/>
                <a:ea typeface="Calibri" pitchFamily="34" charset="-122"/>
                <a:cs typeface="Calibri" pitchFamily="34" charset="-120"/>
              </a:rPr>
              <a:t>Result:  </a:t>
            </a:r>
            <a:pPr indent="0" marL="0">
              <a:lnSpc>
                <a:spcPct val="105000"/>
              </a:lnSpc>
              <a:buNone/>
            </a:pPr>
            <a:r>
              <a:rPr lang="en-US" sz="1350" dirty="0">
                <a:solidFill>
                  <a:srgbClr val="0B1F3A"/>
                </a:solidFill>
                <a:latin typeface="Calibri" pitchFamily="34" charset="0"/>
                <a:ea typeface="Calibri" pitchFamily="34" charset="-122"/>
                <a:cs typeface="Calibri" pitchFamily="34" charset="-120"/>
              </a:rPr>
              <a:t>An intelligent platform capable of observing, understanding, reasoning, and autonomously optimizing physical environments.</a:t>
            </a:r>
            <a:endParaRPr lang="en-US" sz="1350" dirty="0"/>
          </a:p>
        </p:txBody>
      </p:sp>
      <p:sp>
        <p:nvSpPr>
          <p:cNvPr id="36" name="Text 26"/>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B7B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418320" y="365760"/>
            <a:ext cx="54864" cy="54864"/>
          </a:xfrm>
          <a:prstGeom prst="ellipse">
            <a:avLst/>
          </a:prstGeom>
          <a:solidFill>
            <a:srgbClr val="21C7C7"/>
          </a:solidFill>
          <a:ln/>
        </p:spPr>
      </p:sp>
      <p:sp>
        <p:nvSpPr>
          <p:cNvPr id="3" name="Shape 1"/>
          <p:cNvSpPr/>
          <p:nvPr/>
        </p:nvSpPr>
        <p:spPr>
          <a:xfrm>
            <a:off x="9921240" y="822960"/>
            <a:ext cx="54864" cy="54864"/>
          </a:xfrm>
          <a:prstGeom prst="ellipse">
            <a:avLst/>
          </a:prstGeom>
          <a:solidFill>
            <a:srgbClr val="21C7C7"/>
          </a:solidFill>
          <a:ln/>
        </p:spPr>
      </p:sp>
      <p:sp>
        <p:nvSpPr>
          <p:cNvPr id="4" name="Shape 2"/>
          <p:cNvSpPr/>
          <p:nvPr/>
        </p:nvSpPr>
        <p:spPr>
          <a:xfrm>
            <a:off x="10424160" y="365760"/>
            <a:ext cx="54864" cy="54864"/>
          </a:xfrm>
          <a:prstGeom prst="ellipse">
            <a:avLst/>
          </a:prstGeom>
          <a:solidFill>
            <a:srgbClr val="21C7C7"/>
          </a:solidFill>
          <a:ln/>
        </p:spPr>
      </p:sp>
      <p:sp>
        <p:nvSpPr>
          <p:cNvPr id="5" name="Shape 3"/>
          <p:cNvSpPr/>
          <p:nvPr/>
        </p:nvSpPr>
        <p:spPr>
          <a:xfrm>
            <a:off x="10927080" y="822960"/>
            <a:ext cx="54864" cy="54864"/>
          </a:xfrm>
          <a:prstGeom prst="ellipse">
            <a:avLst/>
          </a:prstGeom>
          <a:solidFill>
            <a:srgbClr val="21C7C7"/>
          </a:solidFill>
          <a:ln/>
        </p:spPr>
      </p:sp>
      <p:sp>
        <p:nvSpPr>
          <p:cNvPr id="6" name="Shape 4"/>
          <p:cNvSpPr/>
          <p:nvPr/>
        </p:nvSpPr>
        <p:spPr>
          <a:xfrm>
            <a:off x="11430000" y="365760"/>
            <a:ext cx="54864" cy="54864"/>
          </a:xfrm>
          <a:prstGeom prst="ellipse">
            <a:avLst/>
          </a:prstGeom>
          <a:solidFill>
            <a:srgbClr val="21C7C7"/>
          </a:solidFill>
          <a:ln/>
        </p:spPr>
      </p:sp>
      <p:sp>
        <p:nvSpPr>
          <p:cNvPr id="7" name="Text 5"/>
          <p:cNvSpPr/>
          <p:nvPr/>
        </p:nvSpPr>
        <p:spPr>
          <a:xfrm>
            <a:off x="548640" y="411480"/>
            <a:ext cx="7315200" cy="320040"/>
          </a:xfrm>
          <a:prstGeom prst="rect">
            <a:avLst/>
          </a:prstGeom>
          <a:noFill/>
          <a:ln/>
        </p:spPr>
        <p:txBody>
          <a:bodyPr wrap="square" lIns="0" tIns="0" rIns="0" bIns="0" rtlCol="0" anchor="ctr"/>
          <a:lstStyle/>
          <a:p>
            <a:pPr algn="l" indent="0" marL="0">
              <a:buNone/>
            </a:pPr>
            <a:r>
              <a:rPr lang="en-US" sz="1200" b="1" spc="200" kern="0" dirty="0">
                <a:solidFill>
                  <a:srgbClr val="21C7C7"/>
                </a:solidFill>
                <a:latin typeface="Calibri" pitchFamily="34" charset="0"/>
                <a:ea typeface="Calibri" pitchFamily="34" charset="-122"/>
                <a:cs typeface="Calibri" pitchFamily="34" charset="-120"/>
              </a:rPr>
              <a:t>VISION</a:t>
            </a:r>
            <a:endParaRPr lang="en-US" sz="1200" dirty="0"/>
          </a:p>
        </p:txBody>
      </p:sp>
      <p:sp>
        <p:nvSpPr>
          <p:cNvPr id="8" name="Text 6"/>
          <p:cNvSpPr/>
          <p:nvPr/>
        </p:nvSpPr>
        <p:spPr>
          <a:xfrm>
            <a:off x="548640" y="914400"/>
            <a:ext cx="1078992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Future of Physical Infrastructure</a:t>
            </a:r>
            <a:endParaRPr lang="en-US" sz="3200" dirty="0"/>
          </a:p>
        </p:txBody>
      </p:sp>
      <p:sp>
        <p:nvSpPr>
          <p:cNvPr id="9" name="Text 7"/>
          <p:cNvSpPr/>
          <p:nvPr/>
        </p:nvSpPr>
        <p:spPr>
          <a:xfrm>
            <a:off x="548640" y="1920240"/>
            <a:ext cx="10607040" cy="1005840"/>
          </a:xfrm>
          <a:prstGeom prst="rect">
            <a:avLst/>
          </a:prstGeom>
          <a:noFill/>
          <a:ln/>
        </p:spPr>
        <p:txBody>
          <a:bodyPr wrap="square" lIns="0" tIns="0" rIns="0" bIns="0" rtlCol="0" anchor="ctr"/>
          <a:lstStyle/>
          <a:p>
            <a:pPr indent="0" marL="0">
              <a:lnSpc>
                <a:spcPct val="130000"/>
              </a:lnSpc>
              <a:buNone/>
            </a:pPr>
            <a:r>
              <a:rPr lang="en-US" sz="2200" i="1" dirty="0">
                <a:solidFill>
                  <a:srgbClr val="9FB3D1"/>
                </a:solidFill>
                <a:latin typeface="Cambria" pitchFamily="34" charset="0"/>
                <a:ea typeface="Cambria" pitchFamily="34" charset="-122"/>
                <a:cs typeface="Cambria" pitchFamily="34" charset="-120"/>
              </a:rPr>
              <a:t>Today's buildings are connected.</a:t>
            </a:r>
            <a:endParaRPr lang="en-US" sz="2200" dirty="0"/>
          </a:p>
          <a:p>
            <a:pPr indent="0" marL="0">
              <a:lnSpc>
                <a:spcPct val="130000"/>
              </a:lnSpc>
              <a:buNone/>
            </a:pPr>
            <a:r>
              <a:rPr lang="en-US" sz="2200" b="1" i="1" dirty="0">
                <a:solidFill>
                  <a:srgbClr val="21C7C7"/>
                </a:solidFill>
                <a:latin typeface="Cambria" pitchFamily="34" charset="0"/>
                <a:ea typeface="Cambria" pitchFamily="34" charset="-122"/>
                <a:cs typeface="Cambria" pitchFamily="34" charset="-120"/>
              </a:rPr>
              <a:t>Tomorrow's buildings will be autonomous.</a:t>
            </a:r>
            <a:endParaRPr lang="en-US" sz="2200" dirty="0"/>
          </a:p>
        </p:txBody>
      </p:sp>
      <p:sp>
        <p:nvSpPr>
          <p:cNvPr id="10" name="Text 8"/>
          <p:cNvSpPr/>
          <p:nvPr/>
        </p:nvSpPr>
        <p:spPr>
          <a:xfrm>
            <a:off x="548640" y="3246120"/>
            <a:ext cx="9875520" cy="1005840"/>
          </a:xfrm>
          <a:prstGeom prst="rect">
            <a:avLst/>
          </a:prstGeom>
          <a:noFill/>
          <a:ln/>
        </p:spPr>
        <p:txBody>
          <a:bodyPr wrap="square" lIns="0" tIns="0" rIns="0" bIns="0" rtlCol="0" anchor="ctr"/>
          <a:lstStyle/>
          <a:p>
            <a:pPr indent="0" marL="0">
              <a:lnSpc>
                <a:spcPct val="120000"/>
              </a:lnSpc>
              <a:buNone/>
            </a:pPr>
            <a:r>
              <a:rPr lang="en-US" sz="1550" dirty="0">
                <a:solidFill>
                  <a:srgbClr val="D7E2F0"/>
                </a:solidFill>
                <a:latin typeface="Calibri" pitchFamily="34" charset="0"/>
                <a:ea typeface="Calibri" pitchFamily="34" charset="-122"/>
                <a:cs typeface="Calibri" pitchFamily="34" charset="-120"/>
              </a:rPr>
              <a:t>SentinelAI X aims to become the operating system that enables intelligent, self-managing physical environments through AI, Digital Twins, and Autonomous Decision Intelligence.</a:t>
            </a:r>
            <a:endParaRPr lang="en-US" sz="1550" dirty="0"/>
          </a:p>
        </p:txBody>
      </p:sp>
      <p:sp>
        <p:nvSpPr>
          <p:cNvPr id="11" name="Shape 9"/>
          <p:cNvSpPr/>
          <p:nvPr/>
        </p:nvSpPr>
        <p:spPr>
          <a:xfrm>
            <a:off x="548640" y="4754880"/>
            <a:ext cx="1257300" cy="384048"/>
          </a:xfrm>
          <a:prstGeom prst="roundRect">
            <a:avLst>
              <a:gd name="adj" fmla="val 50000"/>
            </a:avLst>
          </a:prstGeom>
          <a:solidFill>
            <a:srgbClr val="10294D"/>
          </a:solidFill>
          <a:ln w="9525">
            <a:solidFill>
              <a:srgbClr val="21C7C7"/>
            </a:solidFill>
            <a:prstDash val="solid"/>
          </a:ln>
        </p:spPr>
      </p:sp>
      <p:sp>
        <p:nvSpPr>
          <p:cNvPr id="12" name="Text 10"/>
          <p:cNvSpPr/>
          <p:nvPr/>
        </p:nvSpPr>
        <p:spPr>
          <a:xfrm>
            <a:off x="548640" y="4754880"/>
            <a:ext cx="1257300" cy="384048"/>
          </a:xfrm>
          <a:prstGeom prst="rect">
            <a:avLst/>
          </a:prstGeom>
          <a:noFill/>
          <a:ln/>
        </p:spPr>
        <p:txBody>
          <a:bodyPr wrap="square" lIns="0" tIns="0" rIns="0" bIns="0" rtlCol="0" anchor="ctr"/>
          <a:lstStyle/>
          <a:p>
            <a:pPr algn="ctr" indent="0" marL="0">
              <a:buNone/>
            </a:pPr>
            <a:r>
              <a:rPr lang="en-US" sz="1050" b="1" dirty="0">
                <a:solidFill>
                  <a:srgbClr val="21C7C7"/>
                </a:solidFill>
                <a:latin typeface="Calibri" pitchFamily="34" charset="0"/>
                <a:ea typeface="Calibri" pitchFamily="34" charset="-122"/>
                <a:cs typeface="Calibri" pitchFamily="34" charset="-120"/>
              </a:rPr>
              <a:t>Physical AI</a:t>
            </a:r>
            <a:endParaRPr lang="en-US" sz="1050" dirty="0"/>
          </a:p>
        </p:txBody>
      </p:sp>
      <p:sp>
        <p:nvSpPr>
          <p:cNvPr id="13" name="Shape 11"/>
          <p:cNvSpPr/>
          <p:nvPr/>
        </p:nvSpPr>
        <p:spPr>
          <a:xfrm>
            <a:off x="1943100" y="4754880"/>
            <a:ext cx="1641348" cy="384048"/>
          </a:xfrm>
          <a:prstGeom prst="roundRect">
            <a:avLst>
              <a:gd name="adj" fmla="val 50000"/>
            </a:avLst>
          </a:prstGeom>
          <a:solidFill>
            <a:srgbClr val="10294D"/>
          </a:solidFill>
          <a:ln w="9525">
            <a:solidFill>
              <a:srgbClr val="21C7C7"/>
            </a:solidFill>
            <a:prstDash val="solid"/>
          </a:ln>
        </p:spPr>
      </p:sp>
      <p:sp>
        <p:nvSpPr>
          <p:cNvPr id="14" name="Text 12"/>
          <p:cNvSpPr/>
          <p:nvPr/>
        </p:nvSpPr>
        <p:spPr>
          <a:xfrm>
            <a:off x="1943100" y="4754880"/>
            <a:ext cx="1641348" cy="384048"/>
          </a:xfrm>
          <a:prstGeom prst="rect">
            <a:avLst/>
          </a:prstGeom>
          <a:noFill/>
          <a:ln/>
        </p:spPr>
        <p:txBody>
          <a:bodyPr wrap="square" lIns="0" tIns="0" rIns="0" bIns="0" rtlCol="0" anchor="ctr"/>
          <a:lstStyle/>
          <a:p>
            <a:pPr algn="ctr" indent="0" marL="0">
              <a:buNone/>
            </a:pPr>
            <a:r>
              <a:rPr lang="en-US" sz="1050" b="1" dirty="0">
                <a:solidFill>
                  <a:srgbClr val="21C7C7"/>
                </a:solidFill>
                <a:latin typeface="Calibri" pitchFamily="34" charset="0"/>
                <a:ea typeface="Calibri" pitchFamily="34" charset="-122"/>
                <a:cs typeface="Calibri" pitchFamily="34" charset="-120"/>
              </a:rPr>
              <a:t>Computer Vision</a:t>
            </a:r>
            <a:endParaRPr lang="en-US" sz="1050" dirty="0"/>
          </a:p>
        </p:txBody>
      </p:sp>
      <p:sp>
        <p:nvSpPr>
          <p:cNvPr id="15" name="Shape 13"/>
          <p:cNvSpPr/>
          <p:nvPr/>
        </p:nvSpPr>
        <p:spPr>
          <a:xfrm>
            <a:off x="3721608" y="4754880"/>
            <a:ext cx="1353312" cy="384048"/>
          </a:xfrm>
          <a:prstGeom prst="roundRect">
            <a:avLst>
              <a:gd name="adj" fmla="val 50000"/>
            </a:avLst>
          </a:prstGeom>
          <a:solidFill>
            <a:srgbClr val="10294D"/>
          </a:solidFill>
          <a:ln w="9525">
            <a:solidFill>
              <a:srgbClr val="21C7C7"/>
            </a:solidFill>
            <a:prstDash val="solid"/>
          </a:ln>
        </p:spPr>
      </p:sp>
      <p:sp>
        <p:nvSpPr>
          <p:cNvPr id="16" name="Text 14"/>
          <p:cNvSpPr/>
          <p:nvPr/>
        </p:nvSpPr>
        <p:spPr>
          <a:xfrm>
            <a:off x="3721608" y="4754880"/>
            <a:ext cx="1353312" cy="384048"/>
          </a:xfrm>
          <a:prstGeom prst="rect">
            <a:avLst/>
          </a:prstGeom>
          <a:noFill/>
          <a:ln/>
        </p:spPr>
        <p:txBody>
          <a:bodyPr wrap="square" lIns="0" tIns="0" rIns="0" bIns="0" rtlCol="0" anchor="ctr"/>
          <a:lstStyle/>
          <a:p>
            <a:pPr algn="ctr" indent="0" marL="0">
              <a:buNone/>
            </a:pPr>
            <a:r>
              <a:rPr lang="en-US" sz="1050" b="1" dirty="0">
                <a:solidFill>
                  <a:srgbClr val="21C7C7"/>
                </a:solidFill>
                <a:latin typeface="Calibri" pitchFamily="34" charset="0"/>
                <a:ea typeface="Calibri" pitchFamily="34" charset="-122"/>
                <a:cs typeface="Calibri" pitchFamily="34" charset="-120"/>
              </a:rPr>
              <a:t>Digital Twin</a:t>
            </a:r>
            <a:endParaRPr lang="en-US" sz="1050" dirty="0"/>
          </a:p>
        </p:txBody>
      </p:sp>
      <p:sp>
        <p:nvSpPr>
          <p:cNvPr id="17" name="Shape 15"/>
          <p:cNvSpPr/>
          <p:nvPr/>
        </p:nvSpPr>
        <p:spPr>
          <a:xfrm>
            <a:off x="5212080" y="4754880"/>
            <a:ext cx="1545336" cy="384048"/>
          </a:xfrm>
          <a:prstGeom prst="roundRect">
            <a:avLst>
              <a:gd name="adj" fmla="val 50000"/>
            </a:avLst>
          </a:prstGeom>
          <a:solidFill>
            <a:srgbClr val="10294D"/>
          </a:solidFill>
          <a:ln w="9525">
            <a:solidFill>
              <a:srgbClr val="21C7C7"/>
            </a:solidFill>
            <a:prstDash val="solid"/>
          </a:ln>
        </p:spPr>
      </p:sp>
      <p:sp>
        <p:nvSpPr>
          <p:cNvPr id="18" name="Text 16"/>
          <p:cNvSpPr/>
          <p:nvPr/>
        </p:nvSpPr>
        <p:spPr>
          <a:xfrm>
            <a:off x="5212080" y="4754880"/>
            <a:ext cx="1545336" cy="384048"/>
          </a:xfrm>
          <a:prstGeom prst="rect">
            <a:avLst/>
          </a:prstGeom>
          <a:noFill/>
          <a:ln/>
        </p:spPr>
        <p:txBody>
          <a:bodyPr wrap="square" lIns="0" tIns="0" rIns="0" bIns="0" rtlCol="0" anchor="ctr"/>
          <a:lstStyle/>
          <a:p>
            <a:pPr algn="ctr" indent="0" marL="0">
              <a:buNone/>
            </a:pPr>
            <a:r>
              <a:rPr lang="en-US" sz="1050" b="1" dirty="0">
                <a:solidFill>
                  <a:srgbClr val="21C7C7"/>
                </a:solidFill>
                <a:latin typeface="Calibri" pitchFamily="34" charset="0"/>
                <a:ea typeface="Calibri" pitchFamily="34" charset="-122"/>
                <a:cs typeface="Calibri" pitchFamily="34" charset="-120"/>
              </a:rPr>
              <a:t>Multi-Agent AI</a:t>
            </a:r>
            <a:endParaRPr lang="en-US" sz="1050" dirty="0"/>
          </a:p>
        </p:txBody>
      </p:sp>
      <p:sp>
        <p:nvSpPr>
          <p:cNvPr id="19" name="Shape 17"/>
          <p:cNvSpPr/>
          <p:nvPr/>
        </p:nvSpPr>
        <p:spPr>
          <a:xfrm>
            <a:off x="6894576" y="4754880"/>
            <a:ext cx="2217420" cy="384048"/>
          </a:xfrm>
          <a:prstGeom prst="roundRect">
            <a:avLst>
              <a:gd name="adj" fmla="val 50000"/>
            </a:avLst>
          </a:prstGeom>
          <a:solidFill>
            <a:srgbClr val="10294D"/>
          </a:solidFill>
          <a:ln w="9525">
            <a:solidFill>
              <a:srgbClr val="21C7C7"/>
            </a:solidFill>
            <a:prstDash val="solid"/>
          </a:ln>
        </p:spPr>
      </p:sp>
      <p:sp>
        <p:nvSpPr>
          <p:cNvPr id="20" name="Text 18"/>
          <p:cNvSpPr/>
          <p:nvPr/>
        </p:nvSpPr>
        <p:spPr>
          <a:xfrm>
            <a:off x="6894576" y="4754880"/>
            <a:ext cx="2217420" cy="384048"/>
          </a:xfrm>
          <a:prstGeom prst="rect">
            <a:avLst/>
          </a:prstGeom>
          <a:noFill/>
          <a:ln/>
        </p:spPr>
        <p:txBody>
          <a:bodyPr wrap="square" lIns="0" tIns="0" rIns="0" bIns="0" rtlCol="0" anchor="ctr"/>
          <a:lstStyle/>
          <a:p>
            <a:pPr algn="ctr" indent="0" marL="0">
              <a:buNone/>
            </a:pPr>
            <a:r>
              <a:rPr lang="en-US" sz="1050" b="1" dirty="0">
                <a:solidFill>
                  <a:srgbClr val="21C7C7"/>
                </a:solidFill>
                <a:latin typeface="Calibri" pitchFamily="34" charset="0"/>
                <a:ea typeface="Calibri" pitchFamily="34" charset="-122"/>
                <a:cs typeface="Calibri" pitchFamily="34" charset="-120"/>
              </a:rPr>
              <a:t>Decision Intelligence</a:t>
            </a:r>
            <a:endParaRPr lang="en-US" sz="1050" dirty="0"/>
          </a:p>
        </p:txBody>
      </p:sp>
      <p:sp>
        <p:nvSpPr>
          <p:cNvPr id="21" name="Shape 19"/>
          <p:cNvSpPr/>
          <p:nvPr/>
        </p:nvSpPr>
        <p:spPr>
          <a:xfrm>
            <a:off x="9249156" y="4754880"/>
            <a:ext cx="1545336" cy="384048"/>
          </a:xfrm>
          <a:prstGeom prst="roundRect">
            <a:avLst>
              <a:gd name="adj" fmla="val 50000"/>
            </a:avLst>
          </a:prstGeom>
          <a:solidFill>
            <a:srgbClr val="10294D"/>
          </a:solidFill>
          <a:ln w="9525">
            <a:solidFill>
              <a:srgbClr val="21C7C7"/>
            </a:solidFill>
            <a:prstDash val="solid"/>
          </a:ln>
        </p:spPr>
      </p:sp>
      <p:sp>
        <p:nvSpPr>
          <p:cNvPr id="22" name="Text 20"/>
          <p:cNvSpPr/>
          <p:nvPr/>
        </p:nvSpPr>
        <p:spPr>
          <a:xfrm>
            <a:off x="9249156" y="4754880"/>
            <a:ext cx="1545336" cy="384048"/>
          </a:xfrm>
          <a:prstGeom prst="rect">
            <a:avLst/>
          </a:prstGeom>
          <a:noFill/>
          <a:ln/>
        </p:spPr>
        <p:txBody>
          <a:bodyPr wrap="square" lIns="0" tIns="0" rIns="0" bIns="0" rtlCol="0" anchor="ctr"/>
          <a:lstStyle/>
          <a:p>
            <a:pPr algn="ctr" indent="0" marL="0">
              <a:buNone/>
            </a:pPr>
            <a:r>
              <a:rPr lang="en-US" sz="1050" b="1" dirty="0">
                <a:solidFill>
                  <a:srgbClr val="21C7C7"/>
                </a:solidFill>
                <a:latin typeface="Calibri" pitchFamily="34" charset="0"/>
                <a:ea typeface="Calibri" pitchFamily="34" charset="-122"/>
                <a:cs typeface="Calibri" pitchFamily="34" charset="-120"/>
              </a:rPr>
              <a:t>IoT Automation</a:t>
            </a:r>
            <a:endParaRPr lang="en-US" sz="1050" dirty="0"/>
          </a:p>
        </p:txBody>
      </p:sp>
      <p:sp>
        <p:nvSpPr>
          <p:cNvPr id="23" name="Shape 21"/>
          <p:cNvSpPr/>
          <p:nvPr/>
        </p:nvSpPr>
        <p:spPr>
          <a:xfrm>
            <a:off x="548640" y="5303520"/>
            <a:ext cx="2217420" cy="384048"/>
          </a:xfrm>
          <a:prstGeom prst="roundRect">
            <a:avLst>
              <a:gd name="adj" fmla="val 50000"/>
            </a:avLst>
          </a:prstGeom>
          <a:solidFill>
            <a:srgbClr val="10294D"/>
          </a:solidFill>
          <a:ln w="9525">
            <a:solidFill>
              <a:srgbClr val="21C7C7"/>
            </a:solidFill>
            <a:prstDash val="solid"/>
          </a:ln>
        </p:spPr>
      </p:sp>
      <p:sp>
        <p:nvSpPr>
          <p:cNvPr id="24" name="Text 22"/>
          <p:cNvSpPr/>
          <p:nvPr/>
        </p:nvSpPr>
        <p:spPr>
          <a:xfrm>
            <a:off x="548640" y="5303520"/>
            <a:ext cx="2217420" cy="384048"/>
          </a:xfrm>
          <a:prstGeom prst="rect">
            <a:avLst/>
          </a:prstGeom>
          <a:noFill/>
          <a:ln/>
        </p:spPr>
        <p:txBody>
          <a:bodyPr wrap="square" lIns="0" tIns="0" rIns="0" bIns="0" rtlCol="0" anchor="ctr"/>
          <a:lstStyle/>
          <a:p>
            <a:pPr algn="ctr" indent="0" marL="0">
              <a:buNone/>
            </a:pPr>
            <a:r>
              <a:rPr lang="en-US" sz="1050" b="1" dirty="0">
                <a:solidFill>
                  <a:srgbClr val="21C7C7"/>
                </a:solidFill>
                <a:latin typeface="Calibri" pitchFamily="34" charset="0"/>
                <a:ea typeface="Calibri" pitchFamily="34" charset="-122"/>
                <a:cs typeface="Calibri" pitchFamily="34" charset="-120"/>
              </a:rPr>
              <a:t>Autonomous Operations</a:t>
            </a:r>
            <a:endParaRPr lang="en-US" sz="1050" dirty="0"/>
          </a:p>
        </p:txBody>
      </p:sp>
      <p:sp>
        <p:nvSpPr>
          <p:cNvPr id="25" name="Text 23"/>
          <p:cNvSpPr/>
          <p:nvPr/>
        </p:nvSpPr>
        <p:spPr>
          <a:xfrm>
            <a:off x="548640" y="6263640"/>
            <a:ext cx="10789920" cy="365760"/>
          </a:xfrm>
          <a:prstGeom prst="rect">
            <a:avLst/>
          </a:prstGeom>
          <a:noFill/>
          <a:ln/>
        </p:spPr>
        <p:txBody>
          <a:bodyPr wrap="square" lIns="0" tIns="0" rIns="0" bIns="0" rtlCol="0" anchor="ctr"/>
          <a:lstStyle/>
          <a:p>
            <a:pPr indent="0" marL="0">
              <a:buNone/>
            </a:pPr>
            <a:r>
              <a:rPr lang="en-US" sz="1150" dirty="0">
                <a:solidFill>
                  <a:srgbClr val="7E93B5"/>
                </a:solidFill>
                <a:latin typeface="Calibri" pitchFamily="34" charset="0"/>
                <a:ea typeface="Calibri" pitchFamily="34" charset="-122"/>
                <a:cs typeface="Calibri" pitchFamily="34" charset="-120"/>
              </a:rPr>
              <a:t>Thank you  |  SentinelAI X — The Operating System for Physical Spaces</a:t>
            </a:r>
            <a:endParaRPr lang="en-US" sz="1150" dirty="0"/>
          </a:p>
        </p:txBody>
      </p:sp>
      <p:sp>
        <p:nvSpPr>
          <p:cNvPr id="27" name="Text 24"/>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B7BA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SentinelAI X - Autonomous Physical AI Operations Platform</dc:title>
  <dc:subject>PptxGenJS Presentation</dc:subject>
  <dc:creator>SentinelAI X</dc:creator>
  <cp:lastModifiedBy>SentinelAI X</cp:lastModifiedBy>
  <cp:revision>1</cp:revision>
  <dcterms:created xsi:type="dcterms:W3CDTF">2026-06-28T01:49:16Z</dcterms:created>
  <dcterms:modified xsi:type="dcterms:W3CDTF">2026-06-28T01:49:16Z</dcterms:modified>
</cp:coreProperties>
</file>